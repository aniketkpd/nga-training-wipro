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rawpixel.com/search/PROFESSORS%20people%20jpg%20human%20teacher%20male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acinstruct.com/tutorials/how-to-update-your-macs-software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17/06/relationships/model3d" Target="../media/model3d1.glb"/><Relationship Id="rId7" Type="http://schemas.microsoft.com/office/2017/06/relationships/model3d" Target="../media/model3d3.glb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2.svg"/><Relationship Id="rId5" Type="http://schemas.microsoft.com/office/2017/06/relationships/model3d" Target="../media/model3d2.glb"/><Relationship Id="rId10" Type="http://schemas.openxmlformats.org/officeDocument/2006/relationships/image" Target="../media/image11.svg"/><Relationship Id="rId4" Type="http://schemas.openxmlformats.org/officeDocument/2006/relationships/image" Target="../media/image7.png"/><Relationship Id="rId9" Type="http://schemas.openxmlformats.org/officeDocument/2006/relationships/image" Target="../media/image10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ackground">
            <a:extLst>
              <a:ext uri="{FF2B5EF4-FFF2-40B4-BE49-F238E27FC236}">
                <a16:creationId xmlns:a16="http://schemas.microsoft.com/office/drawing/2014/main" id="{92209DCC-D192-41E8-AAB9-79BFB060CD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13696580-7CE3-4F88-918C-CBB024FC67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2878D8"/>
          </a:solidFill>
        </p:spPr>
      </p:sp>
      <p:sp>
        <p:nvSpPr>
          <p:cNvPr id="3" name="cover-bg">
            <a:extLst>
              <a:ext uri="{FF2B5EF4-FFF2-40B4-BE49-F238E27FC236}">
                <a16:creationId xmlns:a16="http://schemas.microsoft.com/office/drawing/2014/main" id="{3A45F8FE-540C-4F68-89C4-5F257E7AAF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1726"/>
          </a:solidFill>
        </p:spPr>
      </p:sp>
      <p:sp>
        <p:nvSpPr>
          <p:cNvPr id="4" name="cover-S">
            <a:extLst>
              <a:ext uri="{FF2B5EF4-FFF2-40B4-BE49-F238E27FC236}">
                <a16:creationId xmlns:a16="http://schemas.microsoft.com/office/drawing/2014/main" id="{561571E2-AA71-4B40-B7A3-A75E0845A305}"/>
              </a:ext>
            </a:extLst>
          </p:cNvPr>
          <p:cNvSpPr>
            <a:spLocks noGrp="1"/>
          </p:cNvSpPr>
          <p:nvPr/>
        </p:nvSpPr>
        <p:spPr>
          <a:xfrm>
            <a:off x="1143000" y="3571875"/>
            <a:ext cx="1314450" cy="1314450"/>
          </a:xfrm>
          <a:prstGeom prst="roundRect">
            <a:avLst>
              <a:gd name="adj" fmla="val 15942"/>
            </a:avLst>
          </a:prstGeom>
          <a:solidFill>
            <a:srgbClr val="E84A5F"/>
          </a:solidFill>
        </p:spPr>
      </p:sp>
      <p:sp>
        <p:nvSpPr>
          <p:cNvPr id="5" name="cover-letter-S">
            <a:extLst>
              <a:ext uri="{FF2B5EF4-FFF2-40B4-BE49-F238E27FC236}">
                <a16:creationId xmlns:a16="http://schemas.microsoft.com/office/drawing/2014/main" id="{0942D46D-6E2C-4309-8599-C591F60A31F1}"/>
              </a:ext>
            </a:extLst>
          </p:cNvPr>
          <p:cNvSpPr>
            <a:spLocks noGrp="1"/>
          </p:cNvSpPr>
          <p:nvPr/>
        </p:nvSpPr>
        <p:spPr>
          <a:xfrm>
            <a:off x="1638300" y="3810000"/>
            <a:ext cx="3429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" name="cover-O">
            <a:extLst>
              <a:ext uri="{FF2B5EF4-FFF2-40B4-BE49-F238E27FC236}">
                <a16:creationId xmlns:a16="http://schemas.microsoft.com/office/drawing/2014/main" id="{96464CF7-2DE2-4147-9D9A-19EC1D045B31}"/>
              </a:ext>
            </a:extLst>
          </p:cNvPr>
          <p:cNvSpPr>
            <a:spLocks noGrp="1"/>
          </p:cNvSpPr>
          <p:nvPr/>
        </p:nvSpPr>
        <p:spPr>
          <a:xfrm>
            <a:off x="2628900" y="3571875"/>
            <a:ext cx="1314450" cy="1314450"/>
          </a:xfrm>
          <a:prstGeom prst="roundRect">
            <a:avLst>
              <a:gd name="adj" fmla="val 15942"/>
            </a:avLst>
          </a:prstGeom>
          <a:solidFill>
            <a:srgbClr val="F6B83F"/>
          </a:solidFill>
        </p:spPr>
      </p:sp>
      <p:sp>
        <p:nvSpPr>
          <p:cNvPr id="7" name="cover-letter-O">
            <a:extLst>
              <a:ext uri="{FF2B5EF4-FFF2-40B4-BE49-F238E27FC236}">
                <a16:creationId xmlns:a16="http://schemas.microsoft.com/office/drawing/2014/main" id="{0E8D1673-55BC-4F15-930D-973DC2BED5BA}"/>
              </a:ext>
            </a:extLst>
          </p:cNvPr>
          <p:cNvSpPr>
            <a:spLocks noGrp="1"/>
          </p:cNvSpPr>
          <p:nvPr/>
        </p:nvSpPr>
        <p:spPr>
          <a:xfrm>
            <a:off x="3048000" y="3810000"/>
            <a:ext cx="4953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O</a:t>
            </a:r>
          </a:p>
        </p:txBody>
      </p:sp>
      <p:sp>
        <p:nvSpPr>
          <p:cNvPr id="8" name="cover-L">
            <a:extLst>
              <a:ext uri="{FF2B5EF4-FFF2-40B4-BE49-F238E27FC236}">
                <a16:creationId xmlns:a16="http://schemas.microsoft.com/office/drawing/2014/main" id="{5EB9DFCC-3C73-4C4D-B1EE-BEA339FEFE5B}"/>
              </a:ext>
            </a:extLst>
          </p:cNvPr>
          <p:cNvSpPr>
            <a:spLocks noGrp="1"/>
          </p:cNvSpPr>
          <p:nvPr/>
        </p:nvSpPr>
        <p:spPr>
          <a:xfrm>
            <a:off x="4114800" y="3571875"/>
            <a:ext cx="1314450" cy="1314450"/>
          </a:xfrm>
          <a:prstGeom prst="roundRect">
            <a:avLst>
              <a:gd name="adj" fmla="val 15942"/>
            </a:avLst>
          </a:prstGeom>
          <a:solidFill>
            <a:srgbClr val="2AA876"/>
          </a:solidFill>
        </p:spPr>
      </p:sp>
      <p:sp>
        <p:nvSpPr>
          <p:cNvPr id="9" name="cover-letter-L">
            <a:extLst>
              <a:ext uri="{FF2B5EF4-FFF2-40B4-BE49-F238E27FC236}">
                <a16:creationId xmlns:a16="http://schemas.microsoft.com/office/drawing/2014/main" id="{26FBBCCE-4838-4A30-A25E-4CAB79D9AB9E}"/>
              </a:ext>
            </a:extLst>
          </p:cNvPr>
          <p:cNvSpPr>
            <a:spLocks noGrp="1"/>
          </p:cNvSpPr>
          <p:nvPr/>
        </p:nvSpPr>
        <p:spPr>
          <a:xfrm>
            <a:off x="4629150" y="3810000"/>
            <a:ext cx="3048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10" name="cover-I">
            <a:extLst>
              <a:ext uri="{FF2B5EF4-FFF2-40B4-BE49-F238E27FC236}">
                <a16:creationId xmlns:a16="http://schemas.microsoft.com/office/drawing/2014/main" id="{35AF676B-FB30-40EB-8CB8-BF69576DB000}"/>
              </a:ext>
            </a:extLst>
          </p:cNvPr>
          <p:cNvSpPr>
            <a:spLocks noGrp="1"/>
          </p:cNvSpPr>
          <p:nvPr/>
        </p:nvSpPr>
        <p:spPr>
          <a:xfrm>
            <a:off x="5600700" y="3571875"/>
            <a:ext cx="1314450" cy="1314450"/>
          </a:xfrm>
          <a:prstGeom prst="roundRect">
            <a:avLst>
              <a:gd name="adj" fmla="val 15942"/>
            </a:avLst>
          </a:prstGeom>
          <a:solidFill>
            <a:srgbClr val="2878D8"/>
          </a:solidFill>
        </p:spPr>
      </p:sp>
      <p:sp>
        <p:nvSpPr>
          <p:cNvPr id="11" name="cover-letter-I">
            <a:extLst>
              <a:ext uri="{FF2B5EF4-FFF2-40B4-BE49-F238E27FC236}">
                <a16:creationId xmlns:a16="http://schemas.microsoft.com/office/drawing/2014/main" id="{11694FC8-18DE-4C01-B82B-114B3737F8EE}"/>
              </a:ext>
            </a:extLst>
          </p:cNvPr>
          <p:cNvSpPr>
            <a:spLocks noGrp="1"/>
          </p:cNvSpPr>
          <p:nvPr/>
        </p:nvSpPr>
        <p:spPr>
          <a:xfrm>
            <a:off x="6172200" y="3810000"/>
            <a:ext cx="1905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" name="cover-D">
            <a:extLst>
              <a:ext uri="{FF2B5EF4-FFF2-40B4-BE49-F238E27FC236}">
                <a16:creationId xmlns:a16="http://schemas.microsoft.com/office/drawing/2014/main" id="{90F4B906-675B-41EA-9E0B-05153D18921C}"/>
              </a:ext>
            </a:extLst>
          </p:cNvPr>
          <p:cNvSpPr>
            <a:spLocks noGrp="1"/>
          </p:cNvSpPr>
          <p:nvPr/>
        </p:nvSpPr>
        <p:spPr>
          <a:xfrm>
            <a:off x="7086600" y="3571875"/>
            <a:ext cx="1314450" cy="1314450"/>
          </a:xfrm>
          <a:prstGeom prst="roundRect">
            <a:avLst>
              <a:gd name="adj" fmla="val 15942"/>
            </a:avLst>
          </a:prstGeom>
          <a:solidFill>
            <a:srgbClr val="8157D9"/>
          </a:solidFill>
        </p:spPr>
      </p:sp>
      <p:sp>
        <p:nvSpPr>
          <p:cNvPr id="13" name="cover-letter-D">
            <a:extLst>
              <a:ext uri="{FF2B5EF4-FFF2-40B4-BE49-F238E27FC236}">
                <a16:creationId xmlns:a16="http://schemas.microsoft.com/office/drawing/2014/main" id="{525FC052-32C8-4A50-A0EC-EF4531D26E04}"/>
              </a:ext>
            </a:extLst>
          </p:cNvPr>
          <p:cNvSpPr>
            <a:spLocks noGrp="1"/>
          </p:cNvSpPr>
          <p:nvPr/>
        </p:nvSpPr>
        <p:spPr>
          <a:xfrm>
            <a:off x="7524750" y="3810000"/>
            <a:ext cx="4572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4" name="cover-title">
            <a:extLst>
              <a:ext uri="{FF2B5EF4-FFF2-40B4-BE49-F238E27FC236}">
                <a16:creationId xmlns:a16="http://schemas.microsoft.com/office/drawing/2014/main" id="{1FDF0392-6D3A-48DB-8E65-B48D8B6B0305}"/>
              </a:ext>
            </a:extLst>
          </p:cNvPr>
          <p:cNvSpPr>
            <a:spLocks noGrp="1"/>
          </p:cNvSpPr>
          <p:nvPr/>
        </p:nvSpPr>
        <p:spPr>
          <a:xfrm>
            <a:off x="1143000" y="5238750"/>
            <a:ext cx="16002000" cy="990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450" b="1">
                <a:solidFill>
                  <a:srgbClr val="FFFFFF"/>
                </a:solidFill>
              </a:defRPr>
            </a:pPr>
            <a:r>
              <a:rPr sz="6450" b="1">
                <a:solidFill>
                  <a:srgbClr val="FFFFFF"/>
                </a:solidFill>
              </a:rPr>
              <a:t>SOLID Principles in C#</a:t>
            </a:r>
          </a:p>
        </p:txBody>
      </p:sp>
      <p:sp>
        <p:nvSpPr>
          <p:cNvPr id="15" name="cover-name">
            <a:extLst>
              <a:ext uri="{FF2B5EF4-FFF2-40B4-BE49-F238E27FC236}">
                <a16:creationId xmlns:a16="http://schemas.microsoft.com/office/drawing/2014/main" id="{663B974D-8256-4C86-87F2-DF96BDF9371A}"/>
              </a:ext>
            </a:extLst>
          </p:cNvPr>
          <p:cNvSpPr>
            <a:spLocks noGrp="1"/>
          </p:cNvSpPr>
          <p:nvPr/>
        </p:nvSpPr>
        <p:spPr>
          <a:xfrm>
            <a:off x="1143000" y="6553200"/>
            <a:ext cx="16002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B7C4D6"/>
                </a:solidFill>
              </a:defRPr>
            </a:pPr>
            <a:r>
              <a:rPr lang="en-US" sz="2550" dirty="0">
                <a:solidFill>
                  <a:srgbClr val="B7C4D6"/>
                </a:solidFill>
              </a:rPr>
              <a:t>Aniket Kumar Prasad</a:t>
            </a:r>
            <a:endParaRPr sz="2550" dirty="0">
              <a:solidFill>
                <a:srgbClr val="B7C4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869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ackground">
            <a:extLst>
              <a:ext uri="{FF2B5EF4-FFF2-40B4-BE49-F238E27FC236}">
                <a16:creationId xmlns:a16="http://schemas.microsoft.com/office/drawing/2014/main" id="{0CA4A0DE-53AD-480B-B63C-F6F25D7858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AB91E186-EAE9-48D8-98D3-4D1E4124B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2878D8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A525B46F-B2A2-4E2A-9962-28A3622EB5E7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What is SOLID?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361C8A7D-D0DD-4963-9CC7-7D9975E613E4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2878D8"/>
          </a:solidFill>
          <a:ln w="0">
            <a:solidFill>
              <a:srgbClr val="2878D8"/>
            </a:solidFill>
            <a:prstDash val="solid"/>
          </a:ln>
        </p:spPr>
      </p:sp>
      <p:sp>
        <p:nvSpPr>
          <p:cNvPr id="5" name="letter-S">
            <a:extLst>
              <a:ext uri="{FF2B5EF4-FFF2-40B4-BE49-F238E27FC236}">
                <a16:creationId xmlns:a16="http://schemas.microsoft.com/office/drawing/2014/main" id="{C7510E4E-D14B-4213-ACE4-C038F5A68EB6}"/>
              </a:ext>
            </a:extLst>
          </p:cNvPr>
          <p:cNvSpPr>
            <a:spLocks noGrp="1"/>
          </p:cNvSpPr>
          <p:nvPr/>
        </p:nvSpPr>
        <p:spPr>
          <a:xfrm>
            <a:off x="1047750" y="287655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E84A5F"/>
          </a:solidFill>
        </p:spPr>
      </p:sp>
      <p:sp>
        <p:nvSpPr>
          <p:cNvPr id="6" name="letter-text-S">
            <a:extLst>
              <a:ext uri="{FF2B5EF4-FFF2-40B4-BE49-F238E27FC236}">
                <a16:creationId xmlns:a16="http://schemas.microsoft.com/office/drawing/2014/main" id="{43E7F83C-7452-4078-B713-165F8400CDB5}"/>
              </a:ext>
            </a:extLst>
          </p:cNvPr>
          <p:cNvSpPr>
            <a:spLocks noGrp="1"/>
          </p:cNvSpPr>
          <p:nvPr/>
        </p:nvSpPr>
        <p:spPr>
          <a:xfrm>
            <a:off x="1333500" y="3009900"/>
            <a:ext cx="1905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" name="principle-text-S">
            <a:extLst>
              <a:ext uri="{FF2B5EF4-FFF2-40B4-BE49-F238E27FC236}">
                <a16:creationId xmlns:a16="http://schemas.microsoft.com/office/drawing/2014/main" id="{3334AE11-E6EC-46FC-8CD6-2266F7F83B37}"/>
              </a:ext>
            </a:extLst>
          </p:cNvPr>
          <p:cNvSpPr>
            <a:spLocks noGrp="1"/>
          </p:cNvSpPr>
          <p:nvPr/>
        </p:nvSpPr>
        <p:spPr>
          <a:xfrm>
            <a:off x="2019300" y="3067050"/>
            <a:ext cx="69342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102033"/>
                </a:solidFill>
              </a:defRPr>
            </a:pPr>
            <a:r>
              <a:rPr sz="2550">
                <a:solidFill>
                  <a:srgbClr val="102033"/>
                </a:solidFill>
              </a:rPr>
              <a:t>S -&gt; Single Responsibility</a:t>
            </a:r>
          </a:p>
        </p:txBody>
      </p:sp>
      <p:sp>
        <p:nvSpPr>
          <p:cNvPr id="8" name="letter-O">
            <a:extLst>
              <a:ext uri="{FF2B5EF4-FFF2-40B4-BE49-F238E27FC236}">
                <a16:creationId xmlns:a16="http://schemas.microsoft.com/office/drawing/2014/main" id="{5EF45D25-A86F-4C6C-B55B-55ADA5851D33}"/>
              </a:ext>
            </a:extLst>
          </p:cNvPr>
          <p:cNvSpPr>
            <a:spLocks noGrp="1"/>
          </p:cNvSpPr>
          <p:nvPr/>
        </p:nvSpPr>
        <p:spPr>
          <a:xfrm>
            <a:off x="9344025" y="287655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F6B83F"/>
          </a:solidFill>
        </p:spPr>
      </p:sp>
      <p:sp>
        <p:nvSpPr>
          <p:cNvPr id="9" name="letter-text-O">
            <a:extLst>
              <a:ext uri="{FF2B5EF4-FFF2-40B4-BE49-F238E27FC236}">
                <a16:creationId xmlns:a16="http://schemas.microsoft.com/office/drawing/2014/main" id="{553E15D2-CD65-4D60-B158-DA2455A963FD}"/>
              </a:ext>
            </a:extLst>
          </p:cNvPr>
          <p:cNvSpPr>
            <a:spLocks noGrp="1"/>
          </p:cNvSpPr>
          <p:nvPr/>
        </p:nvSpPr>
        <p:spPr>
          <a:xfrm>
            <a:off x="9601200" y="3009900"/>
            <a:ext cx="2667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O</a:t>
            </a:r>
          </a:p>
        </p:txBody>
      </p:sp>
      <p:sp>
        <p:nvSpPr>
          <p:cNvPr id="10" name="principle-text-O">
            <a:extLst>
              <a:ext uri="{FF2B5EF4-FFF2-40B4-BE49-F238E27FC236}">
                <a16:creationId xmlns:a16="http://schemas.microsoft.com/office/drawing/2014/main" id="{4AA74A69-F290-4BCA-9C35-ECC55D6F1395}"/>
              </a:ext>
            </a:extLst>
          </p:cNvPr>
          <p:cNvSpPr>
            <a:spLocks noGrp="1"/>
          </p:cNvSpPr>
          <p:nvPr/>
        </p:nvSpPr>
        <p:spPr>
          <a:xfrm>
            <a:off x="10325100" y="3067050"/>
            <a:ext cx="69342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102033"/>
                </a:solidFill>
              </a:defRPr>
            </a:pPr>
            <a:r>
              <a:rPr sz="2550">
                <a:solidFill>
                  <a:srgbClr val="102033"/>
                </a:solidFill>
              </a:rPr>
              <a:t>O -&gt; Open/Closed</a:t>
            </a:r>
          </a:p>
        </p:txBody>
      </p:sp>
      <p:sp>
        <p:nvSpPr>
          <p:cNvPr id="11" name="letter-L">
            <a:extLst>
              <a:ext uri="{FF2B5EF4-FFF2-40B4-BE49-F238E27FC236}">
                <a16:creationId xmlns:a16="http://schemas.microsoft.com/office/drawing/2014/main" id="{53255DE5-2A33-47B0-97A3-E0CFB0D298A0}"/>
              </a:ext>
            </a:extLst>
          </p:cNvPr>
          <p:cNvSpPr>
            <a:spLocks noGrp="1"/>
          </p:cNvSpPr>
          <p:nvPr/>
        </p:nvSpPr>
        <p:spPr>
          <a:xfrm>
            <a:off x="1047750" y="546735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2AA876"/>
          </a:solidFill>
        </p:spPr>
      </p:sp>
      <p:sp>
        <p:nvSpPr>
          <p:cNvPr id="12" name="letter-text-L">
            <a:extLst>
              <a:ext uri="{FF2B5EF4-FFF2-40B4-BE49-F238E27FC236}">
                <a16:creationId xmlns:a16="http://schemas.microsoft.com/office/drawing/2014/main" id="{65303D15-C7FC-4D8B-981F-9BE3126036FA}"/>
              </a:ext>
            </a:extLst>
          </p:cNvPr>
          <p:cNvSpPr>
            <a:spLocks noGrp="1"/>
          </p:cNvSpPr>
          <p:nvPr/>
        </p:nvSpPr>
        <p:spPr>
          <a:xfrm>
            <a:off x="1352550" y="5600700"/>
            <a:ext cx="1524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13" name="principle-text-L">
            <a:extLst>
              <a:ext uri="{FF2B5EF4-FFF2-40B4-BE49-F238E27FC236}">
                <a16:creationId xmlns:a16="http://schemas.microsoft.com/office/drawing/2014/main" id="{CEDA88A5-1E9F-4144-904C-C96324FF8D87}"/>
              </a:ext>
            </a:extLst>
          </p:cNvPr>
          <p:cNvSpPr>
            <a:spLocks noGrp="1"/>
          </p:cNvSpPr>
          <p:nvPr/>
        </p:nvSpPr>
        <p:spPr>
          <a:xfrm>
            <a:off x="2019300" y="5657850"/>
            <a:ext cx="69342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102033"/>
                </a:solidFill>
              </a:defRPr>
            </a:pPr>
            <a:r>
              <a:rPr sz="2550">
                <a:solidFill>
                  <a:srgbClr val="102033"/>
                </a:solidFill>
              </a:rPr>
              <a:t>L -&gt; Liskov Substitution</a:t>
            </a:r>
          </a:p>
        </p:txBody>
      </p:sp>
      <p:sp>
        <p:nvSpPr>
          <p:cNvPr id="14" name="letter-I">
            <a:extLst>
              <a:ext uri="{FF2B5EF4-FFF2-40B4-BE49-F238E27FC236}">
                <a16:creationId xmlns:a16="http://schemas.microsoft.com/office/drawing/2014/main" id="{9D43BE85-C4C0-4155-91E9-A888B60305AE}"/>
              </a:ext>
            </a:extLst>
          </p:cNvPr>
          <p:cNvSpPr>
            <a:spLocks noGrp="1"/>
          </p:cNvSpPr>
          <p:nvPr/>
        </p:nvSpPr>
        <p:spPr>
          <a:xfrm>
            <a:off x="9344025" y="546735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2878D8"/>
          </a:solidFill>
        </p:spPr>
      </p:sp>
      <p:sp>
        <p:nvSpPr>
          <p:cNvPr id="15" name="letter-text-I">
            <a:extLst>
              <a:ext uri="{FF2B5EF4-FFF2-40B4-BE49-F238E27FC236}">
                <a16:creationId xmlns:a16="http://schemas.microsoft.com/office/drawing/2014/main" id="{2A43F89D-0D52-4011-AA44-C8A0343B8D5F}"/>
              </a:ext>
            </a:extLst>
          </p:cNvPr>
          <p:cNvSpPr>
            <a:spLocks noGrp="1"/>
          </p:cNvSpPr>
          <p:nvPr/>
        </p:nvSpPr>
        <p:spPr>
          <a:xfrm>
            <a:off x="9677400" y="5600700"/>
            <a:ext cx="114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6" name="principle-text-I">
            <a:extLst>
              <a:ext uri="{FF2B5EF4-FFF2-40B4-BE49-F238E27FC236}">
                <a16:creationId xmlns:a16="http://schemas.microsoft.com/office/drawing/2014/main" id="{5BD1841A-3FD5-4B31-9BD7-ED8A58D0118F}"/>
              </a:ext>
            </a:extLst>
          </p:cNvPr>
          <p:cNvSpPr>
            <a:spLocks noGrp="1"/>
          </p:cNvSpPr>
          <p:nvPr/>
        </p:nvSpPr>
        <p:spPr>
          <a:xfrm>
            <a:off x="10325100" y="5657850"/>
            <a:ext cx="69342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102033"/>
                </a:solidFill>
              </a:defRPr>
            </a:pPr>
            <a:r>
              <a:rPr sz="2550">
                <a:solidFill>
                  <a:srgbClr val="102033"/>
                </a:solidFill>
              </a:rPr>
              <a:t>I -&gt; Interface Segregation</a:t>
            </a:r>
          </a:p>
        </p:txBody>
      </p:sp>
      <p:sp>
        <p:nvSpPr>
          <p:cNvPr id="17" name="letter-D">
            <a:extLst>
              <a:ext uri="{FF2B5EF4-FFF2-40B4-BE49-F238E27FC236}">
                <a16:creationId xmlns:a16="http://schemas.microsoft.com/office/drawing/2014/main" id="{5F7916D2-A7C7-4D9C-99CC-DEE1C9386D08}"/>
              </a:ext>
            </a:extLst>
          </p:cNvPr>
          <p:cNvSpPr>
            <a:spLocks noGrp="1"/>
          </p:cNvSpPr>
          <p:nvPr/>
        </p:nvSpPr>
        <p:spPr>
          <a:xfrm>
            <a:off x="1047750" y="805815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8157D9"/>
          </a:solidFill>
        </p:spPr>
      </p:sp>
      <p:sp>
        <p:nvSpPr>
          <p:cNvPr id="18" name="letter-text-D">
            <a:extLst>
              <a:ext uri="{FF2B5EF4-FFF2-40B4-BE49-F238E27FC236}">
                <a16:creationId xmlns:a16="http://schemas.microsoft.com/office/drawing/2014/main" id="{F2E9753B-4936-4184-BACE-9F53B3A05770}"/>
              </a:ext>
            </a:extLst>
          </p:cNvPr>
          <p:cNvSpPr>
            <a:spLocks noGrp="1"/>
          </p:cNvSpPr>
          <p:nvPr/>
        </p:nvSpPr>
        <p:spPr>
          <a:xfrm>
            <a:off x="1295400" y="8191500"/>
            <a:ext cx="2667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9" name="principle-text-D">
            <a:extLst>
              <a:ext uri="{FF2B5EF4-FFF2-40B4-BE49-F238E27FC236}">
                <a16:creationId xmlns:a16="http://schemas.microsoft.com/office/drawing/2014/main" id="{3DAC63D4-9F64-4E98-866A-5918360D687E}"/>
              </a:ext>
            </a:extLst>
          </p:cNvPr>
          <p:cNvSpPr>
            <a:spLocks noGrp="1"/>
          </p:cNvSpPr>
          <p:nvPr/>
        </p:nvSpPr>
        <p:spPr>
          <a:xfrm>
            <a:off x="2019300" y="8248650"/>
            <a:ext cx="69342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102033"/>
                </a:solidFill>
              </a:defRPr>
            </a:pPr>
            <a:r>
              <a:rPr sz="2550">
                <a:solidFill>
                  <a:srgbClr val="102033"/>
                </a:solidFill>
              </a:rPr>
              <a:t>D -&gt; Dependency Inversion</a:t>
            </a:r>
          </a:p>
        </p:txBody>
      </p:sp>
    </p:spTree>
    <p:extLst>
      <p:ext uri="{BB962C8B-B14F-4D97-AF65-F5344CB8AC3E}">
        <p14:creationId xmlns:p14="http://schemas.microsoft.com/office/powerpoint/2010/main" val="690251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ackground">
            <a:extLst>
              <a:ext uri="{FF2B5EF4-FFF2-40B4-BE49-F238E27FC236}">
                <a16:creationId xmlns:a16="http://schemas.microsoft.com/office/drawing/2014/main" id="{A04E9305-196B-4DDA-A522-C3EF81F7115E}"/>
              </a:ext>
            </a:extLst>
          </p:cNvPr>
          <p:cNvSpPr>
            <a:spLocks noGrp="1"/>
          </p:cNvSpPr>
          <p:nvPr/>
        </p:nvSpPr>
        <p:spPr>
          <a:xfrm>
            <a:off x="29496" y="0"/>
            <a:ext cx="18288000" cy="10287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92D03551-CF6F-499C-BC28-EC27768197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2878D8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534C5AB0-0AF3-41E5-9C3C-8F3E9A6926F4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Why SOLID?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5462CA9D-5B45-4B24-8512-35E3CE990215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2878D8"/>
          </a:solidFill>
          <a:ln w="0">
            <a:solidFill>
              <a:srgbClr val="2878D8"/>
            </a:solidFill>
            <a:prstDash val="solid"/>
          </a:ln>
        </p:spPr>
      </p:sp>
      <p:sp>
        <p:nvSpPr>
          <p:cNvPr id="5" name="why-bullets-dot-1">
            <a:extLst>
              <a:ext uri="{FF2B5EF4-FFF2-40B4-BE49-F238E27FC236}">
                <a16:creationId xmlns:a16="http://schemas.microsoft.com/office/drawing/2014/main" id="{87842149-8DAF-4B6F-B29F-88CD2A5A7DB2}"/>
              </a:ext>
            </a:extLst>
          </p:cNvPr>
          <p:cNvSpPr>
            <a:spLocks noGrp="1"/>
          </p:cNvSpPr>
          <p:nvPr/>
        </p:nvSpPr>
        <p:spPr>
          <a:xfrm>
            <a:off x="1047750" y="2286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6" name="why-bullets-text-1">
            <a:extLst>
              <a:ext uri="{FF2B5EF4-FFF2-40B4-BE49-F238E27FC236}">
                <a16:creationId xmlns:a16="http://schemas.microsoft.com/office/drawing/2014/main" id="{ACB66AD6-923B-4426-A893-3E474B6BCFBA}"/>
              </a:ext>
            </a:extLst>
          </p:cNvPr>
          <p:cNvSpPr>
            <a:spLocks noGrp="1"/>
          </p:cNvSpPr>
          <p:nvPr/>
        </p:nvSpPr>
        <p:spPr>
          <a:xfrm>
            <a:off x="1333500" y="2095500"/>
            <a:ext cx="159067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>
                <a:solidFill>
                  <a:srgbClr val="102033"/>
                </a:solidFill>
              </a:defRPr>
            </a:pPr>
            <a:r>
              <a:rPr sz="3150">
                <a:solidFill>
                  <a:srgbClr val="102033"/>
                </a:solidFill>
              </a:rPr>
              <a:t>Easy to maintain</a:t>
            </a:r>
          </a:p>
        </p:txBody>
      </p:sp>
      <p:sp>
        <p:nvSpPr>
          <p:cNvPr id="7" name="why-bullets-dot-2">
            <a:extLst>
              <a:ext uri="{FF2B5EF4-FFF2-40B4-BE49-F238E27FC236}">
                <a16:creationId xmlns:a16="http://schemas.microsoft.com/office/drawing/2014/main" id="{94882DC3-472A-4089-91B3-E819E71FD617}"/>
              </a:ext>
            </a:extLst>
          </p:cNvPr>
          <p:cNvSpPr>
            <a:spLocks noGrp="1"/>
          </p:cNvSpPr>
          <p:nvPr/>
        </p:nvSpPr>
        <p:spPr>
          <a:xfrm>
            <a:off x="1047750" y="29718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8" name="why-bullets-text-2">
            <a:extLst>
              <a:ext uri="{FF2B5EF4-FFF2-40B4-BE49-F238E27FC236}">
                <a16:creationId xmlns:a16="http://schemas.microsoft.com/office/drawing/2014/main" id="{DFDBAC98-AD14-46A4-89B4-E16DAE64C69F}"/>
              </a:ext>
            </a:extLst>
          </p:cNvPr>
          <p:cNvSpPr>
            <a:spLocks noGrp="1"/>
          </p:cNvSpPr>
          <p:nvPr/>
        </p:nvSpPr>
        <p:spPr>
          <a:xfrm>
            <a:off x="1333500" y="2781300"/>
            <a:ext cx="159067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>
                <a:solidFill>
                  <a:srgbClr val="102033"/>
                </a:solidFill>
              </a:defRPr>
            </a:pPr>
            <a:r>
              <a:rPr sz="3150">
                <a:solidFill>
                  <a:srgbClr val="102033"/>
                </a:solidFill>
              </a:rPr>
              <a:t>Easy to extend</a:t>
            </a:r>
          </a:p>
        </p:txBody>
      </p:sp>
      <p:sp>
        <p:nvSpPr>
          <p:cNvPr id="9" name="why-bullets-dot-3">
            <a:extLst>
              <a:ext uri="{FF2B5EF4-FFF2-40B4-BE49-F238E27FC236}">
                <a16:creationId xmlns:a16="http://schemas.microsoft.com/office/drawing/2014/main" id="{75467288-3C8B-427D-B141-360DFFE2013D}"/>
              </a:ext>
            </a:extLst>
          </p:cNvPr>
          <p:cNvSpPr>
            <a:spLocks noGrp="1"/>
          </p:cNvSpPr>
          <p:nvPr/>
        </p:nvSpPr>
        <p:spPr>
          <a:xfrm>
            <a:off x="1047750" y="3657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10" name="why-bullets-text-3">
            <a:extLst>
              <a:ext uri="{FF2B5EF4-FFF2-40B4-BE49-F238E27FC236}">
                <a16:creationId xmlns:a16="http://schemas.microsoft.com/office/drawing/2014/main" id="{947716A4-BDC4-4771-8F8D-250EFB54D5F6}"/>
              </a:ext>
            </a:extLst>
          </p:cNvPr>
          <p:cNvSpPr>
            <a:spLocks noGrp="1"/>
          </p:cNvSpPr>
          <p:nvPr/>
        </p:nvSpPr>
        <p:spPr>
          <a:xfrm>
            <a:off x="1333500" y="3467100"/>
            <a:ext cx="159067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>
                <a:solidFill>
                  <a:srgbClr val="102033"/>
                </a:solidFill>
              </a:defRPr>
            </a:pPr>
            <a:r>
              <a:rPr lang="en-US" sz="3150" dirty="0">
                <a:solidFill>
                  <a:srgbClr val="102033"/>
                </a:solidFill>
              </a:rPr>
              <a:t>Makes program loosely Coupled</a:t>
            </a:r>
            <a:endParaRPr sz="3150" dirty="0">
              <a:solidFill>
                <a:srgbClr val="102033"/>
              </a:solidFill>
            </a:endParaRPr>
          </a:p>
        </p:txBody>
      </p:sp>
      <p:sp>
        <p:nvSpPr>
          <p:cNvPr id="11" name="why-bullets-dot-4">
            <a:extLst>
              <a:ext uri="{FF2B5EF4-FFF2-40B4-BE49-F238E27FC236}">
                <a16:creationId xmlns:a16="http://schemas.microsoft.com/office/drawing/2014/main" id="{182D13AE-CCEB-44F0-8520-5AFE10E34C6A}"/>
              </a:ext>
            </a:extLst>
          </p:cNvPr>
          <p:cNvSpPr>
            <a:spLocks noGrp="1"/>
          </p:cNvSpPr>
          <p:nvPr/>
        </p:nvSpPr>
        <p:spPr>
          <a:xfrm>
            <a:off x="1047750" y="4362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12" name="why-bullets-text-4">
            <a:extLst>
              <a:ext uri="{FF2B5EF4-FFF2-40B4-BE49-F238E27FC236}">
                <a16:creationId xmlns:a16="http://schemas.microsoft.com/office/drawing/2014/main" id="{FD75948A-CEE6-4F09-B455-77986C5B5A77}"/>
              </a:ext>
            </a:extLst>
          </p:cNvPr>
          <p:cNvSpPr>
            <a:spLocks noGrp="1"/>
          </p:cNvSpPr>
          <p:nvPr/>
        </p:nvSpPr>
        <p:spPr>
          <a:xfrm>
            <a:off x="1333500" y="4171950"/>
            <a:ext cx="159067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>
                <a:solidFill>
                  <a:srgbClr val="102033"/>
                </a:solidFill>
              </a:defRPr>
            </a:pPr>
            <a:r>
              <a:rPr sz="3150" dirty="0">
                <a:solidFill>
                  <a:srgbClr val="102033"/>
                </a:solidFill>
              </a:rPr>
              <a:t>Better structure</a:t>
            </a:r>
            <a:endParaRPr lang="en-IN" sz="3150" dirty="0">
              <a:solidFill>
                <a:srgbClr val="102033"/>
              </a:solidFill>
            </a:endParaRPr>
          </a:p>
          <a:p>
            <a:pPr>
              <a:defRPr sz="3150">
                <a:solidFill>
                  <a:srgbClr val="102033"/>
                </a:solidFill>
              </a:defRPr>
            </a:pPr>
            <a:endParaRPr sz="3150" dirty="0">
              <a:solidFill>
                <a:srgbClr val="102033"/>
              </a:solidFill>
            </a:endParaRPr>
          </a:p>
        </p:txBody>
      </p:sp>
      <p:sp>
        <p:nvSpPr>
          <p:cNvPr id="14" name="why-bullets-dot-4">
            <a:extLst>
              <a:ext uri="{FF2B5EF4-FFF2-40B4-BE49-F238E27FC236}">
                <a16:creationId xmlns:a16="http://schemas.microsoft.com/office/drawing/2014/main" id="{AE5DBA3E-FFAB-74E5-739D-466D96D9B286}"/>
              </a:ext>
            </a:extLst>
          </p:cNvPr>
          <p:cNvSpPr>
            <a:spLocks noGrp="1"/>
          </p:cNvSpPr>
          <p:nvPr/>
        </p:nvSpPr>
        <p:spPr>
          <a:xfrm>
            <a:off x="1052670" y="504579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15" name="why-bullets-text-4">
            <a:extLst>
              <a:ext uri="{FF2B5EF4-FFF2-40B4-BE49-F238E27FC236}">
                <a16:creationId xmlns:a16="http://schemas.microsoft.com/office/drawing/2014/main" id="{0CF8FA08-ECE1-FACC-BB15-614E65BC5D05}"/>
              </a:ext>
            </a:extLst>
          </p:cNvPr>
          <p:cNvSpPr>
            <a:spLocks noGrp="1"/>
          </p:cNvSpPr>
          <p:nvPr/>
        </p:nvSpPr>
        <p:spPr>
          <a:xfrm>
            <a:off x="1338420" y="4855292"/>
            <a:ext cx="159067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>
                <a:solidFill>
                  <a:srgbClr val="102033"/>
                </a:solidFill>
              </a:defRPr>
            </a:pPr>
            <a:r>
              <a:rPr lang="en-IN" sz="3150" dirty="0">
                <a:solidFill>
                  <a:srgbClr val="102033"/>
                </a:solidFill>
              </a:rPr>
              <a:t>Easy to understand</a:t>
            </a:r>
          </a:p>
          <a:p>
            <a:pPr>
              <a:defRPr sz="3150">
                <a:solidFill>
                  <a:srgbClr val="102033"/>
                </a:solidFill>
              </a:defRPr>
            </a:pPr>
            <a:endParaRPr sz="3150" dirty="0">
              <a:solidFill>
                <a:srgbClr val="102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759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4CE56992-A011-4545-89D4-D98AE02A46CB}"/>
              </a:ext>
            </a:extLst>
          </p:cNvPr>
          <p:cNvSpPr>
            <a:spLocks noGrp="1"/>
          </p:cNvSpPr>
          <p:nvPr/>
        </p:nvSpPr>
        <p:spPr>
          <a:xfrm>
            <a:off x="14748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244548E8-BC51-460A-82A6-469D73F1FC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E84A5F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AAFA6A50-F33D-4958-B35B-43935940996A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SRP: Single Responsibility Principle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0083ECDA-90CA-40A3-9D77-39AB89CCE845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E84A5F"/>
          </a:solidFill>
          <a:ln w="0">
            <a:solidFill>
              <a:srgbClr val="E84A5F"/>
            </a:solidFill>
            <a:prstDash val="solid"/>
          </a:ln>
        </p:spPr>
      </p:sp>
      <p:sp>
        <p:nvSpPr>
          <p:cNvPr id="5" name="srp-meaning">
            <a:extLst>
              <a:ext uri="{FF2B5EF4-FFF2-40B4-BE49-F238E27FC236}">
                <a16:creationId xmlns:a16="http://schemas.microsoft.com/office/drawing/2014/main" id="{101974F2-B9FE-4B54-B3C5-94A8E7F05D71}"/>
              </a:ext>
            </a:extLst>
          </p:cNvPr>
          <p:cNvSpPr>
            <a:spLocks noGrp="1"/>
          </p:cNvSpPr>
          <p:nvPr/>
        </p:nvSpPr>
        <p:spPr>
          <a:xfrm>
            <a:off x="1047750" y="2114550"/>
            <a:ext cx="161925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>
                <a:solidFill>
                  <a:srgbClr val="102033"/>
                </a:solidFill>
              </a:defRPr>
            </a:pPr>
            <a:r>
              <a:rPr lang="en-IN" sz="3600" dirty="0">
                <a:solidFill>
                  <a:srgbClr val="102033"/>
                </a:solidFill>
              </a:rPr>
              <a:t>“</a:t>
            </a:r>
            <a:r>
              <a:rPr sz="3600" dirty="0">
                <a:solidFill>
                  <a:srgbClr val="102033"/>
                </a:solidFill>
              </a:rPr>
              <a:t>A class should have only one responsibility</a:t>
            </a:r>
            <a:r>
              <a:rPr lang="en-IN" sz="3600" dirty="0">
                <a:solidFill>
                  <a:srgbClr val="102033"/>
                </a:solidFill>
              </a:rPr>
              <a:t>”</a:t>
            </a:r>
            <a:endParaRPr sz="3600" dirty="0">
              <a:solidFill>
                <a:srgbClr val="102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593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634EDC7A-FD62-4725-B415-9136F6FCA2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8BA8295D-B759-40BA-9F55-7F35FC4321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E84A5F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1E6A836A-EA03-4CA4-9809-DFDD4F2F5FAE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SRP: Simple Meaning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3C5C5AE3-7B5D-4C7A-BCDF-1C029ECAA325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E84A5F"/>
          </a:solidFill>
          <a:ln w="0">
            <a:solidFill>
              <a:srgbClr val="E84A5F"/>
            </a:solidFill>
            <a:prstDash val="solid"/>
          </a:ln>
        </p:spPr>
      </p:sp>
      <p:sp>
        <p:nvSpPr>
          <p:cNvPr id="5" name="srp-simple-bullets-dot-1">
            <a:extLst>
              <a:ext uri="{FF2B5EF4-FFF2-40B4-BE49-F238E27FC236}">
                <a16:creationId xmlns:a16="http://schemas.microsoft.com/office/drawing/2014/main" id="{4C38440E-FA65-414E-B631-EAC62B3405E4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6" name="srp-simple-bullets-text-1">
            <a:extLst>
              <a:ext uri="{FF2B5EF4-FFF2-40B4-BE49-F238E27FC236}">
                <a16:creationId xmlns:a16="http://schemas.microsoft.com/office/drawing/2014/main" id="{70D16E2E-CCD1-4453-BCC0-B5519890404F}"/>
              </a:ext>
            </a:extLst>
          </p:cNvPr>
          <p:cNvSpPr>
            <a:spLocks noGrp="1"/>
          </p:cNvSpPr>
          <p:nvPr/>
        </p:nvSpPr>
        <p:spPr>
          <a:xfrm>
            <a:off x="1333500" y="21145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One class = one job</a:t>
            </a:r>
          </a:p>
        </p:txBody>
      </p:sp>
      <p:sp>
        <p:nvSpPr>
          <p:cNvPr id="7" name="srp-simple-bullets-dot-2">
            <a:extLst>
              <a:ext uri="{FF2B5EF4-FFF2-40B4-BE49-F238E27FC236}">
                <a16:creationId xmlns:a16="http://schemas.microsoft.com/office/drawing/2014/main" id="{CA191ABB-EA12-4474-BA8C-C1E1F1F04981}"/>
              </a:ext>
            </a:extLst>
          </p:cNvPr>
          <p:cNvSpPr>
            <a:spLocks noGrp="1"/>
          </p:cNvSpPr>
          <p:nvPr/>
        </p:nvSpPr>
        <p:spPr>
          <a:xfrm>
            <a:off x="1047750" y="2914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8" name="srp-simple-bullets-text-2">
            <a:extLst>
              <a:ext uri="{FF2B5EF4-FFF2-40B4-BE49-F238E27FC236}">
                <a16:creationId xmlns:a16="http://schemas.microsoft.com/office/drawing/2014/main" id="{0E17BA9E-0A0F-4BEB-AB90-BD3620A5302C}"/>
              </a:ext>
            </a:extLst>
          </p:cNvPr>
          <p:cNvSpPr>
            <a:spLocks noGrp="1"/>
          </p:cNvSpPr>
          <p:nvPr/>
        </p:nvSpPr>
        <p:spPr>
          <a:xfrm>
            <a:off x="1333500" y="27622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If a class does many things -&gt; harder to manage</a:t>
            </a:r>
          </a:p>
        </p:txBody>
      </p:sp>
      <p:sp>
        <p:nvSpPr>
          <p:cNvPr id="9" name="srp-simple-bullets-dot-3">
            <a:extLst>
              <a:ext uri="{FF2B5EF4-FFF2-40B4-BE49-F238E27FC236}">
                <a16:creationId xmlns:a16="http://schemas.microsoft.com/office/drawing/2014/main" id="{E879914F-0BEF-4CD2-A285-EDCBF8F3843C}"/>
              </a:ext>
            </a:extLst>
          </p:cNvPr>
          <p:cNvSpPr>
            <a:spLocks noGrp="1"/>
          </p:cNvSpPr>
          <p:nvPr/>
        </p:nvSpPr>
        <p:spPr>
          <a:xfrm>
            <a:off x="1047750" y="35623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10" name="srp-simple-bullets-text-3">
            <a:extLst>
              <a:ext uri="{FF2B5EF4-FFF2-40B4-BE49-F238E27FC236}">
                <a16:creationId xmlns:a16="http://schemas.microsoft.com/office/drawing/2014/main" id="{9743BB40-2DCB-45AF-8740-B46DDE3A18A9}"/>
              </a:ext>
            </a:extLst>
          </p:cNvPr>
          <p:cNvSpPr>
            <a:spLocks noGrp="1"/>
          </p:cNvSpPr>
          <p:nvPr/>
        </p:nvSpPr>
        <p:spPr>
          <a:xfrm>
            <a:off x="1333500" y="34099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Keep things focused and clean</a:t>
            </a:r>
          </a:p>
        </p:txBody>
      </p:sp>
    </p:spTree>
    <p:extLst>
      <p:ext uri="{BB962C8B-B14F-4D97-AF65-F5344CB8AC3E}">
        <p14:creationId xmlns:p14="http://schemas.microsoft.com/office/powerpoint/2010/main" val="1904160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0B50304B-6113-4AE5-9371-C0A6CD9D9192}"/>
              </a:ext>
            </a:extLst>
          </p:cNvPr>
          <p:cNvSpPr>
            <a:spLocks noGrp="1"/>
          </p:cNvSpPr>
          <p:nvPr/>
        </p:nvSpPr>
        <p:spPr>
          <a:xfrm>
            <a:off x="14748" y="14748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D0A70968-0ED6-425B-8E7A-F1592846C5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E84A5F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04A991E7-6F39-4EA6-B4B7-8F28FF5F193C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SRP: Real-Life Example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0C2AFC4C-9B3D-416A-BB79-BA1439DAB1BE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E84A5F"/>
          </a:solidFill>
          <a:ln w="0">
            <a:solidFill>
              <a:srgbClr val="E84A5F"/>
            </a:solidFill>
            <a:prstDash val="solid"/>
          </a:ln>
        </p:spPr>
      </p:sp>
      <p:sp>
        <p:nvSpPr>
          <p:cNvPr id="5" name="srp-example-bullets-dot-1">
            <a:extLst>
              <a:ext uri="{FF2B5EF4-FFF2-40B4-BE49-F238E27FC236}">
                <a16:creationId xmlns:a16="http://schemas.microsoft.com/office/drawing/2014/main" id="{E0DA55EF-3489-48B9-B1BC-486F2F1E6B02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6" name="srp-example-bullets-text-1">
            <a:extLst>
              <a:ext uri="{FF2B5EF4-FFF2-40B4-BE49-F238E27FC236}">
                <a16:creationId xmlns:a16="http://schemas.microsoft.com/office/drawing/2014/main" id="{BE59BDA4-7D84-4330-909C-A54B4EB27487}"/>
              </a:ext>
            </a:extLst>
          </p:cNvPr>
          <p:cNvSpPr>
            <a:spLocks noGrp="1"/>
          </p:cNvSpPr>
          <p:nvPr/>
        </p:nvSpPr>
        <p:spPr>
          <a:xfrm>
            <a:off x="1333500" y="21145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A teacher teaches</a:t>
            </a:r>
          </a:p>
        </p:txBody>
      </p:sp>
      <p:sp>
        <p:nvSpPr>
          <p:cNvPr id="7" name="srp-example-bullets-dot-2">
            <a:extLst>
              <a:ext uri="{FF2B5EF4-FFF2-40B4-BE49-F238E27FC236}">
                <a16:creationId xmlns:a16="http://schemas.microsoft.com/office/drawing/2014/main" id="{392AFC96-631B-4496-A1F4-5C208E73D90D}"/>
              </a:ext>
            </a:extLst>
          </p:cNvPr>
          <p:cNvSpPr>
            <a:spLocks noGrp="1"/>
          </p:cNvSpPr>
          <p:nvPr/>
        </p:nvSpPr>
        <p:spPr>
          <a:xfrm>
            <a:off x="1047750" y="2914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8" name="srp-example-bullets-text-2">
            <a:extLst>
              <a:ext uri="{FF2B5EF4-FFF2-40B4-BE49-F238E27FC236}">
                <a16:creationId xmlns:a16="http://schemas.microsoft.com/office/drawing/2014/main" id="{AA69CB56-E71C-461E-910A-5EFA4548AA7A}"/>
              </a:ext>
            </a:extLst>
          </p:cNvPr>
          <p:cNvSpPr>
            <a:spLocks noGrp="1"/>
          </p:cNvSpPr>
          <p:nvPr/>
        </p:nvSpPr>
        <p:spPr>
          <a:xfrm>
            <a:off x="1333500" y="27622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 dirty="0">
                <a:solidFill>
                  <a:srgbClr val="102033"/>
                </a:solidFill>
              </a:rPr>
              <a:t>A printer prints report cards</a:t>
            </a:r>
          </a:p>
        </p:txBody>
      </p:sp>
      <p:sp>
        <p:nvSpPr>
          <p:cNvPr id="9" name="srp-example-bullets-dot-3">
            <a:extLst>
              <a:ext uri="{FF2B5EF4-FFF2-40B4-BE49-F238E27FC236}">
                <a16:creationId xmlns:a16="http://schemas.microsoft.com/office/drawing/2014/main" id="{4D892370-A9B6-4289-802D-362A40A107E7}"/>
              </a:ext>
            </a:extLst>
          </p:cNvPr>
          <p:cNvSpPr>
            <a:spLocks noGrp="1"/>
          </p:cNvSpPr>
          <p:nvPr/>
        </p:nvSpPr>
        <p:spPr>
          <a:xfrm>
            <a:off x="1047750" y="35623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10" name="srp-example-bullets-text-3">
            <a:extLst>
              <a:ext uri="{FF2B5EF4-FFF2-40B4-BE49-F238E27FC236}">
                <a16:creationId xmlns:a16="http://schemas.microsoft.com/office/drawing/2014/main" id="{381A697F-E0AD-4768-8ABB-24F35EA21974}"/>
              </a:ext>
            </a:extLst>
          </p:cNvPr>
          <p:cNvSpPr>
            <a:spLocks noGrp="1"/>
          </p:cNvSpPr>
          <p:nvPr/>
        </p:nvSpPr>
        <p:spPr>
          <a:xfrm>
            <a:off x="1333500" y="34099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If teacher also prints, manages fees, and cleans -&gt; messy system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576181-1A1C-61E2-E924-A2397074F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76565" y="5011938"/>
            <a:ext cx="6189406" cy="41236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25028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7C01D80D-DD3F-46B1-8A79-D2597D3134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68627C1A-8462-4A2E-92DA-3E33E5F6D0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E84A5F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1DC57170-8F9A-450F-808F-6CE545F797BC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SRP: Bad vs Good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B53A2749-6828-4B6F-ADCC-492D66A3CF80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E84A5F"/>
          </a:solidFill>
          <a:ln w="0">
            <a:solidFill>
              <a:srgbClr val="E84A5F"/>
            </a:solidFill>
            <a:prstDash val="solid"/>
          </a:ln>
        </p:spPr>
      </p:sp>
      <p:sp>
        <p:nvSpPr>
          <p:cNvPr id="5" name="srp-bad-label">
            <a:extLst>
              <a:ext uri="{FF2B5EF4-FFF2-40B4-BE49-F238E27FC236}">
                <a16:creationId xmlns:a16="http://schemas.microsoft.com/office/drawing/2014/main" id="{96A3C2FB-6CE5-4F20-96B3-10409787A4A5}"/>
              </a:ext>
            </a:extLst>
          </p:cNvPr>
          <p:cNvSpPr>
            <a:spLocks noGrp="1"/>
          </p:cNvSpPr>
          <p:nvPr/>
        </p:nvSpPr>
        <p:spPr>
          <a:xfrm>
            <a:off x="1047750" y="2114550"/>
            <a:ext cx="7867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E84A5F"/>
                </a:solidFill>
              </a:defRPr>
            </a:pPr>
            <a:r>
              <a:rPr sz="1950" b="1">
                <a:solidFill>
                  <a:srgbClr val="E84A5F"/>
                </a:solidFill>
              </a:rPr>
              <a:t>Bad</a:t>
            </a:r>
          </a:p>
        </p:txBody>
      </p:sp>
      <p:sp>
        <p:nvSpPr>
          <p:cNvPr id="6" name="srp-bad-panel">
            <a:extLst>
              <a:ext uri="{FF2B5EF4-FFF2-40B4-BE49-F238E27FC236}">
                <a16:creationId xmlns:a16="http://schemas.microsoft.com/office/drawing/2014/main" id="{F60FD633-776D-4B73-BF8E-DE7045AE8CA9}"/>
              </a:ext>
            </a:extLst>
          </p:cNvPr>
          <p:cNvSpPr>
            <a:spLocks noGrp="1"/>
          </p:cNvSpPr>
          <p:nvPr/>
        </p:nvSpPr>
        <p:spPr>
          <a:xfrm>
            <a:off x="1047750" y="2535555"/>
            <a:ext cx="7867650" cy="5334000"/>
          </a:xfrm>
          <a:prstGeom prst="roundRect">
            <a:avLst>
              <a:gd name="adj" fmla="val 2857"/>
            </a:avLst>
          </a:prstGeom>
          <a:solidFill>
            <a:srgbClr val="111827"/>
          </a:solidFill>
        </p:spPr>
      </p:sp>
      <p:sp>
        <p:nvSpPr>
          <p:cNvPr id="7" name="srp-bad-code">
            <a:extLst>
              <a:ext uri="{FF2B5EF4-FFF2-40B4-BE49-F238E27FC236}">
                <a16:creationId xmlns:a16="http://schemas.microsoft.com/office/drawing/2014/main" id="{2CA1B412-4F80-4F3A-BBD9-5ED101486C57}"/>
              </a:ext>
            </a:extLst>
          </p:cNvPr>
          <p:cNvSpPr>
            <a:spLocks noGrp="1"/>
          </p:cNvSpPr>
          <p:nvPr/>
        </p:nvSpPr>
        <p:spPr>
          <a:xfrm>
            <a:off x="1333500" y="2781300"/>
            <a:ext cx="729615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class Invoice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public void Calculate() { }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public void Print() { }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}</a:t>
            </a:r>
          </a:p>
        </p:txBody>
      </p:sp>
      <p:sp>
        <p:nvSpPr>
          <p:cNvPr id="8" name="srp-good-label">
            <a:extLst>
              <a:ext uri="{FF2B5EF4-FFF2-40B4-BE49-F238E27FC236}">
                <a16:creationId xmlns:a16="http://schemas.microsoft.com/office/drawing/2014/main" id="{1A30B353-A2B6-495F-9A89-4A39F9D2B9BD}"/>
              </a:ext>
            </a:extLst>
          </p:cNvPr>
          <p:cNvSpPr>
            <a:spLocks noGrp="1"/>
          </p:cNvSpPr>
          <p:nvPr/>
        </p:nvSpPr>
        <p:spPr>
          <a:xfrm>
            <a:off x="9372600" y="2114550"/>
            <a:ext cx="7867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AA876"/>
                </a:solidFill>
              </a:defRPr>
            </a:pPr>
            <a:r>
              <a:rPr sz="1950" b="1">
                <a:solidFill>
                  <a:srgbClr val="2AA876"/>
                </a:solidFill>
              </a:rPr>
              <a:t>Good</a:t>
            </a:r>
          </a:p>
        </p:txBody>
      </p:sp>
      <p:sp>
        <p:nvSpPr>
          <p:cNvPr id="9" name="srp-good-panel">
            <a:extLst>
              <a:ext uri="{FF2B5EF4-FFF2-40B4-BE49-F238E27FC236}">
                <a16:creationId xmlns:a16="http://schemas.microsoft.com/office/drawing/2014/main" id="{1D3F487B-DCBC-4C37-8C9F-39C7420F6B36}"/>
              </a:ext>
            </a:extLst>
          </p:cNvPr>
          <p:cNvSpPr>
            <a:spLocks noGrp="1"/>
          </p:cNvSpPr>
          <p:nvPr/>
        </p:nvSpPr>
        <p:spPr>
          <a:xfrm>
            <a:off x="9372600" y="2535555"/>
            <a:ext cx="7867650" cy="5334000"/>
          </a:xfrm>
          <a:prstGeom prst="roundRect">
            <a:avLst>
              <a:gd name="adj" fmla="val 2857"/>
            </a:avLst>
          </a:prstGeom>
          <a:solidFill>
            <a:srgbClr val="111827"/>
          </a:solidFill>
        </p:spPr>
      </p:sp>
      <p:sp>
        <p:nvSpPr>
          <p:cNvPr id="10" name="srp-good-code">
            <a:extLst>
              <a:ext uri="{FF2B5EF4-FFF2-40B4-BE49-F238E27FC236}">
                <a16:creationId xmlns:a16="http://schemas.microsoft.com/office/drawing/2014/main" id="{6F29C4BC-EC02-447E-AC2A-59370ADAB246}"/>
              </a:ext>
            </a:extLst>
          </p:cNvPr>
          <p:cNvSpPr>
            <a:spLocks noGrp="1"/>
          </p:cNvSpPr>
          <p:nvPr/>
        </p:nvSpPr>
        <p:spPr>
          <a:xfrm>
            <a:off x="9658350" y="2781300"/>
            <a:ext cx="7296150" cy="2571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class Invoice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public void Calculate() { }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}</a:t>
            </a:r>
          </a:p>
          <a:p>
            <a:endParaRPr sz="1875">
              <a:solidFill>
                <a:srgbClr val="E5E7EB"/>
              </a:solidFill>
            </a:endParaRP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class InvoicePrinter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public void Print() { }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70875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35C9E0D3-E3A3-4D5B-85B7-1633E6F1AD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64D18E32-C53A-49DF-A3D0-635F6895E4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F6B83F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D75DA019-4F50-48CC-8202-5A1EA74F6216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OCP: Open Closed Principle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8A647176-9E51-46A4-A9C7-FB986EBBE789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F6B83F"/>
          </a:solidFill>
          <a:ln w="0">
            <a:solidFill>
              <a:srgbClr val="F6B83F"/>
            </a:solidFill>
            <a:prstDash val="solid"/>
          </a:ln>
        </p:spPr>
      </p:sp>
      <p:sp>
        <p:nvSpPr>
          <p:cNvPr id="5" name="ocp-meaning">
            <a:extLst>
              <a:ext uri="{FF2B5EF4-FFF2-40B4-BE49-F238E27FC236}">
                <a16:creationId xmlns:a16="http://schemas.microsoft.com/office/drawing/2014/main" id="{1DCC2298-668B-4D38-A460-D7DE6D97F2DE}"/>
              </a:ext>
            </a:extLst>
          </p:cNvPr>
          <p:cNvSpPr>
            <a:spLocks noGrp="1"/>
          </p:cNvSpPr>
          <p:nvPr/>
        </p:nvSpPr>
        <p:spPr>
          <a:xfrm>
            <a:off x="1047750" y="2114550"/>
            <a:ext cx="161925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>
                <a:solidFill>
                  <a:srgbClr val="102033"/>
                </a:solidFill>
              </a:defRPr>
            </a:pPr>
            <a:r>
              <a:rPr lang="en-IN" sz="3600" dirty="0">
                <a:solidFill>
                  <a:srgbClr val="102033"/>
                </a:solidFill>
              </a:rPr>
              <a:t>“</a:t>
            </a:r>
            <a:r>
              <a:rPr sz="3600" dirty="0">
                <a:solidFill>
                  <a:srgbClr val="102033"/>
                </a:solidFill>
              </a:rPr>
              <a:t>Open for extension, closed for modification</a:t>
            </a:r>
            <a:r>
              <a:rPr lang="en-IN" sz="3600" dirty="0">
                <a:solidFill>
                  <a:srgbClr val="102033"/>
                </a:solidFill>
              </a:rPr>
              <a:t>"</a:t>
            </a:r>
            <a:endParaRPr sz="3600" dirty="0">
              <a:solidFill>
                <a:srgbClr val="102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736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2B94494A-FC00-4336-B218-E87549A134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CD8C95EA-B1B2-4569-A086-69E3E514D3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F6B83F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5446CBEA-DB3B-4C32-BF09-CBFE1B0C2CFA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OCP: Simple Meaning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9CD144DA-80A3-4545-9185-FE79AD573F7A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F6B83F"/>
          </a:solidFill>
          <a:ln w="0">
            <a:solidFill>
              <a:srgbClr val="F6B83F"/>
            </a:solidFill>
            <a:prstDash val="solid"/>
          </a:ln>
        </p:spPr>
      </p:sp>
      <p:sp>
        <p:nvSpPr>
          <p:cNvPr id="5" name="ocp-simple-bullets-dot-1">
            <a:extLst>
              <a:ext uri="{FF2B5EF4-FFF2-40B4-BE49-F238E27FC236}">
                <a16:creationId xmlns:a16="http://schemas.microsoft.com/office/drawing/2014/main" id="{8AFA1395-E712-400D-9983-93C8CF1D42DD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6" name="ocp-simple-bullets-text-1">
            <a:extLst>
              <a:ext uri="{FF2B5EF4-FFF2-40B4-BE49-F238E27FC236}">
                <a16:creationId xmlns:a16="http://schemas.microsoft.com/office/drawing/2014/main" id="{BE3796EE-BFB6-4D6E-985B-3E0599CE95FA}"/>
              </a:ext>
            </a:extLst>
          </p:cNvPr>
          <p:cNvSpPr>
            <a:spLocks noGrp="1"/>
          </p:cNvSpPr>
          <p:nvPr/>
        </p:nvSpPr>
        <p:spPr>
          <a:xfrm>
            <a:off x="1333500" y="21145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You can add new features</a:t>
            </a:r>
          </a:p>
        </p:txBody>
      </p:sp>
      <p:sp>
        <p:nvSpPr>
          <p:cNvPr id="7" name="ocp-simple-bullets-dot-2">
            <a:extLst>
              <a:ext uri="{FF2B5EF4-FFF2-40B4-BE49-F238E27FC236}">
                <a16:creationId xmlns:a16="http://schemas.microsoft.com/office/drawing/2014/main" id="{B90AE899-1B5E-4E73-B3F8-DE6D77E5559F}"/>
              </a:ext>
            </a:extLst>
          </p:cNvPr>
          <p:cNvSpPr>
            <a:spLocks noGrp="1"/>
          </p:cNvSpPr>
          <p:nvPr/>
        </p:nvSpPr>
        <p:spPr>
          <a:xfrm>
            <a:off x="1047750" y="2914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8" name="ocp-simple-bullets-text-2">
            <a:extLst>
              <a:ext uri="{FF2B5EF4-FFF2-40B4-BE49-F238E27FC236}">
                <a16:creationId xmlns:a16="http://schemas.microsoft.com/office/drawing/2014/main" id="{4AECA739-1272-4B24-AECF-531AEAD4C4F4}"/>
              </a:ext>
            </a:extLst>
          </p:cNvPr>
          <p:cNvSpPr>
            <a:spLocks noGrp="1"/>
          </p:cNvSpPr>
          <p:nvPr/>
        </p:nvSpPr>
        <p:spPr>
          <a:xfrm>
            <a:off x="1333500" y="27622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But don’t change existing code</a:t>
            </a:r>
          </a:p>
        </p:txBody>
      </p:sp>
      <p:sp>
        <p:nvSpPr>
          <p:cNvPr id="9" name="ocp-simple-bullets-dot-3">
            <a:extLst>
              <a:ext uri="{FF2B5EF4-FFF2-40B4-BE49-F238E27FC236}">
                <a16:creationId xmlns:a16="http://schemas.microsoft.com/office/drawing/2014/main" id="{FBB770C2-B230-461F-9697-8953B340FC87}"/>
              </a:ext>
            </a:extLst>
          </p:cNvPr>
          <p:cNvSpPr>
            <a:spLocks noGrp="1"/>
          </p:cNvSpPr>
          <p:nvPr/>
        </p:nvSpPr>
        <p:spPr>
          <a:xfrm>
            <a:off x="1047750" y="35623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10" name="ocp-simple-bullets-text-3">
            <a:extLst>
              <a:ext uri="{FF2B5EF4-FFF2-40B4-BE49-F238E27FC236}">
                <a16:creationId xmlns:a16="http://schemas.microsoft.com/office/drawing/2014/main" id="{B67B595D-C632-4F75-8073-2E4C71458D94}"/>
              </a:ext>
            </a:extLst>
          </p:cNvPr>
          <p:cNvSpPr>
            <a:spLocks noGrp="1"/>
          </p:cNvSpPr>
          <p:nvPr/>
        </p:nvSpPr>
        <p:spPr>
          <a:xfrm>
            <a:off x="1333500" y="34099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Avoid breaking working code</a:t>
            </a:r>
          </a:p>
        </p:txBody>
      </p:sp>
    </p:spTree>
    <p:extLst>
      <p:ext uri="{BB962C8B-B14F-4D97-AF65-F5344CB8AC3E}">
        <p14:creationId xmlns:p14="http://schemas.microsoft.com/office/powerpoint/2010/main" val="713905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D2363E54-B6C3-42E2-BB1F-DF8213FE84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AA587778-49E0-4B49-BD85-5DCF8048E0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F6B83F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3EEF6B97-8400-484C-A361-492D71B326F2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OCP: Real-Life Example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F506D0DD-16FF-44F1-98A1-3BBBC6E24F3B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F6B83F"/>
          </a:solidFill>
          <a:ln w="0">
            <a:solidFill>
              <a:srgbClr val="F6B83F"/>
            </a:solidFill>
            <a:prstDash val="solid"/>
          </a:ln>
        </p:spPr>
      </p:sp>
      <p:sp>
        <p:nvSpPr>
          <p:cNvPr id="5" name="ocp-example-bullets-dot-1">
            <a:extLst>
              <a:ext uri="{FF2B5EF4-FFF2-40B4-BE49-F238E27FC236}">
                <a16:creationId xmlns:a16="http://schemas.microsoft.com/office/drawing/2014/main" id="{8562596E-8489-4263-AA7B-644654548C86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6" name="ocp-example-bullets-text-1">
            <a:extLst>
              <a:ext uri="{FF2B5EF4-FFF2-40B4-BE49-F238E27FC236}">
                <a16:creationId xmlns:a16="http://schemas.microsoft.com/office/drawing/2014/main" id="{ED5A8217-1161-49F1-92CA-2FABB061FF1C}"/>
              </a:ext>
            </a:extLst>
          </p:cNvPr>
          <p:cNvSpPr>
            <a:spLocks noGrp="1"/>
          </p:cNvSpPr>
          <p:nvPr/>
        </p:nvSpPr>
        <p:spPr>
          <a:xfrm>
            <a:off x="1333500" y="21145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Mobile apps get updates with new features</a:t>
            </a:r>
          </a:p>
        </p:txBody>
      </p:sp>
      <p:sp>
        <p:nvSpPr>
          <p:cNvPr id="7" name="ocp-example-bullets-dot-2">
            <a:extLst>
              <a:ext uri="{FF2B5EF4-FFF2-40B4-BE49-F238E27FC236}">
                <a16:creationId xmlns:a16="http://schemas.microsoft.com/office/drawing/2014/main" id="{BDA73DA4-6339-4CBE-8CF1-C0DF8605E3B4}"/>
              </a:ext>
            </a:extLst>
          </p:cNvPr>
          <p:cNvSpPr>
            <a:spLocks noGrp="1"/>
          </p:cNvSpPr>
          <p:nvPr/>
        </p:nvSpPr>
        <p:spPr>
          <a:xfrm>
            <a:off x="1047750" y="2914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8" name="ocp-example-bullets-text-2">
            <a:extLst>
              <a:ext uri="{FF2B5EF4-FFF2-40B4-BE49-F238E27FC236}">
                <a16:creationId xmlns:a16="http://schemas.microsoft.com/office/drawing/2014/main" id="{38E7D235-FD1C-4CA0-89A7-07DEB58A0B36}"/>
              </a:ext>
            </a:extLst>
          </p:cNvPr>
          <p:cNvSpPr>
            <a:spLocks noGrp="1"/>
          </p:cNvSpPr>
          <p:nvPr/>
        </p:nvSpPr>
        <p:spPr>
          <a:xfrm>
            <a:off x="1333500" y="27622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Existing features still work same</a:t>
            </a:r>
          </a:p>
        </p:txBody>
      </p:sp>
      <p:sp>
        <p:nvSpPr>
          <p:cNvPr id="9" name="ocp-example-bullets-dot-3">
            <a:extLst>
              <a:ext uri="{FF2B5EF4-FFF2-40B4-BE49-F238E27FC236}">
                <a16:creationId xmlns:a16="http://schemas.microsoft.com/office/drawing/2014/main" id="{1F7A896C-908E-494A-88FA-6C522631BB6C}"/>
              </a:ext>
            </a:extLst>
          </p:cNvPr>
          <p:cNvSpPr>
            <a:spLocks noGrp="1"/>
          </p:cNvSpPr>
          <p:nvPr/>
        </p:nvSpPr>
        <p:spPr>
          <a:xfrm>
            <a:off x="1047750" y="35623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10" name="ocp-example-bullets-text-3">
            <a:extLst>
              <a:ext uri="{FF2B5EF4-FFF2-40B4-BE49-F238E27FC236}">
                <a16:creationId xmlns:a16="http://schemas.microsoft.com/office/drawing/2014/main" id="{03F7602F-B285-4671-B5EA-88CC2F490EE0}"/>
              </a:ext>
            </a:extLst>
          </p:cNvPr>
          <p:cNvSpPr>
            <a:spLocks noGrp="1"/>
          </p:cNvSpPr>
          <p:nvPr/>
        </p:nvSpPr>
        <p:spPr>
          <a:xfrm>
            <a:off x="1333500" y="34099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You don’t rebuild the whole app every update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D6EDB7-F80C-9ACA-816C-A2AA95823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334000" y="5669525"/>
            <a:ext cx="7620000" cy="304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13775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D9661F6C-4CB3-4E64-8D83-E1E66FA1CE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42AE7610-00AC-431A-B1E6-FF00C5A4AD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F6B83F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32986FA6-B797-413F-A1DE-8C912E3FF771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OCP: Code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0DFA1944-1870-4770-9FC5-AE6DFFFF09B9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F6B83F"/>
          </a:solidFill>
          <a:ln w="0">
            <a:solidFill>
              <a:srgbClr val="F6B83F"/>
            </a:solidFill>
            <a:prstDash val="solid"/>
          </a:ln>
        </p:spPr>
      </p:sp>
      <p:sp>
        <p:nvSpPr>
          <p:cNvPr id="5" name="ocp-bad-label">
            <a:extLst>
              <a:ext uri="{FF2B5EF4-FFF2-40B4-BE49-F238E27FC236}">
                <a16:creationId xmlns:a16="http://schemas.microsoft.com/office/drawing/2014/main" id="{68B3013B-64C4-4F8A-9A60-5FA664F17283}"/>
              </a:ext>
            </a:extLst>
          </p:cNvPr>
          <p:cNvSpPr>
            <a:spLocks noGrp="1"/>
          </p:cNvSpPr>
          <p:nvPr/>
        </p:nvSpPr>
        <p:spPr>
          <a:xfrm>
            <a:off x="1047750" y="2114550"/>
            <a:ext cx="7867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E84A5F"/>
                </a:solidFill>
              </a:defRPr>
            </a:pPr>
            <a:r>
              <a:rPr sz="1950" b="1">
                <a:solidFill>
                  <a:srgbClr val="E84A5F"/>
                </a:solidFill>
              </a:rPr>
              <a:t>Bad</a:t>
            </a:r>
          </a:p>
        </p:txBody>
      </p:sp>
      <p:sp>
        <p:nvSpPr>
          <p:cNvPr id="6" name="ocp-bad-panel">
            <a:extLst>
              <a:ext uri="{FF2B5EF4-FFF2-40B4-BE49-F238E27FC236}">
                <a16:creationId xmlns:a16="http://schemas.microsoft.com/office/drawing/2014/main" id="{A28E5243-BAE9-401F-9579-B14E7B85B569}"/>
              </a:ext>
            </a:extLst>
          </p:cNvPr>
          <p:cNvSpPr>
            <a:spLocks noGrp="1"/>
          </p:cNvSpPr>
          <p:nvPr/>
        </p:nvSpPr>
        <p:spPr>
          <a:xfrm>
            <a:off x="1047750" y="2535555"/>
            <a:ext cx="7867650" cy="5334000"/>
          </a:xfrm>
          <a:prstGeom prst="roundRect">
            <a:avLst>
              <a:gd name="adj" fmla="val 2857"/>
            </a:avLst>
          </a:prstGeom>
          <a:solidFill>
            <a:srgbClr val="111827"/>
          </a:solidFill>
        </p:spPr>
      </p:sp>
      <p:sp>
        <p:nvSpPr>
          <p:cNvPr id="7" name="ocp-bad-code">
            <a:extLst>
              <a:ext uri="{FF2B5EF4-FFF2-40B4-BE49-F238E27FC236}">
                <a16:creationId xmlns:a16="http://schemas.microsoft.com/office/drawing/2014/main" id="{2F23FACD-A299-4656-88D3-FE3627B03C7C}"/>
              </a:ext>
            </a:extLst>
          </p:cNvPr>
          <p:cNvSpPr>
            <a:spLocks noGrp="1"/>
          </p:cNvSpPr>
          <p:nvPr/>
        </p:nvSpPr>
        <p:spPr>
          <a:xfrm>
            <a:off x="1333500" y="2781300"/>
            <a:ext cx="7296150" cy="2286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class Discount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public double GetDiscount(string type)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    if (type == "Regular") return 10;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    else return 20;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}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}</a:t>
            </a:r>
          </a:p>
        </p:txBody>
      </p:sp>
      <p:sp>
        <p:nvSpPr>
          <p:cNvPr id="8" name="ocp-good-label">
            <a:extLst>
              <a:ext uri="{FF2B5EF4-FFF2-40B4-BE49-F238E27FC236}">
                <a16:creationId xmlns:a16="http://schemas.microsoft.com/office/drawing/2014/main" id="{7312108A-A391-4F7F-86E0-1CE81AA4E1B8}"/>
              </a:ext>
            </a:extLst>
          </p:cNvPr>
          <p:cNvSpPr>
            <a:spLocks noGrp="1"/>
          </p:cNvSpPr>
          <p:nvPr/>
        </p:nvSpPr>
        <p:spPr>
          <a:xfrm>
            <a:off x="9372600" y="2114550"/>
            <a:ext cx="7867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AA876"/>
                </a:solidFill>
              </a:defRPr>
            </a:pPr>
            <a:r>
              <a:rPr sz="1950" b="1">
                <a:solidFill>
                  <a:srgbClr val="2AA876"/>
                </a:solidFill>
              </a:rPr>
              <a:t>Good</a:t>
            </a:r>
          </a:p>
        </p:txBody>
      </p:sp>
      <p:sp>
        <p:nvSpPr>
          <p:cNvPr id="9" name="ocp-good-panel">
            <a:extLst>
              <a:ext uri="{FF2B5EF4-FFF2-40B4-BE49-F238E27FC236}">
                <a16:creationId xmlns:a16="http://schemas.microsoft.com/office/drawing/2014/main" id="{E127400F-C4EC-47ED-BED6-FFDA83B0D956}"/>
              </a:ext>
            </a:extLst>
          </p:cNvPr>
          <p:cNvSpPr>
            <a:spLocks noGrp="1"/>
          </p:cNvSpPr>
          <p:nvPr/>
        </p:nvSpPr>
        <p:spPr>
          <a:xfrm>
            <a:off x="9372600" y="2535555"/>
            <a:ext cx="7867650" cy="5334000"/>
          </a:xfrm>
          <a:prstGeom prst="roundRect">
            <a:avLst>
              <a:gd name="adj" fmla="val 2857"/>
            </a:avLst>
          </a:prstGeom>
          <a:solidFill>
            <a:srgbClr val="111827"/>
          </a:solidFill>
        </p:spPr>
      </p:sp>
      <p:sp>
        <p:nvSpPr>
          <p:cNvPr id="10" name="ocp-good-code">
            <a:extLst>
              <a:ext uri="{FF2B5EF4-FFF2-40B4-BE49-F238E27FC236}">
                <a16:creationId xmlns:a16="http://schemas.microsoft.com/office/drawing/2014/main" id="{81AB1091-1021-4A48-8A1E-ACFDE7DB06DD}"/>
              </a:ext>
            </a:extLst>
          </p:cNvPr>
          <p:cNvSpPr>
            <a:spLocks noGrp="1"/>
          </p:cNvSpPr>
          <p:nvPr/>
        </p:nvSpPr>
        <p:spPr>
          <a:xfrm>
            <a:off x="9658350" y="2781300"/>
            <a:ext cx="7296150" cy="2571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interface </a:t>
            </a:r>
            <a:r>
              <a:rPr sz="1875" dirty="0" err="1">
                <a:solidFill>
                  <a:srgbClr val="E5E7EB"/>
                </a:solidFill>
              </a:rPr>
              <a:t>IDiscount</a:t>
            </a:r>
            <a:endParaRPr sz="1875" dirty="0">
              <a:solidFill>
                <a:srgbClr val="E5E7EB"/>
              </a:solidFill>
            </a:endParaRP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    double </a:t>
            </a:r>
            <a:r>
              <a:rPr sz="1875" dirty="0" err="1">
                <a:solidFill>
                  <a:srgbClr val="E5E7EB"/>
                </a:solidFill>
              </a:rPr>
              <a:t>GetDiscount</a:t>
            </a:r>
            <a:r>
              <a:rPr sz="1875" dirty="0">
                <a:solidFill>
                  <a:srgbClr val="E5E7EB"/>
                </a:solidFill>
              </a:rPr>
              <a:t>();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}</a:t>
            </a:r>
          </a:p>
          <a:p>
            <a:endParaRPr sz="1875" dirty="0">
              <a:solidFill>
                <a:srgbClr val="E5E7EB"/>
              </a:solidFill>
            </a:endParaRP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class Regular : </a:t>
            </a:r>
            <a:r>
              <a:rPr sz="1875" dirty="0" err="1">
                <a:solidFill>
                  <a:srgbClr val="E5E7EB"/>
                </a:solidFill>
              </a:rPr>
              <a:t>IDiscount</a:t>
            </a:r>
            <a:endParaRPr sz="1875" dirty="0">
              <a:solidFill>
                <a:srgbClr val="E5E7EB"/>
              </a:solidFill>
            </a:endParaRP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    public double </a:t>
            </a:r>
            <a:r>
              <a:rPr sz="1875" dirty="0" err="1">
                <a:solidFill>
                  <a:srgbClr val="E5E7EB"/>
                </a:solidFill>
              </a:rPr>
              <a:t>GetDiscount</a:t>
            </a:r>
            <a:r>
              <a:rPr sz="1875" dirty="0">
                <a:solidFill>
                  <a:srgbClr val="E5E7EB"/>
                </a:solidFill>
              </a:rPr>
              <a:t>() =&gt; 10;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5002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00DE823D-1983-4203-B686-68FA3A8CBF0F}"/>
              </a:ext>
            </a:extLst>
          </p:cNvPr>
          <p:cNvSpPr>
            <a:spLocks noGrp="1"/>
          </p:cNvSpPr>
          <p:nvPr/>
        </p:nvSpPr>
        <p:spPr>
          <a:xfrm>
            <a:off x="29496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07A6F497-BF4A-4BA2-8A4A-FFF9121D2D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2AA876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61395560-4AB2-41A2-9647-3B7CBF6E92B9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LSP: Liskov Substitution Principle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DEE6DCBB-86DC-4A04-8F66-2016F26384CE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2AA876"/>
          </a:solidFill>
          <a:ln w="0">
            <a:solidFill>
              <a:srgbClr val="2AA876"/>
            </a:solidFill>
            <a:prstDash val="solid"/>
          </a:ln>
        </p:spPr>
      </p:sp>
      <p:sp>
        <p:nvSpPr>
          <p:cNvPr id="5" name="lsp-meaning">
            <a:extLst>
              <a:ext uri="{FF2B5EF4-FFF2-40B4-BE49-F238E27FC236}">
                <a16:creationId xmlns:a16="http://schemas.microsoft.com/office/drawing/2014/main" id="{48C38CA3-CB2B-4E31-91D8-8063C722F2D2}"/>
              </a:ext>
            </a:extLst>
          </p:cNvPr>
          <p:cNvSpPr>
            <a:spLocks noGrp="1"/>
          </p:cNvSpPr>
          <p:nvPr/>
        </p:nvSpPr>
        <p:spPr>
          <a:xfrm>
            <a:off x="1047750" y="2114550"/>
            <a:ext cx="161925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>
                <a:solidFill>
                  <a:srgbClr val="102033"/>
                </a:solidFill>
              </a:defRPr>
            </a:pPr>
            <a:r>
              <a:rPr lang="en-US" sz="3450" dirty="0"/>
              <a:t>“If you replace a parent class object with a child class object, the program should still work correctly”</a:t>
            </a:r>
            <a:endParaRPr sz="3450" dirty="0">
              <a:solidFill>
                <a:srgbClr val="102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924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80DCC242-612E-44D1-B5C8-F9096C1F1F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F39B6BF2-F93D-4A35-8B54-0631AA00FE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2AA876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0F3323D-DF6A-4475-BAE0-840551F59744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LSP: Simple Meaning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CF41B921-3F1D-4C43-9356-A0F7EB50AB8A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2AA876"/>
          </a:solidFill>
          <a:ln w="0">
            <a:solidFill>
              <a:srgbClr val="2AA876"/>
            </a:solidFill>
            <a:prstDash val="solid"/>
          </a:ln>
        </p:spPr>
      </p:sp>
      <p:sp>
        <p:nvSpPr>
          <p:cNvPr id="5" name="lsp-simple-bullets-dot-1">
            <a:extLst>
              <a:ext uri="{FF2B5EF4-FFF2-40B4-BE49-F238E27FC236}">
                <a16:creationId xmlns:a16="http://schemas.microsoft.com/office/drawing/2014/main" id="{37AE7EDD-1BC0-4087-AD3C-43C3B53F26FB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6" name="lsp-simple-bullets-text-1">
            <a:extLst>
              <a:ext uri="{FF2B5EF4-FFF2-40B4-BE49-F238E27FC236}">
                <a16:creationId xmlns:a16="http://schemas.microsoft.com/office/drawing/2014/main" id="{EB84B06E-FE37-4278-8E26-D8E290D98F74}"/>
              </a:ext>
            </a:extLst>
          </p:cNvPr>
          <p:cNvSpPr>
            <a:spLocks noGrp="1"/>
          </p:cNvSpPr>
          <p:nvPr/>
        </p:nvSpPr>
        <p:spPr>
          <a:xfrm>
            <a:off x="1333500" y="21145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Child class should behave like parent</a:t>
            </a:r>
          </a:p>
        </p:txBody>
      </p:sp>
      <p:sp>
        <p:nvSpPr>
          <p:cNvPr id="7" name="lsp-simple-bullets-dot-2">
            <a:extLst>
              <a:ext uri="{FF2B5EF4-FFF2-40B4-BE49-F238E27FC236}">
                <a16:creationId xmlns:a16="http://schemas.microsoft.com/office/drawing/2014/main" id="{71E3A6AF-98E5-40CF-83AB-899F40B1F56F}"/>
              </a:ext>
            </a:extLst>
          </p:cNvPr>
          <p:cNvSpPr>
            <a:spLocks noGrp="1"/>
          </p:cNvSpPr>
          <p:nvPr/>
        </p:nvSpPr>
        <p:spPr>
          <a:xfrm>
            <a:off x="1047750" y="2914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8" name="lsp-simple-bullets-text-2">
            <a:extLst>
              <a:ext uri="{FF2B5EF4-FFF2-40B4-BE49-F238E27FC236}">
                <a16:creationId xmlns:a16="http://schemas.microsoft.com/office/drawing/2014/main" id="{7392CC3C-8A35-48C4-AAB9-5F6C9B0CE608}"/>
              </a:ext>
            </a:extLst>
          </p:cNvPr>
          <p:cNvSpPr>
            <a:spLocks noGrp="1"/>
          </p:cNvSpPr>
          <p:nvPr/>
        </p:nvSpPr>
        <p:spPr>
          <a:xfrm>
            <a:off x="1333500" y="27622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No unexpected behavior</a:t>
            </a:r>
          </a:p>
        </p:txBody>
      </p:sp>
      <p:sp>
        <p:nvSpPr>
          <p:cNvPr id="9" name="lsp-simple-bullets-dot-3">
            <a:extLst>
              <a:ext uri="{FF2B5EF4-FFF2-40B4-BE49-F238E27FC236}">
                <a16:creationId xmlns:a16="http://schemas.microsoft.com/office/drawing/2014/main" id="{E0CA89C2-1079-4837-A31F-5B8A44B95304}"/>
              </a:ext>
            </a:extLst>
          </p:cNvPr>
          <p:cNvSpPr>
            <a:spLocks noGrp="1"/>
          </p:cNvSpPr>
          <p:nvPr/>
        </p:nvSpPr>
        <p:spPr>
          <a:xfrm>
            <a:off x="1047750" y="35623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10" name="lsp-simple-bullets-text-3">
            <a:extLst>
              <a:ext uri="{FF2B5EF4-FFF2-40B4-BE49-F238E27FC236}">
                <a16:creationId xmlns:a16="http://schemas.microsoft.com/office/drawing/2014/main" id="{790E7C94-F9C3-4F48-B1B1-6BCB03CCCD9F}"/>
              </a:ext>
            </a:extLst>
          </p:cNvPr>
          <p:cNvSpPr>
            <a:spLocks noGrp="1"/>
          </p:cNvSpPr>
          <p:nvPr/>
        </p:nvSpPr>
        <p:spPr>
          <a:xfrm>
            <a:off x="1333500" y="34099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Replace parent -&gt; program should still work</a:t>
            </a:r>
          </a:p>
        </p:txBody>
      </p:sp>
    </p:spTree>
    <p:extLst>
      <p:ext uri="{BB962C8B-B14F-4D97-AF65-F5344CB8AC3E}">
        <p14:creationId xmlns:p14="http://schemas.microsoft.com/office/powerpoint/2010/main" val="997765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8F16DEBB-BC32-447A-9C37-8CA353FA83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AAB7D032-C782-44DF-B3BD-ED3271CB09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2AA876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CBBC96B4-3B7F-4E37-8C88-CB6C3165D72E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LSP: Real-Life Example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4721F0D1-F084-4112-92AF-DD948293940B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2AA876"/>
          </a:solidFill>
          <a:ln w="0">
            <a:solidFill>
              <a:srgbClr val="2AA876"/>
            </a:solidFill>
            <a:prstDash val="solid"/>
          </a:ln>
        </p:spPr>
      </p:sp>
      <p:sp>
        <p:nvSpPr>
          <p:cNvPr id="5" name="lsp-example-bullets-dot-1">
            <a:extLst>
              <a:ext uri="{FF2B5EF4-FFF2-40B4-BE49-F238E27FC236}">
                <a16:creationId xmlns:a16="http://schemas.microsoft.com/office/drawing/2014/main" id="{977CD975-0648-4807-AD12-C839AB44990F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6" name="lsp-example-bullets-text-1">
            <a:extLst>
              <a:ext uri="{FF2B5EF4-FFF2-40B4-BE49-F238E27FC236}">
                <a16:creationId xmlns:a16="http://schemas.microsoft.com/office/drawing/2014/main" id="{6E3154D1-43B4-49B7-A152-62D778B6964C}"/>
              </a:ext>
            </a:extLst>
          </p:cNvPr>
          <p:cNvSpPr>
            <a:spLocks noGrp="1"/>
          </p:cNvSpPr>
          <p:nvPr/>
        </p:nvSpPr>
        <p:spPr>
          <a:xfrm>
            <a:off x="1333500" y="209550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>
                <a:solidFill>
                  <a:srgbClr val="102033"/>
                </a:solidFill>
              </a:defRPr>
            </a:pPr>
            <a:r>
              <a:rPr sz="2700">
                <a:solidFill>
                  <a:srgbClr val="102033"/>
                </a:solidFill>
              </a:rPr>
              <a:t>If you replace a car driver with another driver -&gt; car should still run</a:t>
            </a:r>
          </a:p>
        </p:txBody>
      </p:sp>
      <p:sp>
        <p:nvSpPr>
          <p:cNvPr id="7" name="lsp-example-bullets-dot-2">
            <a:extLst>
              <a:ext uri="{FF2B5EF4-FFF2-40B4-BE49-F238E27FC236}">
                <a16:creationId xmlns:a16="http://schemas.microsoft.com/office/drawing/2014/main" id="{EB19E467-1932-4FBF-A1C8-3D27D977162E}"/>
              </a:ext>
            </a:extLst>
          </p:cNvPr>
          <p:cNvSpPr>
            <a:spLocks noGrp="1"/>
          </p:cNvSpPr>
          <p:nvPr/>
        </p:nvSpPr>
        <p:spPr>
          <a:xfrm>
            <a:off x="1047750" y="2876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8" name="lsp-example-bullets-text-2">
            <a:extLst>
              <a:ext uri="{FF2B5EF4-FFF2-40B4-BE49-F238E27FC236}">
                <a16:creationId xmlns:a16="http://schemas.microsoft.com/office/drawing/2014/main" id="{481B5408-95A3-44C0-BE87-9BCD54DE385F}"/>
              </a:ext>
            </a:extLst>
          </p:cNvPr>
          <p:cNvSpPr>
            <a:spLocks noGrp="1"/>
          </p:cNvSpPr>
          <p:nvPr/>
        </p:nvSpPr>
        <p:spPr>
          <a:xfrm>
            <a:off x="1333500" y="27241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>
                <a:solidFill>
                  <a:srgbClr val="102033"/>
                </a:solidFill>
              </a:defRPr>
            </a:pPr>
            <a:r>
              <a:rPr sz="2700">
                <a:solidFill>
                  <a:srgbClr val="102033"/>
                </a:solidFill>
              </a:rPr>
              <a:t>But replacing with someone who can’t drive -&gt; system breaks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E9BD1E8-687B-38BE-5298-C8A932CBC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947" y="4458622"/>
            <a:ext cx="4975430" cy="49754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A227B78-C58A-7228-5CE0-099D6033A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9720" y="4370129"/>
            <a:ext cx="4975430" cy="49754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54315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4E264250-3950-401A-964D-2E615BF31E04}"/>
              </a:ext>
            </a:extLst>
          </p:cNvPr>
          <p:cNvSpPr>
            <a:spLocks noGrp="1"/>
          </p:cNvSpPr>
          <p:nvPr/>
        </p:nvSpPr>
        <p:spPr>
          <a:xfrm>
            <a:off x="14748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087AAE9E-77FE-4A43-A367-7066EEA7B7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2AA876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3FBCC466-9D9B-461B-9931-43B566260FF0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LSP: Code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60483F4B-3981-4A4F-B22C-0A7B88F216FE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2AA876"/>
          </a:solidFill>
          <a:ln w="0">
            <a:solidFill>
              <a:srgbClr val="2AA876"/>
            </a:solidFill>
            <a:prstDash val="solid"/>
          </a:ln>
        </p:spPr>
      </p:sp>
      <p:sp>
        <p:nvSpPr>
          <p:cNvPr id="5" name="lsp-bad-label">
            <a:extLst>
              <a:ext uri="{FF2B5EF4-FFF2-40B4-BE49-F238E27FC236}">
                <a16:creationId xmlns:a16="http://schemas.microsoft.com/office/drawing/2014/main" id="{CC4F4CC4-9540-4738-942C-DE6FEEF60A67}"/>
              </a:ext>
            </a:extLst>
          </p:cNvPr>
          <p:cNvSpPr>
            <a:spLocks noGrp="1"/>
          </p:cNvSpPr>
          <p:nvPr/>
        </p:nvSpPr>
        <p:spPr>
          <a:xfrm>
            <a:off x="1047750" y="2114550"/>
            <a:ext cx="7867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E84A5F"/>
                </a:solidFill>
              </a:defRPr>
            </a:pPr>
            <a:r>
              <a:rPr sz="1950" b="1">
                <a:solidFill>
                  <a:srgbClr val="E84A5F"/>
                </a:solidFill>
              </a:rPr>
              <a:t>Bad</a:t>
            </a:r>
          </a:p>
        </p:txBody>
      </p:sp>
      <p:sp>
        <p:nvSpPr>
          <p:cNvPr id="6" name="lsp-bad-panel">
            <a:extLst>
              <a:ext uri="{FF2B5EF4-FFF2-40B4-BE49-F238E27FC236}">
                <a16:creationId xmlns:a16="http://schemas.microsoft.com/office/drawing/2014/main" id="{0A3156A6-7223-46F5-BA5A-72BFDF36C0C8}"/>
              </a:ext>
            </a:extLst>
          </p:cNvPr>
          <p:cNvSpPr>
            <a:spLocks noGrp="1"/>
          </p:cNvSpPr>
          <p:nvPr/>
        </p:nvSpPr>
        <p:spPr>
          <a:xfrm>
            <a:off x="1047750" y="2535555"/>
            <a:ext cx="7867650" cy="5334000"/>
          </a:xfrm>
          <a:prstGeom prst="roundRect">
            <a:avLst>
              <a:gd name="adj" fmla="val 2857"/>
            </a:avLst>
          </a:prstGeom>
          <a:solidFill>
            <a:srgbClr val="111827"/>
          </a:solidFill>
        </p:spPr>
      </p:sp>
      <p:sp>
        <p:nvSpPr>
          <p:cNvPr id="7" name="lsp-bad-code">
            <a:extLst>
              <a:ext uri="{FF2B5EF4-FFF2-40B4-BE49-F238E27FC236}">
                <a16:creationId xmlns:a16="http://schemas.microsoft.com/office/drawing/2014/main" id="{719133D8-946A-4798-AB15-59014079E827}"/>
              </a:ext>
            </a:extLst>
          </p:cNvPr>
          <p:cNvSpPr>
            <a:spLocks noGrp="1"/>
          </p:cNvSpPr>
          <p:nvPr/>
        </p:nvSpPr>
        <p:spPr>
          <a:xfrm>
            <a:off x="1333500" y="2781300"/>
            <a:ext cx="7296150" cy="3429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class Bird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    public virtual void Fly() { }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}</a:t>
            </a:r>
          </a:p>
          <a:p>
            <a:endParaRPr sz="1875" dirty="0">
              <a:solidFill>
                <a:srgbClr val="E5E7EB"/>
              </a:solidFill>
            </a:endParaRP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class Ostrich : Bird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    public override void Fly()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    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        throw new Exception();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    }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}</a:t>
            </a:r>
            <a:endParaRPr lang="en-IN" sz="1875" dirty="0">
              <a:solidFill>
                <a:srgbClr val="E5E7EB"/>
              </a:solidFill>
            </a:endParaRPr>
          </a:p>
          <a:p>
            <a:pPr>
              <a:defRPr sz="1875">
                <a:solidFill>
                  <a:srgbClr val="E5E7EB"/>
                </a:solidFill>
              </a:defRPr>
            </a:pPr>
            <a:endParaRPr lang="en-IN" sz="1875" dirty="0">
              <a:solidFill>
                <a:srgbClr val="E5E7EB"/>
              </a:solidFill>
            </a:endParaRP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lang="en-US" sz="1875" dirty="0"/>
              <a:t>Bird </a:t>
            </a:r>
            <a:r>
              <a:rPr lang="en-US" sz="1875" dirty="0" err="1"/>
              <a:t>bird</a:t>
            </a:r>
            <a:r>
              <a:rPr lang="en-US" sz="1875" dirty="0"/>
              <a:t> = new Ostrich();</a:t>
            </a:r>
            <a:br>
              <a:rPr lang="en-US" sz="1875" dirty="0"/>
            </a:br>
            <a:r>
              <a:rPr lang="en-US" sz="1875" dirty="0" err="1"/>
              <a:t>bird.Fly</a:t>
            </a:r>
            <a:r>
              <a:rPr lang="en-US" sz="1875" dirty="0"/>
              <a:t>(); // 💥 crashes</a:t>
            </a:r>
            <a:endParaRPr lang="en-IN" sz="1875" dirty="0">
              <a:solidFill>
                <a:srgbClr val="E5E7EB"/>
              </a:solidFill>
            </a:endParaRPr>
          </a:p>
        </p:txBody>
      </p:sp>
      <p:sp>
        <p:nvSpPr>
          <p:cNvPr id="8" name="lsp-good-label">
            <a:extLst>
              <a:ext uri="{FF2B5EF4-FFF2-40B4-BE49-F238E27FC236}">
                <a16:creationId xmlns:a16="http://schemas.microsoft.com/office/drawing/2014/main" id="{0DE05EDB-58BC-4E64-81BB-8BB1110F51A7}"/>
              </a:ext>
            </a:extLst>
          </p:cNvPr>
          <p:cNvSpPr>
            <a:spLocks noGrp="1"/>
          </p:cNvSpPr>
          <p:nvPr/>
        </p:nvSpPr>
        <p:spPr>
          <a:xfrm>
            <a:off x="9372600" y="2114550"/>
            <a:ext cx="7867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AA876"/>
                </a:solidFill>
              </a:defRPr>
            </a:pPr>
            <a:r>
              <a:rPr sz="1950" b="1">
                <a:solidFill>
                  <a:srgbClr val="2AA876"/>
                </a:solidFill>
              </a:rPr>
              <a:t>Good</a:t>
            </a:r>
          </a:p>
        </p:txBody>
      </p:sp>
      <p:sp>
        <p:nvSpPr>
          <p:cNvPr id="9" name="lsp-good-panel">
            <a:extLst>
              <a:ext uri="{FF2B5EF4-FFF2-40B4-BE49-F238E27FC236}">
                <a16:creationId xmlns:a16="http://schemas.microsoft.com/office/drawing/2014/main" id="{D85DD6FF-7B50-4E3B-82B9-D7695E12BF71}"/>
              </a:ext>
            </a:extLst>
          </p:cNvPr>
          <p:cNvSpPr>
            <a:spLocks noGrp="1"/>
          </p:cNvSpPr>
          <p:nvPr/>
        </p:nvSpPr>
        <p:spPr>
          <a:xfrm>
            <a:off x="9372600" y="2535555"/>
            <a:ext cx="7867650" cy="5334000"/>
          </a:xfrm>
          <a:prstGeom prst="roundRect">
            <a:avLst>
              <a:gd name="adj" fmla="val 2857"/>
            </a:avLst>
          </a:prstGeom>
          <a:solidFill>
            <a:srgbClr val="111827"/>
          </a:solidFill>
        </p:spPr>
      </p:sp>
      <p:sp>
        <p:nvSpPr>
          <p:cNvPr id="10" name="lsp-good-code">
            <a:extLst>
              <a:ext uri="{FF2B5EF4-FFF2-40B4-BE49-F238E27FC236}">
                <a16:creationId xmlns:a16="http://schemas.microsoft.com/office/drawing/2014/main" id="{B57DA723-723F-4C1F-AD9E-E1E10F455A27}"/>
              </a:ext>
            </a:extLst>
          </p:cNvPr>
          <p:cNvSpPr>
            <a:spLocks noGrp="1"/>
          </p:cNvSpPr>
          <p:nvPr/>
        </p:nvSpPr>
        <p:spPr>
          <a:xfrm>
            <a:off x="9658350" y="2781300"/>
            <a:ext cx="7296150" cy="1714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class Bird { }</a:t>
            </a:r>
            <a:endParaRPr lang="en-IN" sz="1875" dirty="0">
              <a:solidFill>
                <a:srgbClr val="E5E7EB"/>
              </a:solidFill>
            </a:endParaRPr>
          </a:p>
          <a:p>
            <a:pPr>
              <a:defRPr sz="1875">
                <a:solidFill>
                  <a:srgbClr val="E5E7EB"/>
                </a:solidFill>
              </a:defRPr>
            </a:pPr>
            <a:endParaRPr lang="en-IN" sz="1875" dirty="0">
              <a:solidFill>
                <a:srgbClr val="E5E7EB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public interface </a:t>
            </a:r>
            <a:r>
              <a:rPr lang="en-US" sz="2000" dirty="0" err="1">
                <a:solidFill>
                  <a:schemeClr val="bg1"/>
                </a:solidFill>
              </a:rPr>
              <a:t>IFlyingBird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   {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  void Fly();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}</a:t>
            </a:r>
            <a:endParaRPr lang="en-US" sz="2400" dirty="0">
              <a:solidFill>
                <a:schemeClr val="bg1"/>
              </a:solidFill>
            </a:endParaRPr>
          </a:p>
          <a:p>
            <a:endParaRPr sz="1875" dirty="0">
              <a:solidFill>
                <a:srgbClr val="E5E7EB"/>
              </a:solidFill>
            </a:endParaRP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class </a:t>
            </a:r>
            <a:r>
              <a:rPr sz="1875" dirty="0" err="1">
                <a:solidFill>
                  <a:srgbClr val="E5E7EB"/>
                </a:solidFill>
              </a:rPr>
              <a:t>FlyingBird</a:t>
            </a:r>
            <a:r>
              <a:rPr sz="1875" dirty="0">
                <a:solidFill>
                  <a:srgbClr val="E5E7EB"/>
                </a:solidFill>
              </a:rPr>
              <a:t> : Bird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    public void Fly() { }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 dirty="0">
                <a:solidFill>
                  <a:srgbClr val="E5E7EB"/>
                </a:solidFill>
              </a:rPr>
              <a:t>}</a:t>
            </a:r>
            <a:endParaRPr lang="en-IN" sz="1875" dirty="0">
              <a:solidFill>
                <a:srgbClr val="E5E7EB"/>
              </a:solidFill>
            </a:endParaRPr>
          </a:p>
          <a:p>
            <a:pPr>
              <a:defRPr sz="1875">
                <a:solidFill>
                  <a:srgbClr val="E5E7EB"/>
                </a:solidFill>
              </a:defRPr>
            </a:pPr>
            <a:endParaRPr lang="en-IN" sz="1875" dirty="0">
              <a:solidFill>
                <a:srgbClr val="E5E7EB"/>
              </a:solidFill>
            </a:endParaRPr>
          </a:p>
          <a:p>
            <a:pPr>
              <a:defRPr sz="1875">
                <a:solidFill>
                  <a:srgbClr val="E5E7EB"/>
                </a:solidFill>
              </a:defRPr>
            </a:pPr>
            <a:endParaRPr lang="en-IN" sz="1875" dirty="0">
              <a:solidFill>
                <a:srgbClr val="E5E7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420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11A0F79F-5C81-4757-AD18-3458EA853A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0BD65D69-5A85-4BE0-9CF5-CE1B31A40F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2878D8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493DC9C9-E23F-431D-9559-6A2B52BFC3EF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ISP: Interface Segregation Principle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D4FFE2D1-C8CB-4291-9BEC-7BA1BC900B72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2878D8"/>
          </a:solidFill>
          <a:ln w="0">
            <a:solidFill>
              <a:srgbClr val="2878D8"/>
            </a:solidFill>
            <a:prstDash val="solid"/>
          </a:ln>
        </p:spPr>
      </p:sp>
      <p:sp>
        <p:nvSpPr>
          <p:cNvPr id="5" name="isp-meaning">
            <a:extLst>
              <a:ext uri="{FF2B5EF4-FFF2-40B4-BE49-F238E27FC236}">
                <a16:creationId xmlns:a16="http://schemas.microsoft.com/office/drawing/2014/main" id="{3A082B25-AFC5-447D-B0C9-2B294B3B7FC4}"/>
              </a:ext>
            </a:extLst>
          </p:cNvPr>
          <p:cNvSpPr>
            <a:spLocks noGrp="1"/>
          </p:cNvSpPr>
          <p:nvPr/>
        </p:nvSpPr>
        <p:spPr>
          <a:xfrm>
            <a:off x="1047750" y="2114550"/>
            <a:ext cx="161925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>
                <a:solidFill>
                  <a:srgbClr val="102033"/>
                </a:solidFill>
              </a:defRPr>
            </a:pPr>
            <a:r>
              <a:rPr lang="en-IN" sz="3450" dirty="0">
                <a:solidFill>
                  <a:srgbClr val="102033"/>
                </a:solidFill>
              </a:rPr>
              <a:t>“</a:t>
            </a:r>
            <a:r>
              <a:rPr sz="3450" dirty="0">
                <a:solidFill>
                  <a:srgbClr val="102033"/>
                </a:solidFill>
              </a:rPr>
              <a:t>Don’t force classes to implement unused methods</a:t>
            </a:r>
            <a:r>
              <a:rPr lang="en-IN" sz="3450" dirty="0">
                <a:solidFill>
                  <a:srgbClr val="102033"/>
                </a:solidFill>
              </a:rPr>
              <a:t>"</a:t>
            </a:r>
            <a:endParaRPr sz="3450" dirty="0">
              <a:solidFill>
                <a:srgbClr val="102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36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D75D9482-13E6-4AF6-A4F9-6561543823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DFA4F6D1-07F2-4768-8A19-A1CC667EED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2878D8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C63A29C4-21C8-472A-B2D2-804D580F1C61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ISP: Simple Meaning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B5D8E1C1-255E-4C5D-B0E2-1C2DFA475BBF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2878D8"/>
          </a:solidFill>
          <a:ln w="0">
            <a:solidFill>
              <a:srgbClr val="2878D8"/>
            </a:solidFill>
            <a:prstDash val="solid"/>
          </a:ln>
        </p:spPr>
      </p:sp>
      <p:sp>
        <p:nvSpPr>
          <p:cNvPr id="5" name="isp-simple-bullets-dot-1">
            <a:extLst>
              <a:ext uri="{FF2B5EF4-FFF2-40B4-BE49-F238E27FC236}">
                <a16:creationId xmlns:a16="http://schemas.microsoft.com/office/drawing/2014/main" id="{38EC8688-4CDD-41F4-B866-3EB57863AA60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6" name="isp-simple-bullets-text-1">
            <a:extLst>
              <a:ext uri="{FF2B5EF4-FFF2-40B4-BE49-F238E27FC236}">
                <a16:creationId xmlns:a16="http://schemas.microsoft.com/office/drawing/2014/main" id="{25ABDD46-2CEE-40FF-8194-A38808D9254B}"/>
              </a:ext>
            </a:extLst>
          </p:cNvPr>
          <p:cNvSpPr>
            <a:spLocks noGrp="1"/>
          </p:cNvSpPr>
          <p:nvPr/>
        </p:nvSpPr>
        <p:spPr>
          <a:xfrm>
            <a:off x="1333500" y="21145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Don’t force classes to implement things they don’t need</a:t>
            </a:r>
          </a:p>
        </p:txBody>
      </p:sp>
      <p:sp>
        <p:nvSpPr>
          <p:cNvPr id="7" name="isp-simple-bullets-dot-2">
            <a:extLst>
              <a:ext uri="{FF2B5EF4-FFF2-40B4-BE49-F238E27FC236}">
                <a16:creationId xmlns:a16="http://schemas.microsoft.com/office/drawing/2014/main" id="{C000DB7A-08D2-4F10-A6F5-6AA2F55E1FEA}"/>
              </a:ext>
            </a:extLst>
          </p:cNvPr>
          <p:cNvSpPr>
            <a:spLocks noGrp="1"/>
          </p:cNvSpPr>
          <p:nvPr/>
        </p:nvSpPr>
        <p:spPr>
          <a:xfrm>
            <a:off x="1047750" y="2914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8" name="isp-simple-bullets-text-2">
            <a:extLst>
              <a:ext uri="{FF2B5EF4-FFF2-40B4-BE49-F238E27FC236}">
                <a16:creationId xmlns:a16="http://schemas.microsoft.com/office/drawing/2014/main" id="{05908130-826A-4C0D-B95B-59A900E1041D}"/>
              </a:ext>
            </a:extLst>
          </p:cNvPr>
          <p:cNvSpPr>
            <a:spLocks noGrp="1"/>
          </p:cNvSpPr>
          <p:nvPr/>
        </p:nvSpPr>
        <p:spPr>
          <a:xfrm>
            <a:off x="1333500" y="27622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Split big interfaces into small ones</a:t>
            </a:r>
          </a:p>
        </p:txBody>
      </p:sp>
    </p:spTree>
    <p:extLst>
      <p:ext uri="{BB962C8B-B14F-4D97-AF65-F5344CB8AC3E}">
        <p14:creationId xmlns:p14="http://schemas.microsoft.com/office/powerpoint/2010/main" val="2099912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40E3F79C-5B7C-4E1D-8DCA-154651A54C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C8CEAD18-A545-4437-855A-FDEFB12B9F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2878D8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3EE93170-8885-4067-BE7C-9D702637B05F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ISP: Real-Life Example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D025B143-ECC5-41FC-B987-FAA12F2B0101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2878D8"/>
          </a:solidFill>
          <a:ln w="0">
            <a:solidFill>
              <a:srgbClr val="2878D8"/>
            </a:solidFill>
            <a:prstDash val="solid"/>
          </a:ln>
        </p:spPr>
      </p:sp>
      <p:sp>
        <p:nvSpPr>
          <p:cNvPr id="5" name="isp-example-bullets-dot-1">
            <a:extLst>
              <a:ext uri="{FF2B5EF4-FFF2-40B4-BE49-F238E27FC236}">
                <a16:creationId xmlns:a16="http://schemas.microsoft.com/office/drawing/2014/main" id="{88BF15BE-D322-48C8-A810-C7E447300B5D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6" name="isp-example-bullets-text-1">
            <a:extLst>
              <a:ext uri="{FF2B5EF4-FFF2-40B4-BE49-F238E27FC236}">
                <a16:creationId xmlns:a16="http://schemas.microsoft.com/office/drawing/2014/main" id="{C5EBA31B-5243-4386-BD09-1474FD200450}"/>
              </a:ext>
            </a:extLst>
          </p:cNvPr>
          <p:cNvSpPr>
            <a:spLocks noGrp="1"/>
          </p:cNvSpPr>
          <p:nvPr/>
        </p:nvSpPr>
        <p:spPr>
          <a:xfrm>
            <a:off x="1333500" y="21145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A robot worker only works, no eating</a:t>
            </a:r>
          </a:p>
        </p:txBody>
      </p:sp>
      <p:sp>
        <p:nvSpPr>
          <p:cNvPr id="7" name="isp-example-bullets-dot-2">
            <a:extLst>
              <a:ext uri="{FF2B5EF4-FFF2-40B4-BE49-F238E27FC236}">
                <a16:creationId xmlns:a16="http://schemas.microsoft.com/office/drawing/2014/main" id="{79D56539-48AC-425A-8296-A5554825D66A}"/>
              </a:ext>
            </a:extLst>
          </p:cNvPr>
          <p:cNvSpPr>
            <a:spLocks noGrp="1"/>
          </p:cNvSpPr>
          <p:nvPr/>
        </p:nvSpPr>
        <p:spPr>
          <a:xfrm>
            <a:off x="1047750" y="2914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8" name="isp-example-bullets-text-2">
            <a:extLst>
              <a:ext uri="{FF2B5EF4-FFF2-40B4-BE49-F238E27FC236}">
                <a16:creationId xmlns:a16="http://schemas.microsoft.com/office/drawing/2014/main" id="{1D0ABF36-A277-4FDF-8EED-610AA3347A10}"/>
              </a:ext>
            </a:extLst>
          </p:cNvPr>
          <p:cNvSpPr>
            <a:spLocks noGrp="1"/>
          </p:cNvSpPr>
          <p:nvPr/>
        </p:nvSpPr>
        <p:spPr>
          <a:xfrm>
            <a:off x="1333500" y="27622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A human worker works and eats</a:t>
            </a:r>
          </a:p>
        </p:txBody>
      </p:sp>
      <p:sp>
        <p:nvSpPr>
          <p:cNvPr id="9" name="isp-example-bullets-dot-3">
            <a:extLst>
              <a:ext uri="{FF2B5EF4-FFF2-40B4-BE49-F238E27FC236}">
                <a16:creationId xmlns:a16="http://schemas.microsoft.com/office/drawing/2014/main" id="{BC06ECD5-DB17-4B0B-B94A-C8A367C041B9}"/>
              </a:ext>
            </a:extLst>
          </p:cNvPr>
          <p:cNvSpPr>
            <a:spLocks noGrp="1"/>
          </p:cNvSpPr>
          <p:nvPr/>
        </p:nvSpPr>
        <p:spPr>
          <a:xfrm>
            <a:off x="1047750" y="35623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10" name="isp-example-bullets-text-3">
            <a:extLst>
              <a:ext uri="{FF2B5EF4-FFF2-40B4-BE49-F238E27FC236}">
                <a16:creationId xmlns:a16="http://schemas.microsoft.com/office/drawing/2014/main" id="{A780F0C4-FE0A-4C6D-BE21-4438385955B4}"/>
              </a:ext>
            </a:extLst>
          </p:cNvPr>
          <p:cNvSpPr>
            <a:spLocks noGrp="1"/>
          </p:cNvSpPr>
          <p:nvPr/>
        </p:nvSpPr>
        <p:spPr>
          <a:xfrm>
            <a:off x="1333500" y="34099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So don’t force robot to have Eat()</a:t>
            </a:r>
          </a:p>
        </p:txBody>
      </p:sp>
      <p:pic>
        <p:nvPicPr>
          <p:cNvPr id="12" name="Picture 11" descr="This may contain: a man sitting at a kitchen table working on his laptop">
            <a:extLst>
              <a:ext uri="{FF2B5EF4-FFF2-40B4-BE49-F238E27FC236}">
                <a16:creationId xmlns:a16="http://schemas.microsoft.com/office/drawing/2014/main" id="{FBBE7638-25F3-B907-5379-E611638ED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508" y="4435426"/>
            <a:ext cx="5241208" cy="52412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50992F-FD65-9F43-0C92-E5BF72304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7830" y="4274167"/>
            <a:ext cx="4053227" cy="54024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97542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8729E5E6-C179-4A48-8D0B-2A82D96AFB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444A3417-F3FB-4126-BD29-75C67FA55D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2878D8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19CB46B-C7BC-416A-86C0-636A8116535C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ISP: Code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918BF9CB-CBBA-491F-91C3-4E90185C22FA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2878D8"/>
          </a:solidFill>
          <a:ln w="0">
            <a:solidFill>
              <a:srgbClr val="2878D8"/>
            </a:solidFill>
            <a:prstDash val="solid"/>
          </a:ln>
        </p:spPr>
      </p:sp>
      <p:sp>
        <p:nvSpPr>
          <p:cNvPr id="5" name="isp-bad-label">
            <a:extLst>
              <a:ext uri="{FF2B5EF4-FFF2-40B4-BE49-F238E27FC236}">
                <a16:creationId xmlns:a16="http://schemas.microsoft.com/office/drawing/2014/main" id="{5547CE93-A50C-40AF-A0DD-6CE5C6D2374C}"/>
              </a:ext>
            </a:extLst>
          </p:cNvPr>
          <p:cNvSpPr>
            <a:spLocks noGrp="1"/>
          </p:cNvSpPr>
          <p:nvPr/>
        </p:nvSpPr>
        <p:spPr>
          <a:xfrm>
            <a:off x="1047750" y="2114550"/>
            <a:ext cx="7867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E84A5F"/>
                </a:solidFill>
              </a:defRPr>
            </a:pPr>
            <a:r>
              <a:rPr sz="1950" b="1">
                <a:solidFill>
                  <a:srgbClr val="E84A5F"/>
                </a:solidFill>
              </a:rPr>
              <a:t>Bad</a:t>
            </a:r>
          </a:p>
        </p:txBody>
      </p:sp>
      <p:sp>
        <p:nvSpPr>
          <p:cNvPr id="6" name="isp-bad-panel">
            <a:extLst>
              <a:ext uri="{FF2B5EF4-FFF2-40B4-BE49-F238E27FC236}">
                <a16:creationId xmlns:a16="http://schemas.microsoft.com/office/drawing/2014/main" id="{E17E56EB-0289-4D69-BB6A-2132745E35F9}"/>
              </a:ext>
            </a:extLst>
          </p:cNvPr>
          <p:cNvSpPr>
            <a:spLocks noGrp="1"/>
          </p:cNvSpPr>
          <p:nvPr/>
        </p:nvSpPr>
        <p:spPr>
          <a:xfrm>
            <a:off x="1047750" y="2535555"/>
            <a:ext cx="7867650" cy="5334000"/>
          </a:xfrm>
          <a:prstGeom prst="roundRect">
            <a:avLst>
              <a:gd name="adj" fmla="val 2857"/>
            </a:avLst>
          </a:prstGeom>
          <a:solidFill>
            <a:srgbClr val="111827"/>
          </a:solidFill>
        </p:spPr>
      </p:sp>
      <p:sp>
        <p:nvSpPr>
          <p:cNvPr id="7" name="isp-bad-code">
            <a:extLst>
              <a:ext uri="{FF2B5EF4-FFF2-40B4-BE49-F238E27FC236}">
                <a16:creationId xmlns:a16="http://schemas.microsoft.com/office/drawing/2014/main" id="{CD9F2E40-3038-48A1-BE93-1F46BDBD85A2}"/>
              </a:ext>
            </a:extLst>
          </p:cNvPr>
          <p:cNvSpPr>
            <a:spLocks noGrp="1"/>
          </p:cNvSpPr>
          <p:nvPr/>
        </p:nvSpPr>
        <p:spPr>
          <a:xfrm>
            <a:off x="1333500" y="2781300"/>
            <a:ext cx="729615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interface IWorker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void Work();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void Eat();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}</a:t>
            </a:r>
          </a:p>
        </p:txBody>
      </p:sp>
      <p:sp>
        <p:nvSpPr>
          <p:cNvPr id="8" name="isp-good-label">
            <a:extLst>
              <a:ext uri="{FF2B5EF4-FFF2-40B4-BE49-F238E27FC236}">
                <a16:creationId xmlns:a16="http://schemas.microsoft.com/office/drawing/2014/main" id="{7A9FB993-26B5-4F88-AD09-E1601B88359C}"/>
              </a:ext>
            </a:extLst>
          </p:cNvPr>
          <p:cNvSpPr>
            <a:spLocks noGrp="1"/>
          </p:cNvSpPr>
          <p:nvPr/>
        </p:nvSpPr>
        <p:spPr>
          <a:xfrm>
            <a:off x="9372600" y="2114550"/>
            <a:ext cx="7867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AA876"/>
                </a:solidFill>
              </a:defRPr>
            </a:pPr>
            <a:r>
              <a:rPr sz="1950" b="1">
                <a:solidFill>
                  <a:srgbClr val="2AA876"/>
                </a:solidFill>
              </a:rPr>
              <a:t>Good</a:t>
            </a:r>
          </a:p>
        </p:txBody>
      </p:sp>
      <p:sp>
        <p:nvSpPr>
          <p:cNvPr id="9" name="isp-good-panel">
            <a:extLst>
              <a:ext uri="{FF2B5EF4-FFF2-40B4-BE49-F238E27FC236}">
                <a16:creationId xmlns:a16="http://schemas.microsoft.com/office/drawing/2014/main" id="{6065F4FD-882B-4E2C-A8A8-9A8894D65F98}"/>
              </a:ext>
            </a:extLst>
          </p:cNvPr>
          <p:cNvSpPr>
            <a:spLocks noGrp="1"/>
          </p:cNvSpPr>
          <p:nvPr/>
        </p:nvSpPr>
        <p:spPr>
          <a:xfrm>
            <a:off x="9372600" y="2535555"/>
            <a:ext cx="7867650" cy="5334000"/>
          </a:xfrm>
          <a:prstGeom prst="roundRect">
            <a:avLst>
              <a:gd name="adj" fmla="val 2857"/>
            </a:avLst>
          </a:prstGeom>
          <a:solidFill>
            <a:srgbClr val="111827"/>
          </a:solidFill>
        </p:spPr>
      </p:sp>
      <p:sp>
        <p:nvSpPr>
          <p:cNvPr id="10" name="isp-good-code">
            <a:extLst>
              <a:ext uri="{FF2B5EF4-FFF2-40B4-BE49-F238E27FC236}">
                <a16:creationId xmlns:a16="http://schemas.microsoft.com/office/drawing/2014/main" id="{A31EE6E3-915C-4E6E-AE45-271878E084A4}"/>
              </a:ext>
            </a:extLst>
          </p:cNvPr>
          <p:cNvSpPr>
            <a:spLocks noGrp="1"/>
          </p:cNvSpPr>
          <p:nvPr/>
        </p:nvSpPr>
        <p:spPr>
          <a:xfrm>
            <a:off x="9658350" y="2781300"/>
            <a:ext cx="7296150" cy="2571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interface IWork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void Work();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}</a:t>
            </a:r>
          </a:p>
          <a:p>
            <a:endParaRPr sz="1875">
              <a:solidFill>
                <a:srgbClr val="E5E7EB"/>
              </a:solidFill>
            </a:endParaRP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interface IEat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void Eat();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7334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85E4AF17-F84F-43F3-951A-DFF44EB6F2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r>
              <a:rPr lang="en-IN" dirty="0"/>
              <a:t>s</a:t>
            </a:r>
          </a:p>
        </p:txBody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55DDA262-3077-4DFD-B434-C98C809B32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8157D9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48524185-CF95-4973-BE97-C60A3A9DD12F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DIP: Dependency Inversion Principle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E69BEBF8-6ADD-4BA8-B846-CA04B034DECA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8157D9"/>
          </a:solidFill>
          <a:ln w="0">
            <a:solidFill>
              <a:srgbClr val="8157D9"/>
            </a:solidFill>
            <a:prstDash val="solid"/>
          </a:ln>
        </p:spPr>
      </p:sp>
      <p:sp>
        <p:nvSpPr>
          <p:cNvPr id="5" name="dip-meaning">
            <a:extLst>
              <a:ext uri="{FF2B5EF4-FFF2-40B4-BE49-F238E27FC236}">
                <a16:creationId xmlns:a16="http://schemas.microsoft.com/office/drawing/2014/main" id="{D537C90F-1448-482E-ABBA-277FE6530E97}"/>
              </a:ext>
            </a:extLst>
          </p:cNvPr>
          <p:cNvSpPr>
            <a:spLocks noGrp="1"/>
          </p:cNvSpPr>
          <p:nvPr/>
        </p:nvSpPr>
        <p:spPr>
          <a:xfrm>
            <a:off x="1047750" y="2114550"/>
            <a:ext cx="161925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>
                <a:solidFill>
                  <a:srgbClr val="102033"/>
                </a:solidFill>
              </a:defRPr>
            </a:pPr>
            <a:r>
              <a:rPr lang="en-IN" sz="3450" dirty="0">
                <a:solidFill>
                  <a:srgbClr val="102033"/>
                </a:solidFill>
              </a:rPr>
              <a:t>“</a:t>
            </a:r>
            <a:r>
              <a:rPr sz="3450" dirty="0">
                <a:solidFill>
                  <a:srgbClr val="102033"/>
                </a:solidFill>
              </a:rPr>
              <a:t>Depend on abstractions, not concrete classes</a:t>
            </a:r>
            <a:r>
              <a:rPr lang="en-IN" sz="3450" dirty="0">
                <a:solidFill>
                  <a:srgbClr val="102033"/>
                </a:solidFill>
              </a:rPr>
              <a:t>"</a:t>
            </a:r>
            <a:endParaRPr sz="3450" dirty="0">
              <a:solidFill>
                <a:srgbClr val="102033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Light Gray Sphere">
                <a:extLst>
                  <a:ext uri="{FF2B5EF4-FFF2-40B4-BE49-F238E27FC236}">
                    <a16:creationId xmlns:a16="http://schemas.microsoft.com/office/drawing/2014/main" id="{3A48D56A-EA01-6FC0-1E14-9F9209FF102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19933251"/>
                  </p:ext>
                </p:extLst>
              </p:nvPr>
            </p:nvGraphicFramePr>
            <p:xfrm>
              <a:off x="7623670" y="6941557"/>
              <a:ext cx="2464227" cy="2807128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464227" cy="2807128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41507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Light Gray Sphere">
                <a:extLst>
                  <a:ext uri="{FF2B5EF4-FFF2-40B4-BE49-F238E27FC236}">
                    <a16:creationId xmlns:a16="http://schemas.microsoft.com/office/drawing/2014/main" id="{3A48D56A-EA01-6FC0-1E14-9F9209FF102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23670" y="6941557"/>
                <a:ext cx="2464227" cy="28071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3D Model 9" descr="Sphere">
                <a:extLst>
                  <a:ext uri="{FF2B5EF4-FFF2-40B4-BE49-F238E27FC236}">
                    <a16:creationId xmlns:a16="http://schemas.microsoft.com/office/drawing/2014/main" id="{AD29D286-CEBF-3435-A846-298611B061E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173882157"/>
                  </p:ext>
                </p:extLst>
              </p:nvPr>
            </p:nvGraphicFramePr>
            <p:xfrm>
              <a:off x="1340857" y="3850549"/>
              <a:ext cx="2464227" cy="2585901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2464227" cy="2585901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41507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3D Model 9" descr="Sphere">
                <a:extLst>
                  <a:ext uri="{FF2B5EF4-FFF2-40B4-BE49-F238E27FC236}">
                    <a16:creationId xmlns:a16="http://schemas.microsoft.com/office/drawing/2014/main" id="{AD29D286-CEBF-3435-A846-298611B061E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40857" y="3850549"/>
                <a:ext cx="2464227" cy="25859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Red Sphere">
                <a:extLst>
                  <a:ext uri="{FF2B5EF4-FFF2-40B4-BE49-F238E27FC236}">
                    <a16:creationId xmlns:a16="http://schemas.microsoft.com/office/drawing/2014/main" id="{33B47051-01D8-A69F-D7C9-B44E5B1EE78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53866697"/>
                  </p:ext>
                </p:extLst>
              </p:nvPr>
            </p:nvGraphicFramePr>
            <p:xfrm>
              <a:off x="14181792" y="3850548"/>
              <a:ext cx="2464227" cy="2585901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2464227" cy="2585901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441507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Red Sphere">
                <a:extLst>
                  <a:ext uri="{FF2B5EF4-FFF2-40B4-BE49-F238E27FC236}">
                    <a16:creationId xmlns:a16="http://schemas.microsoft.com/office/drawing/2014/main" id="{33B47051-01D8-A69F-D7C9-B44E5B1EE78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181792" y="3850548"/>
                <a:ext cx="2464227" cy="2585901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48D458C-BC89-1B94-644B-EF1062D9D0EF}"/>
              </a:ext>
            </a:extLst>
          </p:cNvPr>
          <p:cNvSpPr txBox="1"/>
          <p:nvPr/>
        </p:nvSpPr>
        <p:spPr>
          <a:xfrm>
            <a:off x="2070033" y="4350313"/>
            <a:ext cx="10063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>
                <a:solidFill>
                  <a:srgbClr val="FFFF00"/>
                </a:solidFill>
              </a:rPr>
              <a:t>High</a:t>
            </a:r>
          </a:p>
          <a:p>
            <a:r>
              <a:rPr lang="en-IN" sz="3000" b="1" dirty="0">
                <a:solidFill>
                  <a:srgbClr val="FFFF00"/>
                </a:solidFill>
              </a:rPr>
              <a:t>Level</a:t>
            </a:r>
          </a:p>
          <a:p>
            <a:r>
              <a:rPr lang="en-IN" sz="3000" b="1" dirty="0">
                <a:solidFill>
                  <a:srgbClr val="FFFF00"/>
                </a:solidFill>
              </a:rPr>
              <a:t>Code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33D503-A5A6-E96B-BD2D-5365938ADFF6}"/>
              </a:ext>
            </a:extLst>
          </p:cNvPr>
          <p:cNvSpPr txBox="1"/>
          <p:nvPr/>
        </p:nvSpPr>
        <p:spPr>
          <a:xfrm>
            <a:off x="14919212" y="4379804"/>
            <a:ext cx="10063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/>
              <a:t>Low</a:t>
            </a:r>
          </a:p>
          <a:p>
            <a:r>
              <a:rPr lang="en-IN" sz="3000" b="1" dirty="0"/>
              <a:t>Level</a:t>
            </a:r>
          </a:p>
          <a:p>
            <a:r>
              <a:rPr lang="en-IN" sz="3000" b="1" dirty="0"/>
              <a:t>Code</a:t>
            </a:r>
          </a:p>
        </p:txBody>
      </p:sp>
      <p:pic>
        <p:nvPicPr>
          <p:cNvPr id="18" name="Graphic 17" descr="Line arrow: Straight with solid fill">
            <a:extLst>
              <a:ext uri="{FF2B5EF4-FFF2-40B4-BE49-F238E27FC236}">
                <a16:creationId xmlns:a16="http://schemas.microsoft.com/office/drawing/2014/main" id="{A7BD366B-A9A3-961B-BDF5-5EFE66FA52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6948313" y="4331547"/>
            <a:ext cx="4065945" cy="1619892"/>
          </a:xfrm>
          <a:prstGeom prst="rect">
            <a:avLst/>
          </a:prstGeom>
        </p:spPr>
      </p:pic>
      <p:pic>
        <p:nvPicPr>
          <p:cNvPr id="19" name="Graphic 18" descr="Line arrow: Straight with solid fill">
            <a:extLst>
              <a:ext uri="{FF2B5EF4-FFF2-40B4-BE49-F238E27FC236}">
                <a16:creationId xmlns:a16="http://schemas.microsoft.com/office/drawing/2014/main" id="{5280A851-8C76-AAA4-63F8-574A9DE86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977238" flipH="1">
            <a:off x="3718876" y="6015841"/>
            <a:ext cx="3264291" cy="1917773"/>
          </a:xfrm>
          <a:prstGeom prst="rect">
            <a:avLst/>
          </a:prstGeom>
        </p:spPr>
      </p:pic>
      <p:pic>
        <p:nvPicPr>
          <p:cNvPr id="20" name="Graphic 19" descr="Line arrow: Straight with solid fill">
            <a:extLst>
              <a:ext uri="{FF2B5EF4-FFF2-40B4-BE49-F238E27FC236}">
                <a16:creationId xmlns:a16="http://schemas.microsoft.com/office/drawing/2014/main" id="{4FD6DB7B-2BC4-0776-E48B-708D0130C4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8789834" flipH="1">
            <a:off x="10537549" y="6020758"/>
            <a:ext cx="3264291" cy="191777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7941A79-9B60-C5AD-7078-E9063BDD3D22}"/>
              </a:ext>
            </a:extLst>
          </p:cNvPr>
          <p:cNvSpPr txBox="1"/>
          <p:nvPr/>
        </p:nvSpPr>
        <p:spPr>
          <a:xfrm>
            <a:off x="7844901" y="8145557"/>
            <a:ext cx="202311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Abstraction</a:t>
            </a:r>
          </a:p>
        </p:txBody>
      </p:sp>
      <p:pic>
        <p:nvPicPr>
          <p:cNvPr id="24" name="Graphic 23" descr="Checkmark with solid fill">
            <a:extLst>
              <a:ext uri="{FF2B5EF4-FFF2-40B4-BE49-F238E27FC236}">
                <a16:creationId xmlns:a16="http://schemas.microsoft.com/office/drawing/2014/main" id="{7CBD3C59-E7AC-ACB6-647E-3D8657411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88544" y="7237769"/>
            <a:ext cx="914400" cy="914400"/>
          </a:xfrm>
          <a:prstGeom prst="rect">
            <a:avLst/>
          </a:prstGeom>
        </p:spPr>
      </p:pic>
      <p:pic>
        <p:nvPicPr>
          <p:cNvPr id="26" name="Graphic 25" descr="Close with solid fill">
            <a:extLst>
              <a:ext uri="{FF2B5EF4-FFF2-40B4-BE49-F238E27FC236}">
                <a16:creationId xmlns:a16="http://schemas.microsoft.com/office/drawing/2014/main" id="{CD4F4B7A-7941-0A00-DBA8-B598C58EE5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09095" y="3980894"/>
            <a:ext cx="914400" cy="914400"/>
          </a:xfrm>
          <a:prstGeom prst="rect">
            <a:avLst/>
          </a:prstGeom>
        </p:spPr>
      </p:pic>
      <p:pic>
        <p:nvPicPr>
          <p:cNvPr id="27" name="Graphic 26" descr="Checkmark with solid fill">
            <a:extLst>
              <a:ext uri="{FF2B5EF4-FFF2-40B4-BE49-F238E27FC236}">
                <a16:creationId xmlns:a16="http://schemas.microsoft.com/office/drawing/2014/main" id="{72E7823F-8BC1-E9D8-565A-8F8B0528D6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23060" y="719844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893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2B0BCA14-58F0-44F8-84BD-3DC2518B60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34678991-6D8D-4D82-9469-C23B68A483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8157D9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E19707DC-5298-48F5-A106-68E9500CF8C1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DIP: Simple Meaning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11769035-D3E7-4120-B4F2-A6180E782EFE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8157D9"/>
          </a:solidFill>
          <a:ln w="0">
            <a:solidFill>
              <a:srgbClr val="8157D9"/>
            </a:solidFill>
            <a:prstDash val="solid"/>
          </a:ln>
        </p:spPr>
      </p:sp>
      <p:sp>
        <p:nvSpPr>
          <p:cNvPr id="5" name="dip-simple-bullets-dot-1">
            <a:extLst>
              <a:ext uri="{FF2B5EF4-FFF2-40B4-BE49-F238E27FC236}">
                <a16:creationId xmlns:a16="http://schemas.microsoft.com/office/drawing/2014/main" id="{70C3C115-9C76-4CB6-95CA-EC63465C2983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6" name="dip-simple-bullets-text-1">
            <a:extLst>
              <a:ext uri="{FF2B5EF4-FFF2-40B4-BE49-F238E27FC236}">
                <a16:creationId xmlns:a16="http://schemas.microsoft.com/office/drawing/2014/main" id="{D7889539-7CDD-43E2-A0EC-FF1503AFC5A6}"/>
              </a:ext>
            </a:extLst>
          </p:cNvPr>
          <p:cNvSpPr>
            <a:spLocks noGrp="1"/>
          </p:cNvSpPr>
          <p:nvPr/>
        </p:nvSpPr>
        <p:spPr>
          <a:xfrm>
            <a:off x="1333500" y="21145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Depend on abstraction (interface), not actual class</a:t>
            </a:r>
          </a:p>
        </p:txBody>
      </p:sp>
      <p:sp>
        <p:nvSpPr>
          <p:cNvPr id="7" name="dip-simple-bullets-dot-2">
            <a:extLst>
              <a:ext uri="{FF2B5EF4-FFF2-40B4-BE49-F238E27FC236}">
                <a16:creationId xmlns:a16="http://schemas.microsoft.com/office/drawing/2014/main" id="{4824D868-8276-45BF-B03F-4679AE6006EF}"/>
              </a:ext>
            </a:extLst>
          </p:cNvPr>
          <p:cNvSpPr>
            <a:spLocks noGrp="1"/>
          </p:cNvSpPr>
          <p:nvPr/>
        </p:nvSpPr>
        <p:spPr>
          <a:xfrm>
            <a:off x="1047750" y="2914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8" name="dip-simple-bullets-text-2">
            <a:extLst>
              <a:ext uri="{FF2B5EF4-FFF2-40B4-BE49-F238E27FC236}">
                <a16:creationId xmlns:a16="http://schemas.microsoft.com/office/drawing/2014/main" id="{03589F35-F322-4EBD-8EAB-97F4466D09F7}"/>
              </a:ext>
            </a:extLst>
          </p:cNvPr>
          <p:cNvSpPr>
            <a:spLocks noGrp="1"/>
          </p:cNvSpPr>
          <p:nvPr/>
        </p:nvSpPr>
        <p:spPr>
          <a:xfrm>
            <a:off x="1333500" y="27622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Makes system flexible and replaceable</a:t>
            </a:r>
          </a:p>
        </p:txBody>
      </p:sp>
    </p:spTree>
    <p:extLst>
      <p:ext uri="{BB962C8B-B14F-4D97-AF65-F5344CB8AC3E}">
        <p14:creationId xmlns:p14="http://schemas.microsoft.com/office/powerpoint/2010/main" val="1249985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56F3939C-40F7-4B11-AEFC-E041F689F0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32C2F88C-2D68-46C1-ABE6-23FAD4AE82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8157D9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B68DBF0D-2077-47BE-805F-2DF389C9D955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DIP: Real-Life Example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6030E4A7-0779-4DFF-BCEB-F4870C01A713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8157D9"/>
          </a:solidFill>
          <a:ln w="0">
            <a:solidFill>
              <a:srgbClr val="8157D9"/>
            </a:solidFill>
            <a:prstDash val="solid"/>
          </a:ln>
        </p:spPr>
      </p:sp>
      <p:sp>
        <p:nvSpPr>
          <p:cNvPr id="5" name="dip-example-bullets-dot-1">
            <a:extLst>
              <a:ext uri="{FF2B5EF4-FFF2-40B4-BE49-F238E27FC236}">
                <a16:creationId xmlns:a16="http://schemas.microsoft.com/office/drawing/2014/main" id="{F02D8437-E750-4700-A65B-17BA065C0CF4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6" name="dip-example-bullets-text-1">
            <a:extLst>
              <a:ext uri="{FF2B5EF4-FFF2-40B4-BE49-F238E27FC236}">
                <a16:creationId xmlns:a16="http://schemas.microsoft.com/office/drawing/2014/main" id="{8DE8BF89-73C3-46DC-8BC5-377C5D695146}"/>
              </a:ext>
            </a:extLst>
          </p:cNvPr>
          <p:cNvSpPr>
            <a:spLocks noGrp="1"/>
          </p:cNvSpPr>
          <p:nvPr/>
        </p:nvSpPr>
        <p:spPr>
          <a:xfrm>
            <a:off x="1333500" y="21145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You plug devices into a socket (interface)</a:t>
            </a:r>
          </a:p>
        </p:txBody>
      </p:sp>
      <p:sp>
        <p:nvSpPr>
          <p:cNvPr id="7" name="dip-example-bullets-dot-2">
            <a:extLst>
              <a:ext uri="{FF2B5EF4-FFF2-40B4-BE49-F238E27FC236}">
                <a16:creationId xmlns:a16="http://schemas.microsoft.com/office/drawing/2014/main" id="{D8330422-5A6C-4F51-81C3-BE8EE428539E}"/>
              </a:ext>
            </a:extLst>
          </p:cNvPr>
          <p:cNvSpPr>
            <a:spLocks noGrp="1"/>
          </p:cNvSpPr>
          <p:nvPr/>
        </p:nvSpPr>
        <p:spPr>
          <a:xfrm>
            <a:off x="1047750" y="2914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8" name="dip-example-bullets-text-2">
            <a:extLst>
              <a:ext uri="{FF2B5EF4-FFF2-40B4-BE49-F238E27FC236}">
                <a16:creationId xmlns:a16="http://schemas.microsoft.com/office/drawing/2014/main" id="{BC9AFE7B-B37A-4B6C-B1B8-349D9126A32F}"/>
              </a:ext>
            </a:extLst>
          </p:cNvPr>
          <p:cNvSpPr>
            <a:spLocks noGrp="1"/>
          </p:cNvSpPr>
          <p:nvPr/>
        </p:nvSpPr>
        <p:spPr>
          <a:xfrm>
            <a:off x="1333500" y="27622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You don’t care if it’s charger, TV, or laptop</a:t>
            </a:r>
          </a:p>
        </p:txBody>
      </p:sp>
      <p:sp>
        <p:nvSpPr>
          <p:cNvPr id="9" name="dip-example-bullets-dot-3">
            <a:extLst>
              <a:ext uri="{FF2B5EF4-FFF2-40B4-BE49-F238E27FC236}">
                <a16:creationId xmlns:a16="http://schemas.microsoft.com/office/drawing/2014/main" id="{95FC3C93-F9B6-47BF-BA4F-DDC51C0E6C56}"/>
              </a:ext>
            </a:extLst>
          </p:cNvPr>
          <p:cNvSpPr>
            <a:spLocks noGrp="1"/>
          </p:cNvSpPr>
          <p:nvPr/>
        </p:nvSpPr>
        <p:spPr>
          <a:xfrm>
            <a:off x="1047750" y="35623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10" name="dip-example-bullets-text-3">
            <a:extLst>
              <a:ext uri="{FF2B5EF4-FFF2-40B4-BE49-F238E27FC236}">
                <a16:creationId xmlns:a16="http://schemas.microsoft.com/office/drawing/2014/main" id="{49A20B2B-D32D-4D30-9AF2-16132806D499}"/>
              </a:ext>
            </a:extLst>
          </p:cNvPr>
          <p:cNvSpPr>
            <a:spLocks noGrp="1"/>
          </p:cNvSpPr>
          <p:nvPr/>
        </p:nvSpPr>
        <p:spPr>
          <a:xfrm>
            <a:off x="1333500" y="34099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Socket stays same -&gt; devices can change</a:t>
            </a:r>
          </a:p>
        </p:txBody>
      </p:sp>
      <p:pic>
        <p:nvPicPr>
          <p:cNvPr id="12" name="Picture 11" descr="This may contain: an electrical outlet with three plugs connected to it">
            <a:extLst>
              <a:ext uri="{FF2B5EF4-FFF2-40B4-BE49-F238E27FC236}">
                <a16:creationId xmlns:a16="http://schemas.microsoft.com/office/drawing/2014/main" id="{64FE529F-D933-B642-476C-4AF0973FB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682" y="4452359"/>
            <a:ext cx="3679984" cy="52113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74077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06C82FB3-B51E-4F3B-B66D-C9A743A9E4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CBB7A700-600D-4110-BA22-787BE3A035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8157D9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454C754A-7836-439B-90E6-73500D5CF7C6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DIP: Code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E4E70AE4-9DB1-4CB1-88DA-656EF7AF86E7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8157D9"/>
          </a:solidFill>
          <a:ln w="0">
            <a:solidFill>
              <a:srgbClr val="8157D9"/>
            </a:solidFill>
            <a:prstDash val="solid"/>
          </a:ln>
        </p:spPr>
      </p:sp>
      <p:sp>
        <p:nvSpPr>
          <p:cNvPr id="5" name="dip-bad-label">
            <a:extLst>
              <a:ext uri="{FF2B5EF4-FFF2-40B4-BE49-F238E27FC236}">
                <a16:creationId xmlns:a16="http://schemas.microsoft.com/office/drawing/2014/main" id="{59F3D041-8F57-4893-86E1-0D5CA47CD501}"/>
              </a:ext>
            </a:extLst>
          </p:cNvPr>
          <p:cNvSpPr>
            <a:spLocks noGrp="1"/>
          </p:cNvSpPr>
          <p:nvPr/>
        </p:nvSpPr>
        <p:spPr>
          <a:xfrm>
            <a:off x="1047750" y="2114550"/>
            <a:ext cx="7867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E84A5F"/>
                </a:solidFill>
              </a:defRPr>
            </a:pPr>
            <a:r>
              <a:rPr sz="1950" b="1">
                <a:solidFill>
                  <a:srgbClr val="E84A5F"/>
                </a:solidFill>
              </a:rPr>
              <a:t>Bad</a:t>
            </a:r>
          </a:p>
        </p:txBody>
      </p:sp>
      <p:sp>
        <p:nvSpPr>
          <p:cNvPr id="6" name="dip-bad-panel">
            <a:extLst>
              <a:ext uri="{FF2B5EF4-FFF2-40B4-BE49-F238E27FC236}">
                <a16:creationId xmlns:a16="http://schemas.microsoft.com/office/drawing/2014/main" id="{7D52AAD1-CA0A-45A0-8EC0-B8C806624FD1}"/>
              </a:ext>
            </a:extLst>
          </p:cNvPr>
          <p:cNvSpPr>
            <a:spLocks noGrp="1"/>
          </p:cNvSpPr>
          <p:nvPr/>
        </p:nvSpPr>
        <p:spPr>
          <a:xfrm>
            <a:off x="1047750" y="2535555"/>
            <a:ext cx="7867650" cy="5334000"/>
          </a:xfrm>
          <a:prstGeom prst="roundRect">
            <a:avLst>
              <a:gd name="adj" fmla="val 2857"/>
            </a:avLst>
          </a:prstGeom>
          <a:solidFill>
            <a:srgbClr val="111827"/>
          </a:solidFill>
        </p:spPr>
      </p:sp>
      <p:sp>
        <p:nvSpPr>
          <p:cNvPr id="7" name="dip-bad-code">
            <a:extLst>
              <a:ext uri="{FF2B5EF4-FFF2-40B4-BE49-F238E27FC236}">
                <a16:creationId xmlns:a16="http://schemas.microsoft.com/office/drawing/2014/main" id="{F12BD8E1-2CD0-4F9E-A1C9-5D38F58A45E5}"/>
              </a:ext>
            </a:extLst>
          </p:cNvPr>
          <p:cNvSpPr>
            <a:spLocks noGrp="1"/>
          </p:cNvSpPr>
          <p:nvPr/>
        </p:nvSpPr>
        <p:spPr>
          <a:xfrm>
            <a:off x="1333500" y="2781300"/>
            <a:ext cx="7296150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class Service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private EmailSender email = new EmailSender();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}</a:t>
            </a:r>
          </a:p>
        </p:txBody>
      </p:sp>
      <p:sp>
        <p:nvSpPr>
          <p:cNvPr id="8" name="dip-good-label">
            <a:extLst>
              <a:ext uri="{FF2B5EF4-FFF2-40B4-BE49-F238E27FC236}">
                <a16:creationId xmlns:a16="http://schemas.microsoft.com/office/drawing/2014/main" id="{4B6D09F8-A920-4604-962B-401429455AAB}"/>
              </a:ext>
            </a:extLst>
          </p:cNvPr>
          <p:cNvSpPr>
            <a:spLocks noGrp="1"/>
          </p:cNvSpPr>
          <p:nvPr/>
        </p:nvSpPr>
        <p:spPr>
          <a:xfrm>
            <a:off x="9372600" y="2114550"/>
            <a:ext cx="7867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AA876"/>
                </a:solidFill>
              </a:defRPr>
            </a:pPr>
            <a:r>
              <a:rPr sz="1950" b="1">
                <a:solidFill>
                  <a:srgbClr val="2AA876"/>
                </a:solidFill>
              </a:rPr>
              <a:t>Good</a:t>
            </a:r>
          </a:p>
        </p:txBody>
      </p:sp>
      <p:sp>
        <p:nvSpPr>
          <p:cNvPr id="9" name="dip-good-panel">
            <a:extLst>
              <a:ext uri="{FF2B5EF4-FFF2-40B4-BE49-F238E27FC236}">
                <a16:creationId xmlns:a16="http://schemas.microsoft.com/office/drawing/2014/main" id="{25C75438-C324-43A3-980E-674627894763}"/>
              </a:ext>
            </a:extLst>
          </p:cNvPr>
          <p:cNvSpPr>
            <a:spLocks noGrp="1"/>
          </p:cNvSpPr>
          <p:nvPr/>
        </p:nvSpPr>
        <p:spPr>
          <a:xfrm>
            <a:off x="9372600" y="2535555"/>
            <a:ext cx="7867650" cy="5334000"/>
          </a:xfrm>
          <a:prstGeom prst="roundRect">
            <a:avLst>
              <a:gd name="adj" fmla="val 2857"/>
            </a:avLst>
          </a:prstGeom>
          <a:solidFill>
            <a:srgbClr val="111827"/>
          </a:solidFill>
        </p:spPr>
      </p:sp>
      <p:sp>
        <p:nvSpPr>
          <p:cNvPr id="10" name="dip-good-code">
            <a:extLst>
              <a:ext uri="{FF2B5EF4-FFF2-40B4-BE49-F238E27FC236}">
                <a16:creationId xmlns:a16="http://schemas.microsoft.com/office/drawing/2014/main" id="{C8A2F57A-C112-4136-8EFC-27B981CE6A02}"/>
              </a:ext>
            </a:extLst>
          </p:cNvPr>
          <p:cNvSpPr>
            <a:spLocks noGrp="1"/>
          </p:cNvSpPr>
          <p:nvPr/>
        </p:nvSpPr>
        <p:spPr>
          <a:xfrm>
            <a:off x="9658350" y="2781300"/>
            <a:ext cx="7296150" cy="2571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class Service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private IMessage message;</a:t>
            </a:r>
          </a:p>
          <a:p>
            <a:endParaRPr sz="1875">
              <a:solidFill>
                <a:srgbClr val="E5E7EB"/>
              </a:solidFill>
            </a:endParaRP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public Service(IMessage msg)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{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    message = msg;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    }</a:t>
            </a:r>
          </a:p>
          <a:p>
            <a:pPr>
              <a:defRPr sz="1875">
                <a:solidFill>
                  <a:srgbClr val="E5E7EB"/>
                </a:solidFill>
              </a:defRPr>
            </a:pPr>
            <a:r>
              <a:rPr sz="1875">
                <a:solidFill>
                  <a:srgbClr val="E5E7EB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0582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BB2DE9BC-8D1F-4DEE-8F1A-1E6D36246B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" name="accent-strip">
            <a:extLst>
              <a:ext uri="{FF2B5EF4-FFF2-40B4-BE49-F238E27FC236}">
                <a16:creationId xmlns:a16="http://schemas.microsoft.com/office/drawing/2014/main" id="{DDE188B1-01EE-4153-8D72-3EE2734942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2878D8"/>
          </a:solidFill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59587A2B-7897-49E5-B2F5-5586BD1ADBBE}"/>
              </a:ext>
            </a:extLst>
          </p:cNvPr>
          <p:cNvSpPr>
            <a:spLocks noGrp="1"/>
          </p:cNvSpPr>
          <p:nvPr/>
        </p:nvSpPr>
        <p:spPr>
          <a:xfrm>
            <a:off x="1047750" y="781050"/>
            <a:ext cx="16192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02033"/>
                </a:solidFill>
              </a:defRPr>
            </a:pPr>
            <a:r>
              <a:rPr sz="4500" b="1">
                <a:solidFill>
                  <a:srgbClr val="102033"/>
                </a:solidFill>
              </a:rPr>
              <a:t>Summary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9C2B6342-DE3A-4D58-876E-43F4EA9ECA22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2095500" cy="66675"/>
          </a:xfrm>
          <a:prstGeom prst="rect">
            <a:avLst/>
          </a:prstGeom>
          <a:solidFill>
            <a:srgbClr val="2878D8"/>
          </a:solidFill>
          <a:ln w="0">
            <a:solidFill>
              <a:srgbClr val="2878D8"/>
            </a:solidFill>
            <a:prstDash val="solid"/>
          </a:ln>
        </p:spPr>
      </p:sp>
      <p:sp>
        <p:nvSpPr>
          <p:cNvPr id="5" name="summary-bullets-dot-1">
            <a:extLst>
              <a:ext uri="{FF2B5EF4-FFF2-40B4-BE49-F238E27FC236}">
                <a16:creationId xmlns:a16="http://schemas.microsoft.com/office/drawing/2014/main" id="{F50F7BE4-88B4-4162-8417-1B05102F9E6C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6" name="summary-bullets-text-1">
            <a:extLst>
              <a:ext uri="{FF2B5EF4-FFF2-40B4-BE49-F238E27FC236}">
                <a16:creationId xmlns:a16="http://schemas.microsoft.com/office/drawing/2014/main" id="{8339A915-4E2A-440D-B376-5D28B7347CDB}"/>
              </a:ext>
            </a:extLst>
          </p:cNvPr>
          <p:cNvSpPr>
            <a:spLocks noGrp="1"/>
          </p:cNvSpPr>
          <p:nvPr/>
        </p:nvSpPr>
        <p:spPr>
          <a:xfrm>
            <a:off x="1333500" y="21145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SRP -&gt; One job</a:t>
            </a:r>
          </a:p>
        </p:txBody>
      </p:sp>
      <p:sp>
        <p:nvSpPr>
          <p:cNvPr id="7" name="summary-bullets-dot-2">
            <a:extLst>
              <a:ext uri="{FF2B5EF4-FFF2-40B4-BE49-F238E27FC236}">
                <a16:creationId xmlns:a16="http://schemas.microsoft.com/office/drawing/2014/main" id="{D35308AB-E4C2-4D93-BC05-A972E4F20DCF}"/>
              </a:ext>
            </a:extLst>
          </p:cNvPr>
          <p:cNvSpPr>
            <a:spLocks noGrp="1"/>
          </p:cNvSpPr>
          <p:nvPr/>
        </p:nvSpPr>
        <p:spPr>
          <a:xfrm>
            <a:off x="1047750" y="2914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8" name="summary-bullets-text-2">
            <a:extLst>
              <a:ext uri="{FF2B5EF4-FFF2-40B4-BE49-F238E27FC236}">
                <a16:creationId xmlns:a16="http://schemas.microsoft.com/office/drawing/2014/main" id="{606196A8-DA70-4C75-9088-5DF3999E8715}"/>
              </a:ext>
            </a:extLst>
          </p:cNvPr>
          <p:cNvSpPr>
            <a:spLocks noGrp="1"/>
          </p:cNvSpPr>
          <p:nvPr/>
        </p:nvSpPr>
        <p:spPr>
          <a:xfrm>
            <a:off x="1333500" y="27622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OCP -&gt; Extend without modifying</a:t>
            </a:r>
          </a:p>
        </p:txBody>
      </p:sp>
      <p:sp>
        <p:nvSpPr>
          <p:cNvPr id="9" name="summary-bullets-dot-3">
            <a:extLst>
              <a:ext uri="{FF2B5EF4-FFF2-40B4-BE49-F238E27FC236}">
                <a16:creationId xmlns:a16="http://schemas.microsoft.com/office/drawing/2014/main" id="{92CF4B43-A735-46B7-AFA7-D03071C984C1}"/>
              </a:ext>
            </a:extLst>
          </p:cNvPr>
          <p:cNvSpPr>
            <a:spLocks noGrp="1"/>
          </p:cNvSpPr>
          <p:nvPr/>
        </p:nvSpPr>
        <p:spPr>
          <a:xfrm>
            <a:off x="1047750" y="35623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10" name="summary-bullets-text-3">
            <a:extLst>
              <a:ext uri="{FF2B5EF4-FFF2-40B4-BE49-F238E27FC236}">
                <a16:creationId xmlns:a16="http://schemas.microsoft.com/office/drawing/2014/main" id="{988C4043-8C65-4451-8A8B-8394CFA1A7E8}"/>
              </a:ext>
            </a:extLst>
          </p:cNvPr>
          <p:cNvSpPr>
            <a:spLocks noGrp="1"/>
          </p:cNvSpPr>
          <p:nvPr/>
        </p:nvSpPr>
        <p:spPr>
          <a:xfrm>
            <a:off x="1333500" y="340995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LSP -&gt; Replace safely</a:t>
            </a:r>
          </a:p>
        </p:txBody>
      </p:sp>
      <p:sp>
        <p:nvSpPr>
          <p:cNvPr id="11" name="summary-bullets-dot-4">
            <a:extLst>
              <a:ext uri="{FF2B5EF4-FFF2-40B4-BE49-F238E27FC236}">
                <a16:creationId xmlns:a16="http://schemas.microsoft.com/office/drawing/2014/main" id="{03A0250F-3871-463B-A48D-1819AF7F6D68}"/>
              </a:ext>
            </a:extLst>
          </p:cNvPr>
          <p:cNvSpPr>
            <a:spLocks noGrp="1"/>
          </p:cNvSpPr>
          <p:nvPr/>
        </p:nvSpPr>
        <p:spPr>
          <a:xfrm>
            <a:off x="1047750" y="4191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12" name="summary-bullets-text-4">
            <a:extLst>
              <a:ext uri="{FF2B5EF4-FFF2-40B4-BE49-F238E27FC236}">
                <a16:creationId xmlns:a16="http://schemas.microsoft.com/office/drawing/2014/main" id="{D8D0AF9E-1AD8-401B-A97D-2DD3288BDB57}"/>
              </a:ext>
            </a:extLst>
          </p:cNvPr>
          <p:cNvSpPr>
            <a:spLocks noGrp="1"/>
          </p:cNvSpPr>
          <p:nvPr/>
        </p:nvSpPr>
        <p:spPr>
          <a:xfrm>
            <a:off x="1333500" y="403860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ISP -&gt; Small interfaces</a:t>
            </a:r>
          </a:p>
        </p:txBody>
      </p:sp>
      <p:sp>
        <p:nvSpPr>
          <p:cNvPr id="13" name="summary-bullets-dot-5">
            <a:extLst>
              <a:ext uri="{FF2B5EF4-FFF2-40B4-BE49-F238E27FC236}">
                <a16:creationId xmlns:a16="http://schemas.microsoft.com/office/drawing/2014/main" id="{A62EA1C6-35D1-440C-9F17-707ED523C178}"/>
              </a:ext>
            </a:extLst>
          </p:cNvPr>
          <p:cNvSpPr>
            <a:spLocks noGrp="1"/>
          </p:cNvSpPr>
          <p:nvPr/>
        </p:nvSpPr>
        <p:spPr>
          <a:xfrm>
            <a:off x="1047750" y="4838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2033"/>
          </a:solidFill>
        </p:spPr>
      </p:sp>
      <p:sp>
        <p:nvSpPr>
          <p:cNvPr id="14" name="summary-bullets-text-5">
            <a:extLst>
              <a:ext uri="{FF2B5EF4-FFF2-40B4-BE49-F238E27FC236}">
                <a16:creationId xmlns:a16="http://schemas.microsoft.com/office/drawing/2014/main" id="{4CA45BD6-4C20-4FFC-A167-1CA0207D7045}"/>
              </a:ext>
            </a:extLst>
          </p:cNvPr>
          <p:cNvSpPr>
            <a:spLocks noGrp="1"/>
          </p:cNvSpPr>
          <p:nvPr/>
        </p:nvSpPr>
        <p:spPr>
          <a:xfrm>
            <a:off x="1333500" y="4686300"/>
            <a:ext cx="15906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>
                <a:solidFill>
                  <a:srgbClr val="102033"/>
                </a:solidFill>
              </a:defRPr>
            </a:pPr>
            <a:r>
              <a:rPr sz="2850">
                <a:solidFill>
                  <a:srgbClr val="102033"/>
                </a:solidFill>
              </a:rPr>
              <a:t>DIP -&gt; Use abstractions</a:t>
            </a:r>
          </a:p>
        </p:txBody>
      </p:sp>
    </p:spTree>
    <p:extLst>
      <p:ext uri="{BB962C8B-B14F-4D97-AF65-F5344CB8AC3E}">
        <p14:creationId xmlns:p14="http://schemas.microsoft.com/office/powerpoint/2010/main" val="1973336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668</Words>
  <Application>Microsoft Office PowerPoint</Application>
  <DocSecurity>0</DocSecurity>
  <PresentationFormat>Custom</PresentationFormat>
  <Paragraphs>183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Aniket Prasad</cp:lastModifiedBy>
  <cp:revision>16</cp:revision>
  <dcterms:created xsi:type="dcterms:W3CDTF">2026-05-01T05:20:15Z</dcterms:created>
  <dcterms:modified xsi:type="dcterms:W3CDTF">2026-05-01T18:42:23Z</dcterms:modified>
</cp:coreProperties>
</file>