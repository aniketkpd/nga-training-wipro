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58"/>
  </p:normalViewPr>
  <p:slideViewPr>
    <p:cSldViewPr snapToGrid="0">
      <p:cViewPr varScale="1">
        <p:scale>
          <a:sx n="52" d="100"/>
          <a:sy n="52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ver-bg">
            <a:extLst>
              <a:ext uri="{FF2B5EF4-FFF2-40B4-BE49-F238E27FC236}">
                <a16:creationId xmlns:a16="http://schemas.microsoft.com/office/drawing/2014/main" id="{3ABCFDB8-220B-44D4-9D4D-140652B8E2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233F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cover-band">
            <a:extLst>
              <a:ext uri="{FF2B5EF4-FFF2-40B4-BE49-F238E27FC236}">
                <a16:creationId xmlns:a16="http://schemas.microsoft.com/office/drawing/2014/main" id="{4DCBA062-AE5B-416C-AC61-44D8B4B0A0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334000" cy="10287000"/>
          </a:xfrm>
          <a:prstGeom prst="rect">
            <a:avLst/>
          </a:prstGeom>
          <a:solidFill>
            <a:srgbClr val="123A36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cover-kicker">
            <a:extLst>
              <a:ext uri="{FF2B5EF4-FFF2-40B4-BE49-F238E27FC236}">
                <a16:creationId xmlns:a16="http://schemas.microsoft.com/office/drawing/2014/main" id="{2382EE6B-3271-4C72-9F0A-F8130E481512}"/>
              </a:ext>
            </a:extLst>
          </p:cNvPr>
          <p:cNvSpPr>
            <a:spLocks noGrp="1"/>
          </p:cNvSpPr>
          <p:nvPr/>
        </p:nvSpPr>
        <p:spPr>
          <a:xfrm>
            <a:off x="876300" y="68580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C78A28"/>
                </a:solidFill>
              </a:defRPr>
            </a:pPr>
            <a:r>
              <a:rPr sz="1875" b="1">
                <a:solidFill>
                  <a:srgbClr val="C78A28"/>
                </a:solidFill>
              </a:rPr>
              <a:t>DBMS MINI PROJECT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D52D09D5-B7E6-4002-8654-2F2750B80218}"/>
              </a:ext>
            </a:extLst>
          </p:cNvPr>
          <p:cNvSpPr>
            <a:spLocks noGrp="1"/>
          </p:cNvSpPr>
          <p:nvPr/>
        </p:nvSpPr>
        <p:spPr>
          <a:xfrm>
            <a:off x="876300" y="1219200"/>
            <a:ext cx="4133850" cy="3028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600" b="1">
                <a:solidFill>
                  <a:srgbClr val="FFFFFF"/>
                </a:solidFill>
              </a:defRPr>
            </a:pPr>
            <a:r>
              <a:rPr sz="6600" b="1" dirty="0">
                <a:solidFill>
                  <a:srgbClr val="FFFFFF"/>
                </a:solidFill>
              </a:rPr>
              <a:t>Hotel</a:t>
            </a:r>
          </a:p>
          <a:p>
            <a:pPr>
              <a:defRPr sz="6600" b="1">
                <a:solidFill>
                  <a:srgbClr val="FFFFFF"/>
                </a:solidFill>
              </a:defRPr>
            </a:pPr>
            <a:r>
              <a:rPr sz="6600" b="1" dirty="0">
                <a:solidFill>
                  <a:srgbClr val="FFFFFF"/>
                </a:solidFill>
              </a:rPr>
              <a:t>Reservation</a:t>
            </a:r>
          </a:p>
          <a:p>
            <a:pPr>
              <a:defRPr sz="6600" b="1">
                <a:solidFill>
                  <a:srgbClr val="FFFFFF"/>
                </a:solidFill>
              </a:defRPr>
            </a:pPr>
            <a:r>
              <a:rPr lang="en-IN" sz="6600" b="1" dirty="0">
                <a:solidFill>
                  <a:srgbClr val="FFFFFF"/>
                </a:solidFill>
              </a:rPr>
              <a:t>System</a:t>
            </a:r>
            <a:endParaRPr sz="6600" b="1" dirty="0">
              <a:solidFill>
                <a:srgbClr val="FFFFFF"/>
              </a:solidFill>
            </a:endParaRP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CFB1F4A2-B146-4D07-B429-ACA3A47B256E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7181850" cy="933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DCE8E5"/>
                </a:solidFill>
              </a:defRPr>
            </a:pPr>
            <a:endParaRPr lang="en-US" sz="2025" dirty="0">
              <a:solidFill>
                <a:srgbClr val="DCE8E5"/>
              </a:solidFill>
            </a:endParaRPr>
          </a:p>
          <a:p>
            <a:pPr>
              <a:defRPr sz="2025">
                <a:solidFill>
                  <a:srgbClr val="DCE8E5"/>
                </a:solidFill>
              </a:defRPr>
            </a:pPr>
            <a:r>
              <a:rPr sz="2025" dirty="0">
                <a:solidFill>
                  <a:srgbClr val="DCE8E5"/>
                </a:solidFill>
              </a:rPr>
              <a:t>A professional walkthrough of the schema, relationships, constraints, SQL modules, and reporting outputs for HotelReservationDB.</a:t>
            </a:r>
          </a:p>
        </p:txBody>
      </p:sp>
      <p:sp>
        <p:nvSpPr>
          <p:cNvPr id="6" name="cover-rule">
            <a:extLst>
              <a:ext uri="{FF2B5EF4-FFF2-40B4-BE49-F238E27FC236}">
                <a16:creationId xmlns:a16="http://schemas.microsoft.com/office/drawing/2014/main" id="{640FCFB5-F9EB-4925-B545-CC9E442FFA9A}"/>
              </a:ext>
            </a:extLst>
          </p:cNvPr>
          <p:cNvSpPr>
            <a:spLocks noGrp="1"/>
          </p:cNvSpPr>
          <p:nvPr/>
        </p:nvSpPr>
        <p:spPr>
          <a:xfrm>
            <a:off x="876300" y="5657850"/>
            <a:ext cx="2667000" cy="57150"/>
          </a:xfrm>
          <a:prstGeom prst="rect">
            <a:avLst/>
          </a:prstGeom>
          <a:solidFill>
            <a:srgbClr val="C78A28"/>
          </a:solidFill>
          <a:ln w="0">
            <a:solidFill>
              <a:srgbClr val="C78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metric-value-tables">
            <a:extLst>
              <a:ext uri="{FF2B5EF4-FFF2-40B4-BE49-F238E27FC236}">
                <a16:creationId xmlns:a16="http://schemas.microsoft.com/office/drawing/2014/main" id="{0992F34D-D001-4759-B4C9-925614A65A8A}"/>
              </a:ext>
            </a:extLst>
          </p:cNvPr>
          <p:cNvSpPr>
            <a:spLocks noGrp="1"/>
          </p:cNvSpPr>
          <p:nvPr/>
        </p:nvSpPr>
        <p:spPr>
          <a:xfrm>
            <a:off x="9029700" y="685800"/>
            <a:ext cx="40576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C78A28"/>
                </a:solidFill>
              </a:defRPr>
            </a:pPr>
            <a:r>
              <a:rPr sz="4500" b="1" dirty="0">
                <a:solidFill>
                  <a:srgbClr val="C78A28"/>
                </a:solidFill>
              </a:rPr>
              <a:t>12</a:t>
            </a:r>
          </a:p>
        </p:txBody>
      </p:sp>
      <p:sp>
        <p:nvSpPr>
          <p:cNvPr id="8" name="metric-label-tables">
            <a:extLst>
              <a:ext uri="{FF2B5EF4-FFF2-40B4-BE49-F238E27FC236}">
                <a16:creationId xmlns:a16="http://schemas.microsoft.com/office/drawing/2014/main" id="{C97BB743-BCD6-4990-8B55-93F1F27C2D7C}"/>
              </a:ext>
            </a:extLst>
          </p:cNvPr>
          <p:cNvSpPr>
            <a:spLocks noGrp="1"/>
          </p:cNvSpPr>
          <p:nvPr/>
        </p:nvSpPr>
        <p:spPr>
          <a:xfrm>
            <a:off x="9029700" y="1447800"/>
            <a:ext cx="781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lang="en-US" sz="1575" b="1" dirty="0">
                <a:solidFill>
                  <a:schemeClr val="bg1"/>
                </a:solidFill>
              </a:rPr>
              <a:t>T</a:t>
            </a:r>
            <a:r>
              <a:rPr sz="1575" b="1" dirty="0">
                <a:solidFill>
                  <a:schemeClr val="bg1"/>
                </a:solidFill>
              </a:rPr>
              <a:t>ables</a:t>
            </a:r>
          </a:p>
        </p:txBody>
      </p:sp>
      <p:sp>
        <p:nvSpPr>
          <p:cNvPr id="9" name="metric-note-tables">
            <a:extLst>
              <a:ext uri="{FF2B5EF4-FFF2-40B4-BE49-F238E27FC236}">
                <a16:creationId xmlns:a16="http://schemas.microsoft.com/office/drawing/2014/main" id="{1BC5F623-07A0-475E-9024-B2F154448221}"/>
              </a:ext>
            </a:extLst>
          </p:cNvPr>
          <p:cNvSpPr>
            <a:spLocks noGrp="1"/>
          </p:cNvSpPr>
          <p:nvPr/>
        </p:nvSpPr>
        <p:spPr>
          <a:xfrm>
            <a:off x="9029700" y="2019300"/>
            <a:ext cx="2800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Master, transaction, bridge, and audit structures</a:t>
            </a:r>
          </a:p>
        </p:txBody>
      </p:sp>
      <p:sp>
        <p:nvSpPr>
          <p:cNvPr id="10" name="metric-value-views">
            <a:extLst>
              <a:ext uri="{FF2B5EF4-FFF2-40B4-BE49-F238E27FC236}">
                <a16:creationId xmlns:a16="http://schemas.microsoft.com/office/drawing/2014/main" id="{4A229A41-8EF4-4DF9-943E-AF14AE32A504}"/>
              </a:ext>
            </a:extLst>
          </p:cNvPr>
          <p:cNvSpPr>
            <a:spLocks noGrp="1"/>
          </p:cNvSpPr>
          <p:nvPr/>
        </p:nvSpPr>
        <p:spPr>
          <a:xfrm>
            <a:off x="13354050" y="685800"/>
            <a:ext cx="40576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48C82"/>
                </a:solidFill>
              </a:defRPr>
            </a:pPr>
            <a:r>
              <a:rPr sz="4500" b="1">
                <a:solidFill>
                  <a:srgbClr val="148C82"/>
                </a:solidFill>
              </a:rPr>
              <a:t>4</a:t>
            </a:r>
          </a:p>
        </p:txBody>
      </p:sp>
      <p:sp>
        <p:nvSpPr>
          <p:cNvPr id="11" name="metric-label-views">
            <a:extLst>
              <a:ext uri="{FF2B5EF4-FFF2-40B4-BE49-F238E27FC236}">
                <a16:creationId xmlns:a16="http://schemas.microsoft.com/office/drawing/2014/main" id="{F9C64C13-375D-4486-B349-191499560D6F}"/>
              </a:ext>
            </a:extLst>
          </p:cNvPr>
          <p:cNvSpPr>
            <a:spLocks noGrp="1"/>
          </p:cNvSpPr>
          <p:nvPr/>
        </p:nvSpPr>
        <p:spPr>
          <a:xfrm>
            <a:off x="13354050" y="1447800"/>
            <a:ext cx="781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lang="en-US" sz="1575" b="1" dirty="0">
                <a:solidFill>
                  <a:schemeClr val="bg1"/>
                </a:solidFill>
              </a:rPr>
              <a:t>V</a:t>
            </a:r>
            <a:r>
              <a:rPr sz="1575" b="1" dirty="0">
                <a:solidFill>
                  <a:schemeClr val="bg1"/>
                </a:solidFill>
              </a:rPr>
              <a:t>iews</a:t>
            </a:r>
          </a:p>
        </p:txBody>
      </p:sp>
      <p:sp>
        <p:nvSpPr>
          <p:cNvPr id="12" name="metric-note-views">
            <a:extLst>
              <a:ext uri="{FF2B5EF4-FFF2-40B4-BE49-F238E27FC236}">
                <a16:creationId xmlns:a16="http://schemas.microsoft.com/office/drawing/2014/main" id="{490FD1E9-2AF3-4964-B6C9-51F3D9DA9ADB}"/>
              </a:ext>
            </a:extLst>
          </p:cNvPr>
          <p:cNvSpPr>
            <a:spLocks noGrp="1"/>
          </p:cNvSpPr>
          <p:nvPr/>
        </p:nvSpPr>
        <p:spPr>
          <a:xfrm>
            <a:off x="13354050" y="2019300"/>
            <a:ext cx="2914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Reservation, room status, occupancy, and revenue</a:t>
            </a:r>
          </a:p>
        </p:txBody>
      </p:sp>
      <p:sp>
        <p:nvSpPr>
          <p:cNvPr id="13" name="metric-value-functions">
            <a:extLst>
              <a:ext uri="{FF2B5EF4-FFF2-40B4-BE49-F238E27FC236}">
                <a16:creationId xmlns:a16="http://schemas.microsoft.com/office/drawing/2014/main" id="{564F66B6-3EB2-45F1-B577-06E9BD2A005B}"/>
              </a:ext>
            </a:extLst>
          </p:cNvPr>
          <p:cNvSpPr>
            <a:spLocks noGrp="1"/>
          </p:cNvSpPr>
          <p:nvPr/>
        </p:nvSpPr>
        <p:spPr>
          <a:xfrm>
            <a:off x="9029700" y="2590800"/>
            <a:ext cx="40576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8DD3C7"/>
                </a:solidFill>
              </a:defRPr>
            </a:pPr>
            <a:r>
              <a:rPr sz="4500" b="1">
                <a:solidFill>
                  <a:srgbClr val="8DD3C7"/>
                </a:solidFill>
              </a:rPr>
              <a:t>2</a:t>
            </a:r>
          </a:p>
        </p:txBody>
      </p:sp>
      <p:sp>
        <p:nvSpPr>
          <p:cNvPr id="14" name="metric-label-functions">
            <a:extLst>
              <a:ext uri="{FF2B5EF4-FFF2-40B4-BE49-F238E27FC236}">
                <a16:creationId xmlns:a16="http://schemas.microsoft.com/office/drawing/2014/main" id="{1284A36C-433B-4BC2-8264-AD904CDFC87A}"/>
              </a:ext>
            </a:extLst>
          </p:cNvPr>
          <p:cNvSpPr>
            <a:spLocks noGrp="1"/>
          </p:cNvSpPr>
          <p:nvPr/>
        </p:nvSpPr>
        <p:spPr>
          <a:xfrm>
            <a:off x="9029700" y="3352800"/>
            <a:ext cx="94021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lang="en-US" sz="1575" b="1" dirty="0">
                <a:solidFill>
                  <a:schemeClr val="bg1"/>
                </a:solidFill>
              </a:rPr>
              <a:t>F</a:t>
            </a:r>
            <a:r>
              <a:rPr sz="1575" b="1" dirty="0">
                <a:solidFill>
                  <a:schemeClr val="bg1"/>
                </a:solidFill>
              </a:rPr>
              <a:t>unctions</a:t>
            </a:r>
          </a:p>
        </p:txBody>
      </p:sp>
      <p:sp>
        <p:nvSpPr>
          <p:cNvPr id="15" name="metric-note-functions">
            <a:extLst>
              <a:ext uri="{FF2B5EF4-FFF2-40B4-BE49-F238E27FC236}">
                <a16:creationId xmlns:a16="http://schemas.microsoft.com/office/drawing/2014/main" id="{B0087B9F-071D-4363-B116-D7C5728C3CDB}"/>
              </a:ext>
            </a:extLst>
          </p:cNvPr>
          <p:cNvSpPr>
            <a:spLocks noGrp="1"/>
          </p:cNvSpPr>
          <p:nvPr/>
        </p:nvSpPr>
        <p:spPr>
          <a:xfrm>
            <a:off x="9029700" y="3924300"/>
            <a:ext cx="2571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Billing calculation and available-room search</a:t>
            </a:r>
          </a:p>
        </p:txBody>
      </p:sp>
      <p:sp>
        <p:nvSpPr>
          <p:cNvPr id="16" name="metric-value-triggers">
            <a:extLst>
              <a:ext uri="{FF2B5EF4-FFF2-40B4-BE49-F238E27FC236}">
                <a16:creationId xmlns:a16="http://schemas.microsoft.com/office/drawing/2014/main" id="{76C570A1-234D-45BF-8486-0328C2C41B15}"/>
              </a:ext>
            </a:extLst>
          </p:cNvPr>
          <p:cNvSpPr>
            <a:spLocks noGrp="1"/>
          </p:cNvSpPr>
          <p:nvPr/>
        </p:nvSpPr>
        <p:spPr>
          <a:xfrm>
            <a:off x="13354050" y="2590800"/>
            <a:ext cx="40576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F1B56A"/>
                </a:solidFill>
              </a:defRPr>
            </a:pPr>
            <a:r>
              <a:rPr sz="4500" b="1">
                <a:solidFill>
                  <a:srgbClr val="F1B56A"/>
                </a:solidFill>
              </a:rPr>
              <a:t>3</a:t>
            </a:r>
          </a:p>
        </p:txBody>
      </p:sp>
      <p:sp>
        <p:nvSpPr>
          <p:cNvPr id="17" name="metric-label-triggers">
            <a:extLst>
              <a:ext uri="{FF2B5EF4-FFF2-40B4-BE49-F238E27FC236}">
                <a16:creationId xmlns:a16="http://schemas.microsoft.com/office/drawing/2014/main" id="{7CD3192F-70E0-4476-A571-72659A71A185}"/>
              </a:ext>
            </a:extLst>
          </p:cNvPr>
          <p:cNvSpPr>
            <a:spLocks noGrp="1"/>
          </p:cNvSpPr>
          <p:nvPr/>
        </p:nvSpPr>
        <p:spPr>
          <a:xfrm>
            <a:off x="13354050" y="3352800"/>
            <a:ext cx="781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lang="en-US" sz="1575" b="1" dirty="0">
                <a:solidFill>
                  <a:schemeClr val="bg1"/>
                </a:solidFill>
              </a:rPr>
              <a:t>T</a:t>
            </a:r>
            <a:r>
              <a:rPr sz="1575" b="1" dirty="0">
                <a:solidFill>
                  <a:schemeClr val="bg1"/>
                </a:solidFill>
              </a:rPr>
              <a:t>riggers</a:t>
            </a:r>
          </a:p>
        </p:txBody>
      </p:sp>
      <p:sp>
        <p:nvSpPr>
          <p:cNvPr id="18" name="metric-note-triggers">
            <a:extLst>
              <a:ext uri="{FF2B5EF4-FFF2-40B4-BE49-F238E27FC236}">
                <a16:creationId xmlns:a16="http://schemas.microsoft.com/office/drawing/2014/main" id="{F088B6C1-275E-4DDB-ACAB-906197F67655}"/>
              </a:ext>
            </a:extLst>
          </p:cNvPr>
          <p:cNvSpPr>
            <a:spLocks noGrp="1"/>
          </p:cNvSpPr>
          <p:nvPr/>
        </p:nvSpPr>
        <p:spPr>
          <a:xfrm>
            <a:off x="13354050" y="3924300"/>
            <a:ext cx="3371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Audit logging, status sync, and double-booking prevention</a:t>
            </a:r>
          </a:p>
        </p:txBody>
      </p:sp>
    </p:spTree>
    <p:extLst>
      <p:ext uri="{BB962C8B-B14F-4D97-AF65-F5344CB8AC3E}">
        <p14:creationId xmlns:p14="http://schemas.microsoft.com/office/powerpoint/2010/main" val="1973479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ackground">
            <a:extLst>
              <a:ext uri="{FF2B5EF4-FFF2-40B4-BE49-F238E27FC236}">
                <a16:creationId xmlns:a16="http://schemas.microsoft.com/office/drawing/2014/main" id="{A455E52A-E7D5-4B7C-9BB2-D09B1920F8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797C1EEE-9F81-44D3-A9D9-D46E17232098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0B6B5B"/>
          </a:solidFill>
          <a:ln w="0">
            <a:solidFill>
              <a:srgbClr val="0B6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B12CAB52-ADD8-44E0-9ADA-AE779028C9C1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E78B8976-F80E-487E-B7EB-C40678E621C3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What the database is designed to control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9AFA5AC5-2002-4BDD-B399-DC8003601E85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25920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HotelReservationDB manages the operational path from room setup and guest identity to booking, services, payment, and audit history.</a:t>
            </a:r>
          </a:p>
        </p:txBody>
      </p:sp>
      <p:sp>
        <p:nvSpPr>
          <p:cNvPr id="6" name="metric-value-property master">
            <a:extLst>
              <a:ext uri="{FF2B5EF4-FFF2-40B4-BE49-F238E27FC236}">
                <a16:creationId xmlns:a16="http://schemas.microsoft.com/office/drawing/2014/main" id="{ADE0942A-7C7E-400C-9F32-E1A168BF0092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5314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0B6B5B"/>
                </a:solidFill>
              </a:defRPr>
            </a:pPr>
            <a:r>
              <a:rPr sz="4500" b="1">
                <a:solidFill>
                  <a:srgbClr val="0B6B5B"/>
                </a:solidFill>
              </a:rPr>
              <a:t>Hotel</a:t>
            </a:r>
          </a:p>
        </p:txBody>
      </p:sp>
      <p:sp>
        <p:nvSpPr>
          <p:cNvPr id="7" name="metric-label-property master">
            <a:extLst>
              <a:ext uri="{FF2B5EF4-FFF2-40B4-BE49-F238E27FC236}">
                <a16:creationId xmlns:a16="http://schemas.microsoft.com/office/drawing/2014/main" id="{5D321CFC-4745-488C-92D2-5D8562A414E8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13525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property master</a:t>
            </a:r>
          </a:p>
        </p:txBody>
      </p:sp>
      <p:sp>
        <p:nvSpPr>
          <p:cNvPr id="8" name="metric-note-property master">
            <a:extLst>
              <a:ext uri="{FF2B5EF4-FFF2-40B4-BE49-F238E27FC236}">
                <a16:creationId xmlns:a16="http://schemas.microsoft.com/office/drawing/2014/main" id="{65499115-761D-419A-A6A5-B44BA9C02164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3238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HotelName, AddressLine, City, StateName, Phone, Email</a:t>
            </a:r>
          </a:p>
        </p:txBody>
      </p:sp>
      <p:sp>
        <p:nvSpPr>
          <p:cNvPr id="9" name="metric-value-inventory control">
            <a:extLst>
              <a:ext uri="{FF2B5EF4-FFF2-40B4-BE49-F238E27FC236}">
                <a16:creationId xmlns:a16="http://schemas.microsoft.com/office/drawing/2014/main" id="{103D1E78-BB0C-42F7-8080-EF9EDD779A73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5314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2563A7"/>
                </a:solidFill>
              </a:defRPr>
            </a:pPr>
            <a:r>
              <a:rPr sz="4500" b="1">
                <a:solidFill>
                  <a:srgbClr val="2563A7"/>
                </a:solidFill>
              </a:rPr>
              <a:t>Room</a:t>
            </a:r>
          </a:p>
        </p:txBody>
      </p:sp>
      <p:sp>
        <p:nvSpPr>
          <p:cNvPr id="10" name="metric-label-inventory control">
            <a:extLst>
              <a:ext uri="{FF2B5EF4-FFF2-40B4-BE49-F238E27FC236}">
                <a16:creationId xmlns:a16="http://schemas.microsoft.com/office/drawing/2014/main" id="{1D667BB6-1AF4-48A7-A435-C725404E97AB}"/>
              </a:ext>
            </a:extLst>
          </p:cNvPr>
          <p:cNvSpPr>
            <a:spLocks noGrp="1"/>
          </p:cNvSpPr>
          <p:nvPr/>
        </p:nvSpPr>
        <p:spPr>
          <a:xfrm>
            <a:off x="6496050" y="3200400"/>
            <a:ext cx="14287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inventory control</a:t>
            </a:r>
          </a:p>
        </p:txBody>
      </p:sp>
      <p:sp>
        <p:nvSpPr>
          <p:cNvPr id="11" name="metric-note-inventory control">
            <a:extLst>
              <a:ext uri="{FF2B5EF4-FFF2-40B4-BE49-F238E27FC236}">
                <a16:creationId xmlns:a16="http://schemas.microsoft.com/office/drawing/2014/main" id="{DE7EED42-784A-4C76-AD69-E589F6431B24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3314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RoomNumber, FloorNo, RoomStatus, HotelID, CategoryID</a:t>
            </a:r>
          </a:p>
        </p:txBody>
      </p:sp>
      <p:sp>
        <p:nvSpPr>
          <p:cNvPr id="12" name="metric-value-guest identity">
            <a:extLst>
              <a:ext uri="{FF2B5EF4-FFF2-40B4-BE49-F238E27FC236}">
                <a16:creationId xmlns:a16="http://schemas.microsoft.com/office/drawing/2014/main" id="{A01834DD-F3FD-427E-AA33-6420FD0B41D4}"/>
              </a:ext>
            </a:extLst>
          </p:cNvPr>
          <p:cNvSpPr>
            <a:spLocks noGrp="1"/>
          </p:cNvSpPr>
          <p:nvPr/>
        </p:nvSpPr>
        <p:spPr>
          <a:xfrm>
            <a:off x="12153900" y="2457450"/>
            <a:ext cx="5314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6D5BA6"/>
                </a:solidFill>
              </a:defRPr>
            </a:pPr>
            <a:r>
              <a:rPr sz="4500" b="1">
                <a:solidFill>
                  <a:srgbClr val="6D5BA6"/>
                </a:solidFill>
              </a:rPr>
              <a:t>Customer</a:t>
            </a:r>
          </a:p>
        </p:txBody>
      </p:sp>
      <p:sp>
        <p:nvSpPr>
          <p:cNvPr id="13" name="metric-label-guest identity">
            <a:extLst>
              <a:ext uri="{FF2B5EF4-FFF2-40B4-BE49-F238E27FC236}">
                <a16:creationId xmlns:a16="http://schemas.microsoft.com/office/drawing/2014/main" id="{1616F922-CC83-4ABF-A61B-67D660715927}"/>
              </a:ext>
            </a:extLst>
          </p:cNvPr>
          <p:cNvSpPr>
            <a:spLocks noGrp="1"/>
          </p:cNvSpPr>
          <p:nvPr/>
        </p:nvSpPr>
        <p:spPr>
          <a:xfrm>
            <a:off x="12153900" y="3200400"/>
            <a:ext cx="11430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guest identity</a:t>
            </a:r>
          </a:p>
        </p:txBody>
      </p:sp>
      <p:sp>
        <p:nvSpPr>
          <p:cNvPr id="14" name="metric-note-guest identity">
            <a:extLst>
              <a:ext uri="{FF2B5EF4-FFF2-40B4-BE49-F238E27FC236}">
                <a16:creationId xmlns:a16="http://schemas.microsoft.com/office/drawing/2014/main" id="{52459E15-D709-4111-B025-29CD403EF502}"/>
              </a:ext>
            </a:extLst>
          </p:cNvPr>
          <p:cNvSpPr>
            <a:spLocks noGrp="1"/>
          </p:cNvSpPr>
          <p:nvPr/>
        </p:nvSpPr>
        <p:spPr>
          <a:xfrm>
            <a:off x="12153900" y="3790950"/>
            <a:ext cx="2514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FullName, Email, Phone, IdentityProofType, IdentityProofNo</a:t>
            </a:r>
          </a:p>
        </p:txBody>
      </p:sp>
      <p:sp>
        <p:nvSpPr>
          <p:cNvPr id="15" name="metric-value-booking header">
            <a:extLst>
              <a:ext uri="{FF2B5EF4-FFF2-40B4-BE49-F238E27FC236}">
                <a16:creationId xmlns:a16="http://schemas.microsoft.com/office/drawing/2014/main" id="{4F4BD4CD-792F-4173-BE46-5F0B49987792}"/>
              </a:ext>
            </a:extLst>
          </p:cNvPr>
          <p:cNvSpPr>
            <a:spLocks noGrp="1"/>
          </p:cNvSpPr>
          <p:nvPr/>
        </p:nvSpPr>
        <p:spPr>
          <a:xfrm>
            <a:off x="819150" y="6038850"/>
            <a:ext cx="5314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B45332"/>
                </a:solidFill>
              </a:defRPr>
            </a:pPr>
            <a:r>
              <a:rPr sz="4500" b="1">
                <a:solidFill>
                  <a:srgbClr val="B45332"/>
                </a:solidFill>
              </a:rPr>
              <a:t>Reservation</a:t>
            </a:r>
          </a:p>
        </p:txBody>
      </p:sp>
      <p:sp>
        <p:nvSpPr>
          <p:cNvPr id="16" name="metric-label-booking header">
            <a:extLst>
              <a:ext uri="{FF2B5EF4-FFF2-40B4-BE49-F238E27FC236}">
                <a16:creationId xmlns:a16="http://schemas.microsoft.com/office/drawing/2014/main" id="{E9A2824A-441D-46DC-9169-C30F578754A8}"/>
              </a:ext>
            </a:extLst>
          </p:cNvPr>
          <p:cNvSpPr>
            <a:spLocks noGrp="1"/>
          </p:cNvSpPr>
          <p:nvPr/>
        </p:nvSpPr>
        <p:spPr>
          <a:xfrm>
            <a:off x="819150" y="6800850"/>
            <a:ext cx="12954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booking header</a:t>
            </a:r>
          </a:p>
        </p:txBody>
      </p:sp>
      <p:sp>
        <p:nvSpPr>
          <p:cNvPr id="17" name="metric-note-booking header">
            <a:extLst>
              <a:ext uri="{FF2B5EF4-FFF2-40B4-BE49-F238E27FC236}">
                <a16:creationId xmlns:a16="http://schemas.microsoft.com/office/drawing/2014/main" id="{37BAE9FD-14F7-4979-BE4C-C46267E9251A}"/>
              </a:ext>
            </a:extLst>
          </p:cNvPr>
          <p:cNvSpPr>
            <a:spLocks noGrp="1"/>
          </p:cNvSpPr>
          <p:nvPr/>
        </p:nvSpPr>
        <p:spPr>
          <a:xfrm>
            <a:off x="819150" y="7372350"/>
            <a:ext cx="2476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BookingDate, CheckInDate, CheckOutDate, ReservationStatus, TaxRate</a:t>
            </a:r>
          </a:p>
        </p:txBody>
      </p:sp>
      <p:sp>
        <p:nvSpPr>
          <p:cNvPr id="18" name="metric-value-money movement">
            <a:extLst>
              <a:ext uri="{FF2B5EF4-FFF2-40B4-BE49-F238E27FC236}">
                <a16:creationId xmlns:a16="http://schemas.microsoft.com/office/drawing/2014/main" id="{CF926C54-96EB-4D88-AAFF-328392E39D2C}"/>
              </a:ext>
            </a:extLst>
          </p:cNvPr>
          <p:cNvSpPr>
            <a:spLocks noGrp="1"/>
          </p:cNvSpPr>
          <p:nvPr/>
        </p:nvSpPr>
        <p:spPr>
          <a:xfrm>
            <a:off x="6496050" y="6038850"/>
            <a:ext cx="5314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C78A28"/>
                </a:solidFill>
              </a:defRPr>
            </a:pPr>
            <a:r>
              <a:rPr sz="4500" b="1">
                <a:solidFill>
                  <a:srgbClr val="C78A28"/>
                </a:solidFill>
              </a:rPr>
              <a:t>Payment</a:t>
            </a:r>
          </a:p>
        </p:txBody>
      </p:sp>
      <p:sp>
        <p:nvSpPr>
          <p:cNvPr id="19" name="metric-label-money movement">
            <a:extLst>
              <a:ext uri="{FF2B5EF4-FFF2-40B4-BE49-F238E27FC236}">
                <a16:creationId xmlns:a16="http://schemas.microsoft.com/office/drawing/2014/main" id="{F7E5C0B5-8E4C-4F9A-9506-5B9D71DFE3F7}"/>
              </a:ext>
            </a:extLst>
          </p:cNvPr>
          <p:cNvSpPr>
            <a:spLocks noGrp="1"/>
          </p:cNvSpPr>
          <p:nvPr/>
        </p:nvSpPr>
        <p:spPr>
          <a:xfrm>
            <a:off x="6496050" y="6800850"/>
            <a:ext cx="15240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money movement</a:t>
            </a:r>
          </a:p>
        </p:txBody>
      </p:sp>
      <p:sp>
        <p:nvSpPr>
          <p:cNvPr id="20" name="metric-note-money movement">
            <a:extLst>
              <a:ext uri="{FF2B5EF4-FFF2-40B4-BE49-F238E27FC236}">
                <a16:creationId xmlns:a16="http://schemas.microsoft.com/office/drawing/2014/main" id="{BC57E223-BFBF-4616-9CFB-2431B937E549}"/>
              </a:ext>
            </a:extLst>
          </p:cNvPr>
          <p:cNvSpPr>
            <a:spLocks noGrp="1"/>
          </p:cNvSpPr>
          <p:nvPr/>
        </p:nvSpPr>
        <p:spPr>
          <a:xfrm>
            <a:off x="6496050" y="7372350"/>
            <a:ext cx="3105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PaymentDate, Amount, PaymentStatus, ReferenceNo, PaymentMethodID</a:t>
            </a:r>
          </a:p>
        </p:txBody>
      </p:sp>
      <p:sp>
        <p:nvSpPr>
          <p:cNvPr id="21" name="metric-value-change trace">
            <a:extLst>
              <a:ext uri="{FF2B5EF4-FFF2-40B4-BE49-F238E27FC236}">
                <a16:creationId xmlns:a16="http://schemas.microsoft.com/office/drawing/2014/main" id="{7356C386-051E-450E-834D-ACFFF096A2E4}"/>
              </a:ext>
            </a:extLst>
          </p:cNvPr>
          <p:cNvSpPr>
            <a:spLocks noGrp="1"/>
          </p:cNvSpPr>
          <p:nvPr/>
        </p:nvSpPr>
        <p:spPr>
          <a:xfrm>
            <a:off x="12153900" y="6038850"/>
            <a:ext cx="5314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148C82"/>
                </a:solidFill>
              </a:defRPr>
            </a:pPr>
            <a:r>
              <a:rPr sz="4500" b="1">
                <a:solidFill>
                  <a:srgbClr val="148C82"/>
                </a:solidFill>
              </a:rPr>
              <a:t>AuditLog</a:t>
            </a:r>
          </a:p>
        </p:txBody>
      </p:sp>
      <p:sp>
        <p:nvSpPr>
          <p:cNvPr id="22" name="metric-label-change trace">
            <a:extLst>
              <a:ext uri="{FF2B5EF4-FFF2-40B4-BE49-F238E27FC236}">
                <a16:creationId xmlns:a16="http://schemas.microsoft.com/office/drawing/2014/main" id="{EA6C8837-580D-437A-9812-7DEDD65DB0A1}"/>
              </a:ext>
            </a:extLst>
          </p:cNvPr>
          <p:cNvSpPr>
            <a:spLocks noGrp="1"/>
          </p:cNvSpPr>
          <p:nvPr/>
        </p:nvSpPr>
        <p:spPr>
          <a:xfrm>
            <a:off x="12153900" y="6800850"/>
            <a:ext cx="10477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change trace</a:t>
            </a:r>
          </a:p>
        </p:txBody>
      </p:sp>
      <p:sp>
        <p:nvSpPr>
          <p:cNvPr id="23" name="metric-note-change trace">
            <a:extLst>
              <a:ext uri="{FF2B5EF4-FFF2-40B4-BE49-F238E27FC236}">
                <a16:creationId xmlns:a16="http://schemas.microsoft.com/office/drawing/2014/main" id="{3C589B44-0BC2-4117-9F33-64217E08476D}"/>
              </a:ext>
            </a:extLst>
          </p:cNvPr>
          <p:cNvSpPr>
            <a:spLocks noGrp="1"/>
          </p:cNvSpPr>
          <p:nvPr/>
        </p:nvSpPr>
        <p:spPr>
          <a:xfrm>
            <a:off x="12153900" y="7372350"/>
            <a:ext cx="3276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TableName, ActionType, RecordID, ActionDate, ActionBy, Description</a:t>
            </a:r>
          </a:p>
        </p:txBody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5E6BBD48-09D9-439E-823E-4E802E3A6B40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25" name="slide-number">
            <a:extLst>
              <a:ext uri="{FF2B5EF4-FFF2-40B4-BE49-F238E27FC236}">
                <a16:creationId xmlns:a16="http://schemas.microsoft.com/office/drawing/2014/main" id="{FB0CDD3E-0125-441F-9557-447F61AA99D8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0931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background">
            <a:extLst>
              <a:ext uri="{FF2B5EF4-FFF2-40B4-BE49-F238E27FC236}">
                <a16:creationId xmlns:a16="http://schemas.microsoft.com/office/drawing/2014/main" id="{53A1AE40-6A62-4939-9586-71B3D73B9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4378BE27-B932-42E9-A173-F5737F1B67EA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AE4A6957-373F-423A-AFE2-541AFB8483C5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C9BE60CC-8339-40AC-8ACC-215B2B8F670B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ER diagram: the relationship map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C39EE115-053F-4FB2-B74A-E986386629C1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3487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The ERD connects hotel inventory, guest reservations, service charges, payments, and audit history. The DDL scripts provide the full column detail.</a:t>
            </a:r>
          </a:p>
        </p:txBody>
      </p:sp>
      <p:sp>
        <p:nvSpPr>
          <p:cNvPr id="6" name="table-erd-room">
            <a:extLst>
              <a:ext uri="{FF2B5EF4-FFF2-40B4-BE49-F238E27FC236}">
                <a16:creationId xmlns:a16="http://schemas.microsoft.com/office/drawing/2014/main" id="{23867788-BF69-4DBE-B15F-223AA64C5244}"/>
              </a:ext>
            </a:extLst>
          </p:cNvPr>
          <p:cNvSpPr>
            <a:spLocks noGrp="1"/>
          </p:cNvSpPr>
          <p:nvPr/>
        </p:nvSpPr>
        <p:spPr>
          <a:xfrm>
            <a:off x="819150" y="2453640"/>
            <a:ext cx="5359400" cy="3133725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able-head-erd-room-0">
            <a:extLst>
              <a:ext uri="{FF2B5EF4-FFF2-40B4-BE49-F238E27FC236}">
                <a16:creationId xmlns:a16="http://schemas.microsoft.com/office/drawing/2014/main" id="{4256A7D8-1623-4037-AF50-A8765D840DEF}"/>
              </a:ext>
            </a:extLst>
          </p:cNvPr>
          <p:cNvSpPr>
            <a:spLocks noGrp="1"/>
          </p:cNvSpPr>
          <p:nvPr/>
        </p:nvSpPr>
        <p:spPr>
          <a:xfrm>
            <a:off x="990600" y="26098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Inventory side</a:t>
            </a:r>
          </a:p>
        </p:txBody>
      </p:sp>
      <p:sp>
        <p:nvSpPr>
          <p:cNvPr id="8" name="table-head-erd-room-1">
            <a:extLst>
              <a:ext uri="{FF2B5EF4-FFF2-40B4-BE49-F238E27FC236}">
                <a16:creationId xmlns:a16="http://schemas.microsoft.com/office/drawing/2014/main" id="{C1B2062C-9B38-49FE-A742-9FACE2F7A25E}"/>
              </a:ext>
            </a:extLst>
          </p:cNvPr>
          <p:cNvSpPr>
            <a:spLocks noGrp="1"/>
          </p:cNvSpPr>
          <p:nvPr/>
        </p:nvSpPr>
        <p:spPr>
          <a:xfrm>
            <a:off x="3562350" y="26098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Relationship</a:t>
            </a:r>
          </a:p>
        </p:txBody>
      </p:sp>
      <p:sp>
        <p:nvSpPr>
          <p:cNvPr id="9" name="table-rule-erd-room">
            <a:extLst>
              <a:ext uri="{FF2B5EF4-FFF2-40B4-BE49-F238E27FC236}">
                <a16:creationId xmlns:a16="http://schemas.microsoft.com/office/drawing/2014/main" id="{EDEE3AC7-F77D-4B6B-8B5D-A8E7D0F79E70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50101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able-cell-erd-room-0-0">
            <a:extLst>
              <a:ext uri="{FF2B5EF4-FFF2-40B4-BE49-F238E27FC236}">
                <a16:creationId xmlns:a16="http://schemas.microsoft.com/office/drawing/2014/main" id="{BCB48378-7F0E-46D9-AC3F-0AC6860E8A9E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Hotel -&gt; Room</a:t>
            </a:r>
          </a:p>
        </p:txBody>
      </p:sp>
      <p:sp>
        <p:nvSpPr>
          <p:cNvPr id="11" name="table-cell-erd-room-0-1">
            <a:extLst>
              <a:ext uri="{FF2B5EF4-FFF2-40B4-BE49-F238E27FC236}">
                <a16:creationId xmlns:a16="http://schemas.microsoft.com/office/drawing/2014/main" id="{BF03C808-634D-48DE-9349-C66260258371}"/>
              </a:ext>
            </a:extLst>
          </p:cNvPr>
          <p:cNvSpPr>
            <a:spLocks noGrp="1"/>
          </p:cNvSpPr>
          <p:nvPr/>
        </p:nvSpPr>
        <p:spPr>
          <a:xfrm>
            <a:off x="3562350" y="29718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one hotel owns many rooms</a:t>
            </a:r>
          </a:p>
        </p:txBody>
      </p:sp>
      <p:sp>
        <p:nvSpPr>
          <p:cNvPr id="12" name="table-cell-erd-room-1-0">
            <a:extLst>
              <a:ext uri="{FF2B5EF4-FFF2-40B4-BE49-F238E27FC236}">
                <a16:creationId xmlns:a16="http://schemas.microsoft.com/office/drawing/2014/main" id="{8E9AA9A5-4419-4820-BCD7-97E92D17D653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RoomCategory -&gt; Room</a:t>
            </a:r>
          </a:p>
        </p:txBody>
      </p:sp>
      <p:sp>
        <p:nvSpPr>
          <p:cNvPr id="13" name="table-cell-erd-room-1-1">
            <a:extLst>
              <a:ext uri="{FF2B5EF4-FFF2-40B4-BE49-F238E27FC236}">
                <a16:creationId xmlns:a16="http://schemas.microsoft.com/office/drawing/2014/main" id="{03B4AED1-7454-456E-824E-F17E93DC0BFD}"/>
              </a:ext>
            </a:extLst>
          </p:cNvPr>
          <p:cNvSpPr>
            <a:spLocks noGrp="1"/>
          </p:cNvSpPr>
          <p:nvPr/>
        </p:nvSpPr>
        <p:spPr>
          <a:xfrm>
            <a:off x="3562350" y="32385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one category classifies many rooms</a:t>
            </a:r>
          </a:p>
        </p:txBody>
      </p:sp>
      <p:sp>
        <p:nvSpPr>
          <p:cNvPr id="14" name="table-cell-erd-room-2-0">
            <a:extLst>
              <a:ext uri="{FF2B5EF4-FFF2-40B4-BE49-F238E27FC236}">
                <a16:creationId xmlns:a16="http://schemas.microsoft.com/office/drawing/2014/main" id="{07B1B7C3-6AB6-4F7B-A9D3-291E2D4CAA57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Room -&gt; ReservationRoom</a:t>
            </a:r>
          </a:p>
        </p:txBody>
      </p:sp>
      <p:sp>
        <p:nvSpPr>
          <p:cNvPr id="15" name="table-cell-erd-room-2-1">
            <a:extLst>
              <a:ext uri="{FF2B5EF4-FFF2-40B4-BE49-F238E27FC236}">
                <a16:creationId xmlns:a16="http://schemas.microsoft.com/office/drawing/2014/main" id="{76EBE3FD-F322-4611-9DF9-0A8DBE092887}"/>
              </a:ext>
            </a:extLst>
          </p:cNvPr>
          <p:cNvSpPr>
            <a:spLocks noGrp="1"/>
          </p:cNvSpPr>
          <p:nvPr/>
        </p:nvSpPr>
        <p:spPr>
          <a:xfrm>
            <a:off x="3562350" y="34861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rooms are assigned through a bridge</a:t>
            </a:r>
          </a:p>
        </p:txBody>
      </p:sp>
      <p:sp>
        <p:nvSpPr>
          <p:cNvPr id="16" name="table-erd-reservation">
            <a:extLst>
              <a:ext uri="{FF2B5EF4-FFF2-40B4-BE49-F238E27FC236}">
                <a16:creationId xmlns:a16="http://schemas.microsoft.com/office/drawing/2014/main" id="{7058EBBA-0935-464A-A45D-1E19DB909971}"/>
              </a:ext>
            </a:extLst>
          </p:cNvPr>
          <p:cNvSpPr>
            <a:spLocks noGrp="1"/>
          </p:cNvSpPr>
          <p:nvPr/>
        </p:nvSpPr>
        <p:spPr>
          <a:xfrm>
            <a:off x="6464300" y="2453640"/>
            <a:ext cx="5359400" cy="3133725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able-head-erd-reservation-0">
            <a:extLst>
              <a:ext uri="{FF2B5EF4-FFF2-40B4-BE49-F238E27FC236}">
                <a16:creationId xmlns:a16="http://schemas.microsoft.com/office/drawing/2014/main" id="{E27245AA-D336-4BEB-95A4-E8BF04D5D201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Reservation core</a:t>
            </a:r>
          </a:p>
        </p:txBody>
      </p:sp>
      <p:sp>
        <p:nvSpPr>
          <p:cNvPr id="18" name="table-head-erd-reservation-1">
            <a:extLst>
              <a:ext uri="{FF2B5EF4-FFF2-40B4-BE49-F238E27FC236}">
                <a16:creationId xmlns:a16="http://schemas.microsoft.com/office/drawing/2014/main" id="{E6A9DA4A-9858-4651-8CC2-E19B1AFF7B6F}"/>
              </a:ext>
            </a:extLst>
          </p:cNvPr>
          <p:cNvSpPr>
            <a:spLocks noGrp="1"/>
          </p:cNvSpPr>
          <p:nvPr/>
        </p:nvSpPr>
        <p:spPr>
          <a:xfrm>
            <a:off x="9201150" y="26098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Relationship</a:t>
            </a:r>
          </a:p>
        </p:txBody>
      </p:sp>
      <p:sp>
        <p:nvSpPr>
          <p:cNvPr id="19" name="table-rule-erd-reservation">
            <a:extLst>
              <a:ext uri="{FF2B5EF4-FFF2-40B4-BE49-F238E27FC236}">
                <a16:creationId xmlns:a16="http://schemas.microsoft.com/office/drawing/2014/main" id="{2998A238-A351-411E-8B78-C940E1E6707F}"/>
              </a:ext>
            </a:extLst>
          </p:cNvPr>
          <p:cNvSpPr>
            <a:spLocks noGrp="1"/>
          </p:cNvSpPr>
          <p:nvPr/>
        </p:nvSpPr>
        <p:spPr>
          <a:xfrm>
            <a:off x="6629400" y="2876550"/>
            <a:ext cx="50101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able-cell-erd-reservation-0-0">
            <a:extLst>
              <a:ext uri="{FF2B5EF4-FFF2-40B4-BE49-F238E27FC236}">
                <a16:creationId xmlns:a16="http://schemas.microsoft.com/office/drawing/2014/main" id="{E76FB715-8141-4001-A399-A753AD72E4C9}"/>
              </a:ext>
            </a:extLst>
          </p:cNvPr>
          <p:cNvSpPr>
            <a:spLocks noGrp="1"/>
          </p:cNvSpPr>
          <p:nvPr/>
        </p:nvSpPr>
        <p:spPr>
          <a:xfrm>
            <a:off x="6629400" y="29718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Customer -&gt; Reservation</a:t>
            </a:r>
          </a:p>
        </p:txBody>
      </p:sp>
      <p:sp>
        <p:nvSpPr>
          <p:cNvPr id="21" name="table-cell-erd-reservation-0-1">
            <a:extLst>
              <a:ext uri="{FF2B5EF4-FFF2-40B4-BE49-F238E27FC236}">
                <a16:creationId xmlns:a16="http://schemas.microsoft.com/office/drawing/2014/main" id="{D5FA115A-15F6-47EF-8444-8EC08268572B}"/>
              </a:ext>
            </a:extLst>
          </p:cNvPr>
          <p:cNvSpPr>
            <a:spLocks noGrp="1"/>
          </p:cNvSpPr>
          <p:nvPr/>
        </p:nvSpPr>
        <p:spPr>
          <a:xfrm>
            <a:off x="9201150" y="29718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one customer makes many reservations</a:t>
            </a:r>
          </a:p>
        </p:txBody>
      </p:sp>
      <p:sp>
        <p:nvSpPr>
          <p:cNvPr id="22" name="table-cell-erd-reservation-1-0">
            <a:extLst>
              <a:ext uri="{FF2B5EF4-FFF2-40B4-BE49-F238E27FC236}">
                <a16:creationId xmlns:a16="http://schemas.microsoft.com/office/drawing/2014/main" id="{B46F959A-1403-4FB2-9511-03A363CCEFEA}"/>
              </a:ext>
            </a:extLst>
          </p:cNvPr>
          <p:cNvSpPr>
            <a:spLocks noGrp="1"/>
          </p:cNvSpPr>
          <p:nvPr/>
        </p:nvSpPr>
        <p:spPr>
          <a:xfrm>
            <a:off x="6629400" y="32385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Staff -&gt; Reservation</a:t>
            </a:r>
          </a:p>
        </p:txBody>
      </p:sp>
      <p:sp>
        <p:nvSpPr>
          <p:cNvPr id="23" name="table-cell-erd-reservation-1-1">
            <a:extLst>
              <a:ext uri="{FF2B5EF4-FFF2-40B4-BE49-F238E27FC236}">
                <a16:creationId xmlns:a16="http://schemas.microsoft.com/office/drawing/2014/main" id="{7089B805-782B-4D99-8080-FB2EF9A8D619}"/>
              </a:ext>
            </a:extLst>
          </p:cNvPr>
          <p:cNvSpPr>
            <a:spLocks noGrp="1"/>
          </p:cNvSpPr>
          <p:nvPr/>
        </p:nvSpPr>
        <p:spPr>
          <a:xfrm>
            <a:off x="9201150" y="32385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one staff member handles many reservations</a:t>
            </a:r>
          </a:p>
        </p:txBody>
      </p:sp>
      <p:sp>
        <p:nvSpPr>
          <p:cNvPr id="24" name="table-cell-erd-reservation-2-0">
            <a:extLst>
              <a:ext uri="{FF2B5EF4-FFF2-40B4-BE49-F238E27FC236}">
                <a16:creationId xmlns:a16="http://schemas.microsoft.com/office/drawing/2014/main" id="{B55299B8-E1D0-445D-B4A2-93878BF2D05F}"/>
              </a:ext>
            </a:extLst>
          </p:cNvPr>
          <p:cNvSpPr>
            <a:spLocks noGrp="1"/>
          </p:cNvSpPr>
          <p:nvPr/>
        </p:nvSpPr>
        <p:spPr>
          <a:xfrm>
            <a:off x="6629400" y="34861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 -&gt; ReservationRoom</a:t>
            </a:r>
          </a:p>
        </p:txBody>
      </p:sp>
      <p:sp>
        <p:nvSpPr>
          <p:cNvPr id="25" name="table-cell-erd-reservation-2-1">
            <a:extLst>
              <a:ext uri="{FF2B5EF4-FFF2-40B4-BE49-F238E27FC236}">
                <a16:creationId xmlns:a16="http://schemas.microsoft.com/office/drawing/2014/main" id="{8A44F298-C56B-4FDE-A367-7F3E74E3BB96}"/>
              </a:ext>
            </a:extLst>
          </p:cNvPr>
          <p:cNvSpPr>
            <a:spLocks noGrp="1"/>
          </p:cNvSpPr>
          <p:nvPr/>
        </p:nvSpPr>
        <p:spPr>
          <a:xfrm>
            <a:off x="9201150" y="34861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one reservation can contain many rooms</a:t>
            </a:r>
          </a:p>
        </p:txBody>
      </p:sp>
      <p:sp>
        <p:nvSpPr>
          <p:cNvPr id="26" name="table-erd-service">
            <a:extLst>
              <a:ext uri="{FF2B5EF4-FFF2-40B4-BE49-F238E27FC236}">
                <a16:creationId xmlns:a16="http://schemas.microsoft.com/office/drawing/2014/main" id="{57695B42-DBF4-425E-8750-540D76F4DE19}"/>
              </a:ext>
            </a:extLst>
          </p:cNvPr>
          <p:cNvSpPr>
            <a:spLocks noGrp="1"/>
          </p:cNvSpPr>
          <p:nvPr/>
        </p:nvSpPr>
        <p:spPr>
          <a:xfrm>
            <a:off x="12109450" y="2453640"/>
            <a:ext cx="5359400" cy="3133725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able-head-erd-service-0">
            <a:extLst>
              <a:ext uri="{FF2B5EF4-FFF2-40B4-BE49-F238E27FC236}">
                <a16:creationId xmlns:a16="http://schemas.microsoft.com/office/drawing/2014/main" id="{A2734A40-0988-4486-AE2A-28FD6CC28015}"/>
              </a:ext>
            </a:extLst>
          </p:cNvPr>
          <p:cNvSpPr>
            <a:spLocks noGrp="1"/>
          </p:cNvSpPr>
          <p:nvPr/>
        </p:nvSpPr>
        <p:spPr>
          <a:xfrm>
            <a:off x="12287250" y="26098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Service and payment side</a:t>
            </a:r>
          </a:p>
        </p:txBody>
      </p:sp>
      <p:sp>
        <p:nvSpPr>
          <p:cNvPr id="28" name="table-head-erd-service-1">
            <a:extLst>
              <a:ext uri="{FF2B5EF4-FFF2-40B4-BE49-F238E27FC236}">
                <a16:creationId xmlns:a16="http://schemas.microsoft.com/office/drawing/2014/main" id="{008251F2-7822-4BD9-B226-1ABDA669E088}"/>
              </a:ext>
            </a:extLst>
          </p:cNvPr>
          <p:cNvSpPr>
            <a:spLocks noGrp="1"/>
          </p:cNvSpPr>
          <p:nvPr/>
        </p:nvSpPr>
        <p:spPr>
          <a:xfrm>
            <a:off x="14839950" y="26098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Relationship</a:t>
            </a:r>
          </a:p>
        </p:txBody>
      </p:sp>
      <p:sp>
        <p:nvSpPr>
          <p:cNvPr id="29" name="table-rule-erd-service">
            <a:extLst>
              <a:ext uri="{FF2B5EF4-FFF2-40B4-BE49-F238E27FC236}">
                <a16:creationId xmlns:a16="http://schemas.microsoft.com/office/drawing/2014/main" id="{79FA36FA-A0F4-4744-BECD-2995095E1781}"/>
              </a:ext>
            </a:extLst>
          </p:cNvPr>
          <p:cNvSpPr>
            <a:spLocks noGrp="1"/>
          </p:cNvSpPr>
          <p:nvPr/>
        </p:nvSpPr>
        <p:spPr>
          <a:xfrm>
            <a:off x="12287250" y="2876550"/>
            <a:ext cx="50101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able-cell-erd-service-0-0">
            <a:extLst>
              <a:ext uri="{FF2B5EF4-FFF2-40B4-BE49-F238E27FC236}">
                <a16:creationId xmlns:a16="http://schemas.microsoft.com/office/drawing/2014/main" id="{AC44CF65-A822-48F9-9888-7B60C35C11F4}"/>
              </a:ext>
            </a:extLst>
          </p:cNvPr>
          <p:cNvSpPr>
            <a:spLocks noGrp="1"/>
          </p:cNvSpPr>
          <p:nvPr/>
        </p:nvSpPr>
        <p:spPr>
          <a:xfrm>
            <a:off x="12287250" y="29718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 -&gt; ReservationService</a:t>
            </a:r>
          </a:p>
        </p:txBody>
      </p:sp>
      <p:sp>
        <p:nvSpPr>
          <p:cNvPr id="31" name="table-cell-erd-service-0-1">
            <a:extLst>
              <a:ext uri="{FF2B5EF4-FFF2-40B4-BE49-F238E27FC236}">
                <a16:creationId xmlns:a16="http://schemas.microsoft.com/office/drawing/2014/main" id="{F6999072-A454-4C2A-9C5D-5893B31F33AF}"/>
              </a:ext>
            </a:extLst>
          </p:cNvPr>
          <p:cNvSpPr>
            <a:spLocks noGrp="1"/>
          </p:cNvSpPr>
          <p:nvPr/>
        </p:nvSpPr>
        <p:spPr>
          <a:xfrm>
            <a:off x="14839950" y="29718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services are charged per reservation</a:t>
            </a:r>
          </a:p>
        </p:txBody>
      </p:sp>
      <p:sp>
        <p:nvSpPr>
          <p:cNvPr id="32" name="table-cell-erd-service-1-0">
            <a:extLst>
              <a:ext uri="{FF2B5EF4-FFF2-40B4-BE49-F238E27FC236}">
                <a16:creationId xmlns:a16="http://schemas.microsoft.com/office/drawing/2014/main" id="{4F85C2EE-7461-46F6-8D4F-64C54B437FC1}"/>
              </a:ext>
            </a:extLst>
          </p:cNvPr>
          <p:cNvSpPr>
            <a:spLocks noGrp="1"/>
          </p:cNvSpPr>
          <p:nvPr/>
        </p:nvSpPr>
        <p:spPr>
          <a:xfrm>
            <a:off x="12287250" y="32385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Service -&gt; ReservationService</a:t>
            </a:r>
          </a:p>
        </p:txBody>
      </p:sp>
      <p:sp>
        <p:nvSpPr>
          <p:cNvPr id="33" name="table-cell-erd-service-1-1">
            <a:extLst>
              <a:ext uri="{FF2B5EF4-FFF2-40B4-BE49-F238E27FC236}">
                <a16:creationId xmlns:a16="http://schemas.microsoft.com/office/drawing/2014/main" id="{2CD0921F-2A90-4A5E-9F0E-06DD68E877BB}"/>
              </a:ext>
            </a:extLst>
          </p:cNvPr>
          <p:cNvSpPr>
            <a:spLocks noGrp="1"/>
          </p:cNvSpPr>
          <p:nvPr/>
        </p:nvSpPr>
        <p:spPr>
          <a:xfrm>
            <a:off x="14839950" y="32385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one service can appear in many bookings</a:t>
            </a:r>
          </a:p>
        </p:txBody>
      </p:sp>
      <p:sp>
        <p:nvSpPr>
          <p:cNvPr id="34" name="table-cell-erd-service-2-0">
            <a:extLst>
              <a:ext uri="{FF2B5EF4-FFF2-40B4-BE49-F238E27FC236}">
                <a16:creationId xmlns:a16="http://schemas.microsoft.com/office/drawing/2014/main" id="{42599ED3-0A50-4FF3-B83B-782D7416F687}"/>
              </a:ext>
            </a:extLst>
          </p:cNvPr>
          <p:cNvSpPr>
            <a:spLocks noGrp="1"/>
          </p:cNvSpPr>
          <p:nvPr/>
        </p:nvSpPr>
        <p:spPr>
          <a:xfrm>
            <a:off x="12287250" y="34861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PaymentMethod -&gt; Payment</a:t>
            </a:r>
          </a:p>
        </p:txBody>
      </p:sp>
      <p:sp>
        <p:nvSpPr>
          <p:cNvPr id="35" name="table-cell-erd-service-2-1">
            <a:extLst>
              <a:ext uri="{FF2B5EF4-FFF2-40B4-BE49-F238E27FC236}">
                <a16:creationId xmlns:a16="http://schemas.microsoft.com/office/drawing/2014/main" id="{48B2FB03-168D-433C-A03F-1DD2D7799A9F}"/>
              </a:ext>
            </a:extLst>
          </p:cNvPr>
          <p:cNvSpPr>
            <a:spLocks noGrp="1"/>
          </p:cNvSpPr>
          <p:nvPr/>
        </p:nvSpPr>
        <p:spPr>
          <a:xfrm>
            <a:off x="14839950" y="34861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one method is used by many payments</a:t>
            </a:r>
          </a:p>
        </p:txBody>
      </p:sp>
      <p:sp>
        <p:nvSpPr>
          <p:cNvPr id="36" name="table-erd-audit">
            <a:extLst>
              <a:ext uri="{FF2B5EF4-FFF2-40B4-BE49-F238E27FC236}">
                <a16:creationId xmlns:a16="http://schemas.microsoft.com/office/drawing/2014/main" id="{5A1FBA60-7BAA-4C25-9B9F-7162AB837F88}"/>
              </a:ext>
            </a:extLst>
          </p:cNvPr>
          <p:cNvSpPr>
            <a:spLocks noGrp="1"/>
          </p:cNvSpPr>
          <p:nvPr/>
        </p:nvSpPr>
        <p:spPr>
          <a:xfrm>
            <a:off x="819150" y="5815965"/>
            <a:ext cx="5359400" cy="3518535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able-head-erd-audit-0">
            <a:extLst>
              <a:ext uri="{FF2B5EF4-FFF2-40B4-BE49-F238E27FC236}">
                <a16:creationId xmlns:a16="http://schemas.microsoft.com/office/drawing/2014/main" id="{6BF103B1-524E-4A39-BE85-201549F02E71}"/>
              </a:ext>
            </a:extLst>
          </p:cNvPr>
          <p:cNvSpPr>
            <a:spLocks noGrp="1"/>
          </p:cNvSpPr>
          <p:nvPr/>
        </p:nvSpPr>
        <p:spPr>
          <a:xfrm>
            <a:off x="990600" y="5962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Control relationship</a:t>
            </a:r>
          </a:p>
        </p:txBody>
      </p:sp>
      <p:sp>
        <p:nvSpPr>
          <p:cNvPr id="38" name="table-head-erd-audit-1">
            <a:extLst>
              <a:ext uri="{FF2B5EF4-FFF2-40B4-BE49-F238E27FC236}">
                <a16:creationId xmlns:a16="http://schemas.microsoft.com/office/drawing/2014/main" id="{616DFEA3-B23A-4792-87C7-6F5F093D744A}"/>
              </a:ext>
            </a:extLst>
          </p:cNvPr>
          <p:cNvSpPr>
            <a:spLocks noGrp="1"/>
          </p:cNvSpPr>
          <p:nvPr/>
        </p:nvSpPr>
        <p:spPr>
          <a:xfrm>
            <a:off x="3562350" y="5962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Why it exists</a:t>
            </a:r>
          </a:p>
        </p:txBody>
      </p:sp>
      <p:sp>
        <p:nvSpPr>
          <p:cNvPr id="39" name="table-rule-erd-audit">
            <a:extLst>
              <a:ext uri="{FF2B5EF4-FFF2-40B4-BE49-F238E27FC236}">
                <a16:creationId xmlns:a16="http://schemas.microsoft.com/office/drawing/2014/main" id="{8BE88279-847A-4396-A9E3-015C2FD7C787}"/>
              </a:ext>
            </a:extLst>
          </p:cNvPr>
          <p:cNvSpPr>
            <a:spLocks noGrp="1"/>
          </p:cNvSpPr>
          <p:nvPr/>
        </p:nvSpPr>
        <p:spPr>
          <a:xfrm>
            <a:off x="990600" y="6229350"/>
            <a:ext cx="50101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able-cell-erd-audit-0-0">
            <a:extLst>
              <a:ext uri="{FF2B5EF4-FFF2-40B4-BE49-F238E27FC236}">
                <a16:creationId xmlns:a16="http://schemas.microsoft.com/office/drawing/2014/main" id="{C6BDB639-87FE-48B4-8EF0-EDF2DE9C9F72}"/>
              </a:ext>
            </a:extLst>
          </p:cNvPr>
          <p:cNvSpPr>
            <a:spLocks noGrp="1"/>
          </p:cNvSpPr>
          <p:nvPr/>
        </p:nvSpPr>
        <p:spPr>
          <a:xfrm>
            <a:off x="990600" y="6343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 -&gt; Payment</a:t>
            </a:r>
          </a:p>
        </p:txBody>
      </p:sp>
      <p:sp>
        <p:nvSpPr>
          <p:cNvPr id="41" name="table-cell-erd-audit-0-1">
            <a:extLst>
              <a:ext uri="{FF2B5EF4-FFF2-40B4-BE49-F238E27FC236}">
                <a16:creationId xmlns:a16="http://schemas.microsoft.com/office/drawing/2014/main" id="{158DCA69-5E94-4D70-81E7-4FEEF9FA35C6}"/>
              </a:ext>
            </a:extLst>
          </p:cNvPr>
          <p:cNvSpPr>
            <a:spLocks noGrp="1"/>
          </p:cNvSpPr>
          <p:nvPr/>
        </p:nvSpPr>
        <p:spPr>
          <a:xfrm>
            <a:off x="3562350" y="6343650"/>
            <a:ext cx="2457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a reservation receives one or more payment records</a:t>
            </a:r>
          </a:p>
        </p:txBody>
      </p:sp>
      <p:sp>
        <p:nvSpPr>
          <p:cNvPr id="42" name="table-cell-erd-audit-1-0">
            <a:extLst>
              <a:ext uri="{FF2B5EF4-FFF2-40B4-BE49-F238E27FC236}">
                <a16:creationId xmlns:a16="http://schemas.microsoft.com/office/drawing/2014/main" id="{211F5E23-E7E6-4708-B3DE-22D1D94CB1AC}"/>
              </a:ext>
            </a:extLst>
          </p:cNvPr>
          <p:cNvSpPr>
            <a:spLocks noGrp="1"/>
          </p:cNvSpPr>
          <p:nvPr/>
        </p:nvSpPr>
        <p:spPr>
          <a:xfrm>
            <a:off x="990600" y="67627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 -&gt; AuditLog</a:t>
            </a:r>
          </a:p>
        </p:txBody>
      </p:sp>
      <p:sp>
        <p:nvSpPr>
          <p:cNvPr id="43" name="table-cell-erd-audit-1-1">
            <a:extLst>
              <a:ext uri="{FF2B5EF4-FFF2-40B4-BE49-F238E27FC236}">
                <a16:creationId xmlns:a16="http://schemas.microsoft.com/office/drawing/2014/main" id="{D36105D2-4079-4ABF-8CF0-276EE98BE662}"/>
              </a:ext>
            </a:extLst>
          </p:cNvPr>
          <p:cNvSpPr>
            <a:spLocks noGrp="1"/>
          </p:cNvSpPr>
          <p:nvPr/>
        </p:nvSpPr>
        <p:spPr>
          <a:xfrm>
            <a:off x="3562350" y="67627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reservation events can be audited</a:t>
            </a:r>
          </a:p>
        </p:txBody>
      </p:sp>
      <p:sp>
        <p:nvSpPr>
          <p:cNvPr id="44" name="table-cell-erd-audit-2-0">
            <a:extLst>
              <a:ext uri="{FF2B5EF4-FFF2-40B4-BE49-F238E27FC236}">
                <a16:creationId xmlns:a16="http://schemas.microsoft.com/office/drawing/2014/main" id="{D1CFD9E9-B5ED-4D9E-A429-E862F9A2D83C}"/>
              </a:ext>
            </a:extLst>
          </p:cNvPr>
          <p:cNvSpPr>
            <a:spLocks noGrp="1"/>
          </p:cNvSpPr>
          <p:nvPr/>
        </p:nvSpPr>
        <p:spPr>
          <a:xfrm>
            <a:off x="990600" y="70104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ReservationRoom -&gt; AuditLog</a:t>
            </a:r>
          </a:p>
        </p:txBody>
      </p:sp>
      <p:sp>
        <p:nvSpPr>
          <p:cNvPr id="45" name="table-cell-erd-audit-2-1">
            <a:extLst>
              <a:ext uri="{FF2B5EF4-FFF2-40B4-BE49-F238E27FC236}">
                <a16:creationId xmlns:a16="http://schemas.microsoft.com/office/drawing/2014/main" id="{EE5DDA51-526C-4EC0-930D-8E075405CE53}"/>
              </a:ext>
            </a:extLst>
          </p:cNvPr>
          <p:cNvSpPr>
            <a:spLocks noGrp="1"/>
          </p:cNvSpPr>
          <p:nvPr/>
        </p:nvSpPr>
        <p:spPr>
          <a:xfrm>
            <a:off x="3562350" y="7010400"/>
            <a:ext cx="2457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room assignment insert/update/delete is logged</a:t>
            </a:r>
          </a:p>
        </p:txBody>
      </p:sp>
      <p:sp>
        <p:nvSpPr>
          <p:cNvPr id="46" name="table-erd-bridges">
            <a:extLst>
              <a:ext uri="{FF2B5EF4-FFF2-40B4-BE49-F238E27FC236}">
                <a16:creationId xmlns:a16="http://schemas.microsoft.com/office/drawing/2014/main" id="{28E52C42-151A-43C2-A1AE-207FD00B85A7}"/>
              </a:ext>
            </a:extLst>
          </p:cNvPr>
          <p:cNvSpPr>
            <a:spLocks noGrp="1"/>
          </p:cNvSpPr>
          <p:nvPr/>
        </p:nvSpPr>
        <p:spPr>
          <a:xfrm>
            <a:off x="6464300" y="5815965"/>
            <a:ext cx="5359400" cy="3518535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able-head-erd-bridges-0">
            <a:extLst>
              <a:ext uri="{FF2B5EF4-FFF2-40B4-BE49-F238E27FC236}">
                <a16:creationId xmlns:a16="http://schemas.microsoft.com/office/drawing/2014/main" id="{82CC180A-2E9D-49D0-BE1B-C830E78EE03F}"/>
              </a:ext>
            </a:extLst>
          </p:cNvPr>
          <p:cNvSpPr>
            <a:spLocks noGrp="1"/>
          </p:cNvSpPr>
          <p:nvPr/>
        </p:nvSpPr>
        <p:spPr>
          <a:xfrm>
            <a:off x="6629400" y="5962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48C82"/>
                </a:solidFill>
              </a:defRPr>
            </a:pPr>
            <a:r>
              <a:rPr sz="1125" b="1">
                <a:solidFill>
                  <a:srgbClr val="148C82"/>
                </a:solidFill>
              </a:rPr>
              <a:t>Bridge table</a:t>
            </a:r>
          </a:p>
        </p:txBody>
      </p:sp>
      <p:sp>
        <p:nvSpPr>
          <p:cNvPr id="48" name="table-head-erd-bridges-1">
            <a:extLst>
              <a:ext uri="{FF2B5EF4-FFF2-40B4-BE49-F238E27FC236}">
                <a16:creationId xmlns:a16="http://schemas.microsoft.com/office/drawing/2014/main" id="{1F09B317-41D2-4117-9630-23C78EDAEB74}"/>
              </a:ext>
            </a:extLst>
          </p:cNvPr>
          <p:cNvSpPr>
            <a:spLocks noGrp="1"/>
          </p:cNvSpPr>
          <p:nvPr/>
        </p:nvSpPr>
        <p:spPr>
          <a:xfrm>
            <a:off x="9201150" y="5962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48C82"/>
                </a:solidFill>
              </a:defRPr>
            </a:pPr>
            <a:r>
              <a:rPr sz="1125" b="1">
                <a:solidFill>
                  <a:srgbClr val="148C82"/>
                </a:solidFill>
              </a:rPr>
              <a:t>Why the bridge is necessary</a:t>
            </a:r>
          </a:p>
        </p:txBody>
      </p:sp>
      <p:sp>
        <p:nvSpPr>
          <p:cNvPr id="49" name="table-rule-erd-bridges">
            <a:extLst>
              <a:ext uri="{FF2B5EF4-FFF2-40B4-BE49-F238E27FC236}">
                <a16:creationId xmlns:a16="http://schemas.microsoft.com/office/drawing/2014/main" id="{A9549A98-3113-40C0-BC02-1653D40405C6}"/>
              </a:ext>
            </a:extLst>
          </p:cNvPr>
          <p:cNvSpPr>
            <a:spLocks noGrp="1"/>
          </p:cNvSpPr>
          <p:nvPr/>
        </p:nvSpPr>
        <p:spPr>
          <a:xfrm>
            <a:off x="6629400" y="6229350"/>
            <a:ext cx="50101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able-cell-erd-bridges-0-0">
            <a:extLst>
              <a:ext uri="{FF2B5EF4-FFF2-40B4-BE49-F238E27FC236}">
                <a16:creationId xmlns:a16="http://schemas.microsoft.com/office/drawing/2014/main" id="{8D879C97-E2F4-4DA9-A357-7A6FC14F363F}"/>
              </a:ext>
            </a:extLst>
          </p:cNvPr>
          <p:cNvSpPr>
            <a:spLocks noGrp="1"/>
          </p:cNvSpPr>
          <p:nvPr/>
        </p:nvSpPr>
        <p:spPr>
          <a:xfrm>
            <a:off x="6629400" y="6343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ReservationRoom</a:t>
            </a:r>
          </a:p>
        </p:txBody>
      </p:sp>
      <p:sp>
        <p:nvSpPr>
          <p:cNvPr id="51" name="table-cell-erd-bridges-0-1">
            <a:extLst>
              <a:ext uri="{FF2B5EF4-FFF2-40B4-BE49-F238E27FC236}">
                <a16:creationId xmlns:a16="http://schemas.microsoft.com/office/drawing/2014/main" id="{22EFADCC-4420-46D2-B184-0A1307DC8173}"/>
              </a:ext>
            </a:extLst>
          </p:cNvPr>
          <p:cNvSpPr>
            <a:spLocks noGrp="1"/>
          </p:cNvSpPr>
          <p:nvPr/>
        </p:nvSpPr>
        <p:spPr>
          <a:xfrm>
            <a:off x="9201150" y="6343650"/>
            <a:ext cx="2457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supports multiple rooms per reservation and repeated room use across non-overlapping dates</a:t>
            </a:r>
          </a:p>
        </p:txBody>
      </p:sp>
      <p:sp>
        <p:nvSpPr>
          <p:cNvPr id="52" name="table-cell-erd-bridges-1-0">
            <a:extLst>
              <a:ext uri="{FF2B5EF4-FFF2-40B4-BE49-F238E27FC236}">
                <a16:creationId xmlns:a16="http://schemas.microsoft.com/office/drawing/2014/main" id="{174EB804-A5CD-4405-9CAE-60DBE35A04D9}"/>
              </a:ext>
            </a:extLst>
          </p:cNvPr>
          <p:cNvSpPr>
            <a:spLocks noGrp="1"/>
          </p:cNvSpPr>
          <p:nvPr/>
        </p:nvSpPr>
        <p:spPr>
          <a:xfrm>
            <a:off x="6629400" y="69151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ReservationService</a:t>
            </a:r>
          </a:p>
        </p:txBody>
      </p:sp>
      <p:sp>
        <p:nvSpPr>
          <p:cNvPr id="53" name="table-cell-erd-bridges-1-1">
            <a:extLst>
              <a:ext uri="{FF2B5EF4-FFF2-40B4-BE49-F238E27FC236}">
                <a16:creationId xmlns:a16="http://schemas.microsoft.com/office/drawing/2014/main" id="{E4DAC62D-EA94-44CF-AB70-27A47E6076EC}"/>
              </a:ext>
            </a:extLst>
          </p:cNvPr>
          <p:cNvSpPr>
            <a:spLocks noGrp="1"/>
          </p:cNvSpPr>
          <p:nvPr/>
        </p:nvSpPr>
        <p:spPr>
          <a:xfrm>
            <a:off x="9201150" y="6915150"/>
            <a:ext cx="2457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supports multiple services per reservation with Quantity, ChargedPrice, and ServiceDate</a:t>
            </a:r>
          </a:p>
        </p:txBody>
      </p:sp>
      <p:sp>
        <p:nvSpPr>
          <p:cNvPr id="54" name="table-erd-source">
            <a:extLst>
              <a:ext uri="{FF2B5EF4-FFF2-40B4-BE49-F238E27FC236}">
                <a16:creationId xmlns:a16="http://schemas.microsoft.com/office/drawing/2014/main" id="{44ECE005-C40A-4EF2-AF32-524414B7C039}"/>
              </a:ext>
            </a:extLst>
          </p:cNvPr>
          <p:cNvSpPr>
            <a:spLocks noGrp="1"/>
          </p:cNvSpPr>
          <p:nvPr/>
        </p:nvSpPr>
        <p:spPr>
          <a:xfrm>
            <a:off x="12109450" y="5815965"/>
            <a:ext cx="5359400" cy="3518535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able-head-erd-source-0">
            <a:extLst>
              <a:ext uri="{FF2B5EF4-FFF2-40B4-BE49-F238E27FC236}">
                <a16:creationId xmlns:a16="http://schemas.microsoft.com/office/drawing/2014/main" id="{A0F89C9E-B3C9-458D-8E3D-27D0B50ADE16}"/>
              </a:ext>
            </a:extLst>
          </p:cNvPr>
          <p:cNvSpPr>
            <a:spLocks noGrp="1"/>
          </p:cNvSpPr>
          <p:nvPr/>
        </p:nvSpPr>
        <p:spPr>
          <a:xfrm>
            <a:off x="12287250" y="5962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D5BA6"/>
                </a:solidFill>
              </a:defRPr>
            </a:pPr>
            <a:r>
              <a:rPr sz="1125" b="1">
                <a:solidFill>
                  <a:srgbClr val="6D5BA6"/>
                </a:solidFill>
              </a:rPr>
              <a:t>Accuracy note</a:t>
            </a:r>
          </a:p>
        </p:txBody>
      </p:sp>
      <p:sp>
        <p:nvSpPr>
          <p:cNvPr id="56" name="table-head-erd-source-1">
            <a:extLst>
              <a:ext uri="{FF2B5EF4-FFF2-40B4-BE49-F238E27FC236}">
                <a16:creationId xmlns:a16="http://schemas.microsoft.com/office/drawing/2014/main" id="{46741BEF-C354-4F4F-8D3B-1C3D089DE74F}"/>
              </a:ext>
            </a:extLst>
          </p:cNvPr>
          <p:cNvSpPr>
            <a:spLocks noGrp="1"/>
          </p:cNvSpPr>
          <p:nvPr/>
        </p:nvSpPr>
        <p:spPr>
          <a:xfrm>
            <a:off x="14839950" y="5962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D5BA6"/>
                </a:solidFill>
              </a:defRPr>
            </a:pPr>
            <a:r>
              <a:rPr sz="1125" b="1">
                <a:solidFill>
                  <a:srgbClr val="6D5BA6"/>
                </a:solidFill>
              </a:rPr>
              <a:t>Deck treatment</a:t>
            </a:r>
          </a:p>
        </p:txBody>
      </p:sp>
      <p:sp>
        <p:nvSpPr>
          <p:cNvPr id="57" name="table-rule-erd-source">
            <a:extLst>
              <a:ext uri="{FF2B5EF4-FFF2-40B4-BE49-F238E27FC236}">
                <a16:creationId xmlns:a16="http://schemas.microsoft.com/office/drawing/2014/main" id="{07CA243D-2CD3-4A76-B771-E8C5104278F9}"/>
              </a:ext>
            </a:extLst>
          </p:cNvPr>
          <p:cNvSpPr>
            <a:spLocks noGrp="1"/>
          </p:cNvSpPr>
          <p:nvPr/>
        </p:nvSpPr>
        <p:spPr>
          <a:xfrm>
            <a:off x="12287250" y="6229350"/>
            <a:ext cx="50101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able-cell-erd-source-0-0">
            <a:extLst>
              <a:ext uri="{FF2B5EF4-FFF2-40B4-BE49-F238E27FC236}">
                <a16:creationId xmlns:a16="http://schemas.microsoft.com/office/drawing/2014/main" id="{7B1E480E-B78D-4E20-8D0C-6214FBB4B471}"/>
              </a:ext>
            </a:extLst>
          </p:cNvPr>
          <p:cNvSpPr>
            <a:spLocks noGrp="1"/>
          </p:cNvSpPr>
          <p:nvPr/>
        </p:nvSpPr>
        <p:spPr>
          <a:xfrm>
            <a:off x="12287250" y="6343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ERD summary</a:t>
            </a:r>
          </a:p>
        </p:txBody>
      </p:sp>
      <p:sp>
        <p:nvSpPr>
          <p:cNvPr id="59" name="table-cell-erd-source-0-1">
            <a:extLst>
              <a:ext uri="{FF2B5EF4-FFF2-40B4-BE49-F238E27FC236}">
                <a16:creationId xmlns:a16="http://schemas.microsoft.com/office/drawing/2014/main" id="{9923862C-B12C-4A8E-A6BC-7195B4CCEF98}"/>
              </a:ext>
            </a:extLst>
          </p:cNvPr>
          <p:cNvSpPr>
            <a:spLocks noGrp="1"/>
          </p:cNvSpPr>
          <p:nvPr/>
        </p:nvSpPr>
        <p:spPr>
          <a:xfrm>
            <a:off x="14839950" y="63436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shows key entities and cardinalities</a:t>
            </a:r>
          </a:p>
        </p:txBody>
      </p:sp>
      <p:sp>
        <p:nvSpPr>
          <p:cNvPr id="60" name="table-cell-erd-source-1-0">
            <a:extLst>
              <a:ext uri="{FF2B5EF4-FFF2-40B4-BE49-F238E27FC236}">
                <a16:creationId xmlns:a16="http://schemas.microsoft.com/office/drawing/2014/main" id="{33322FB0-9B30-47A9-9A15-37F2EAA2D84F}"/>
              </a:ext>
            </a:extLst>
          </p:cNvPr>
          <p:cNvSpPr>
            <a:spLocks noGrp="1"/>
          </p:cNvSpPr>
          <p:nvPr/>
        </p:nvSpPr>
        <p:spPr>
          <a:xfrm>
            <a:off x="12287250" y="65913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DDL authority</a:t>
            </a:r>
          </a:p>
        </p:txBody>
      </p:sp>
      <p:sp>
        <p:nvSpPr>
          <p:cNvPr id="61" name="table-cell-erd-source-1-1">
            <a:extLst>
              <a:ext uri="{FF2B5EF4-FFF2-40B4-BE49-F238E27FC236}">
                <a16:creationId xmlns:a16="http://schemas.microsoft.com/office/drawing/2014/main" id="{1C017576-505C-48DB-B68C-31EA467D84A0}"/>
              </a:ext>
            </a:extLst>
          </p:cNvPr>
          <p:cNvSpPr>
            <a:spLocks noGrp="1"/>
          </p:cNvSpPr>
          <p:nvPr/>
        </p:nvSpPr>
        <p:spPr>
          <a:xfrm>
            <a:off x="14839950" y="6591300"/>
            <a:ext cx="2457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uses actual columns such as AddressLine, BookingDate, AssignedRate, ChargedPrice, ReferenceNo, ActionBy</a:t>
            </a:r>
          </a:p>
        </p:txBody>
      </p:sp>
      <p:sp>
        <p:nvSpPr>
          <p:cNvPr id="62" name="source-footer">
            <a:extLst>
              <a:ext uri="{FF2B5EF4-FFF2-40B4-BE49-F238E27FC236}">
                <a16:creationId xmlns:a16="http://schemas.microsoft.com/office/drawing/2014/main" id="{F58C2456-0BD3-4AF8-BF9E-6FF9FC03015B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63" name="slide-number">
            <a:extLst>
              <a:ext uri="{FF2B5EF4-FFF2-40B4-BE49-F238E27FC236}">
                <a16:creationId xmlns:a16="http://schemas.microsoft.com/office/drawing/2014/main" id="{0BAE2E5F-7543-48F9-BB64-F11B45A93E24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620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background">
            <a:extLst>
              <a:ext uri="{FF2B5EF4-FFF2-40B4-BE49-F238E27FC236}">
                <a16:creationId xmlns:a16="http://schemas.microsoft.com/office/drawing/2014/main" id="{647D7C63-D7C8-4CC1-A6D6-CD2479092B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48670E1C-FE48-44A6-A0A3-75FDFA2BB7BF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B45332"/>
          </a:solidFill>
          <a:ln w="0">
            <a:solidFill>
              <a:srgbClr val="B45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D0B43008-4C5C-4072-8419-27ABEFF3B971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A3FC6781-8B49-46C8-91EB-9D55320C08E1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Architecture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46FD94CD-DE51-4959-9A68-91002310E4B2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0953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 dirty="0">
                <a:solidFill>
                  <a:srgbClr val="52606D"/>
                </a:solidFill>
              </a:rPr>
              <a:t>The design separates stable reference data from transactional facts,</a:t>
            </a:r>
            <a:r>
              <a:rPr lang="en-US" sz="1800" dirty="0">
                <a:solidFill>
                  <a:srgbClr val="52606D"/>
                </a:solidFill>
              </a:rPr>
              <a:t> and</a:t>
            </a:r>
            <a:r>
              <a:rPr sz="1800" dirty="0">
                <a:solidFill>
                  <a:srgbClr val="52606D"/>
                </a:solidFill>
              </a:rPr>
              <a:t> </a:t>
            </a:r>
            <a:r>
              <a:rPr lang="en-US" sz="1800" dirty="0">
                <a:solidFill>
                  <a:srgbClr val="52606D"/>
                </a:solidFill>
              </a:rPr>
              <a:t>add </a:t>
            </a:r>
            <a:r>
              <a:rPr sz="1800" dirty="0">
                <a:solidFill>
                  <a:srgbClr val="52606D"/>
                </a:solidFill>
              </a:rPr>
              <a:t>safety logic around them.</a:t>
            </a:r>
          </a:p>
        </p:txBody>
      </p:sp>
      <p:sp>
        <p:nvSpPr>
          <p:cNvPr id="6" name="flow-mark-Set up hotel inventory">
            <a:extLst>
              <a:ext uri="{FF2B5EF4-FFF2-40B4-BE49-F238E27FC236}">
                <a16:creationId xmlns:a16="http://schemas.microsoft.com/office/drawing/2014/main" id="{ACD4A47C-D490-43EC-B55F-8A495AE9C09B}"/>
              </a:ext>
            </a:extLst>
          </p:cNvPr>
          <p:cNvSpPr>
            <a:spLocks noGrp="1"/>
          </p:cNvSpPr>
          <p:nvPr/>
        </p:nvSpPr>
        <p:spPr>
          <a:xfrm>
            <a:off x="838200" y="2215944"/>
            <a:ext cx="419100" cy="95250"/>
          </a:xfrm>
          <a:prstGeom prst="roundRect">
            <a:avLst>
              <a:gd name="adj" fmla="val 50000"/>
            </a:avLst>
          </a:prstGeom>
          <a:solidFill>
            <a:srgbClr val="0B6B5B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flow-label-Set up hotel inventory">
            <a:extLst>
              <a:ext uri="{FF2B5EF4-FFF2-40B4-BE49-F238E27FC236}">
                <a16:creationId xmlns:a16="http://schemas.microsoft.com/office/drawing/2014/main" id="{02D0C9D3-DAC6-4294-9095-7789A5B1FEA5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2514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Set up hotel inventory</a:t>
            </a:r>
          </a:p>
        </p:txBody>
      </p:sp>
      <p:sp>
        <p:nvSpPr>
          <p:cNvPr id="8" name="flow-note-Set up hotel inventory">
            <a:extLst>
              <a:ext uri="{FF2B5EF4-FFF2-40B4-BE49-F238E27FC236}">
                <a16:creationId xmlns:a16="http://schemas.microsoft.com/office/drawing/2014/main" id="{B81AC74F-6791-491C-A040-10D5C4768B6A}"/>
              </a:ext>
            </a:extLst>
          </p:cNvPr>
          <p:cNvSpPr>
            <a:spLocks noGrp="1"/>
          </p:cNvSpPr>
          <p:nvPr/>
        </p:nvSpPr>
        <p:spPr>
          <a:xfrm>
            <a:off x="819150" y="2705100"/>
            <a:ext cx="1638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Hotel, RoomCategory, Room</a:t>
            </a:r>
          </a:p>
        </p:txBody>
      </p:sp>
      <p:sp>
        <p:nvSpPr>
          <p:cNvPr id="9" name="flow-mark-Register people">
            <a:extLst>
              <a:ext uri="{FF2B5EF4-FFF2-40B4-BE49-F238E27FC236}">
                <a16:creationId xmlns:a16="http://schemas.microsoft.com/office/drawing/2014/main" id="{F0589DBE-0633-4808-AD06-3044DCFAD10B}"/>
              </a:ext>
            </a:extLst>
          </p:cNvPr>
          <p:cNvSpPr>
            <a:spLocks noGrp="1"/>
          </p:cNvSpPr>
          <p:nvPr/>
        </p:nvSpPr>
        <p:spPr>
          <a:xfrm>
            <a:off x="3657600" y="21717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6D5BA6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flow-label-Register people">
            <a:extLst>
              <a:ext uri="{FF2B5EF4-FFF2-40B4-BE49-F238E27FC236}">
                <a16:creationId xmlns:a16="http://schemas.microsoft.com/office/drawing/2014/main" id="{D680175C-F66B-4A84-BC69-8A07E6396D01}"/>
              </a:ext>
            </a:extLst>
          </p:cNvPr>
          <p:cNvSpPr>
            <a:spLocks noGrp="1"/>
          </p:cNvSpPr>
          <p:nvPr/>
        </p:nvSpPr>
        <p:spPr>
          <a:xfrm>
            <a:off x="3657600" y="2343150"/>
            <a:ext cx="2514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Register people</a:t>
            </a:r>
          </a:p>
        </p:txBody>
      </p:sp>
      <p:sp>
        <p:nvSpPr>
          <p:cNvPr id="11" name="flow-note-Register people">
            <a:extLst>
              <a:ext uri="{FF2B5EF4-FFF2-40B4-BE49-F238E27FC236}">
                <a16:creationId xmlns:a16="http://schemas.microsoft.com/office/drawing/2014/main" id="{B1067B1B-88B4-4DF5-8F37-C54C5FAE5061}"/>
              </a:ext>
            </a:extLst>
          </p:cNvPr>
          <p:cNvSpPr>
            <a:spLocks noGrp="1"/>
          </p:cNvSpPr>
          <p:nvPr/>
        </p:nvSpPr>
        <p:spPr>
          <a:xfrm>
            <a:off x="3657600" y="2705100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Customer, Staff</a:t>
            </a:r>
          </a:p>
        </p:txBody>
      </p:sp>
      <p:sp>
        <p:nvSpPr>
          <p:cNvPr id="12" name="flow-mark-Create reservation">
            <a:extLst>
              <a:ext uri="{FF2B5EF4-FFF2-40B4-BE49-F238E27FC236}">
                <a16:creationId xmlns:a16="http://schemas.microsoft.com/office/drawing/2014/main" id="{07A4C691-3CBE-492E-89C4-4F9230670F82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B45332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flow-label-Create reservation">
            <a:extLst>
              <a:ext uri="{FF2B5EF4-FFF2-40B4-BE49-F238E27FC236}">
                <a16:creationId xmlns:a16="http://schemas.microsoft.com/office/drawing/2014/main" id="{D1FC87DF-983B-433C-BDBA-B0BD9268E5A4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2514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Create reservation</a:t>
            </a:r>
          </a:p>
        </p:txBody>
      </p:sp>
      <p:sp>
        <p:nvSpPr>
          <p:cNvPr id="14" name="flow-note-Create reservation">
            <a:extLst>
              <a:ext uri="{FF2B5EF4-FFF2-40B4-BE49-F238E27FC236}">
                <a16:creationId xmlns:a16="http://schemas.microsoft.com/office/drawing/2014/main" id="{DA3A5FCF-B307-4EBE-B581-A46AD54A2E00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2019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Reservation plus ReservationRoom</a:t>
            </a:r>
          </a:p>
        </p:txBody>
      </p:sp>
      <p:sp>
        <p:nvSpPr>
          <p:cNvPr id="15" name="flow-mark-Add services">
            <a:extLst>
              <a:ext uri="{FF2B5EF4-FFF2-40B4-BE49-F238E27FC236}">
                <a16:creationId xmlns:a16="http://schemas.microsoft.com/office/drawing/2014/main" id="{3090DC40-AEDD-43B4-AA88-B8850AA9EDA1}"/>
              </a:ext>
            </a:extLst>
          </p:cNvPr>
          <p:cNvSpPr>
            <a:spLocks noGrp="1"/>
          </p:cNvSpPr>
          <p:nvPr/>
        </p:nvSpPr>
        <p:spPr>
          <a:xfrm>
            <a:off x="9296400" y="21717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2563A7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flow-label-Add services">
            <a:extLst>
              <a:ext uri="{FF2B5EF4-FFF2-40B4-BE49-F238E27FC236}">
                <a16:creationId xmlns:a16="http://schemas.microsoft.com/office/drawing/2014/main" id="{60579F3C-5316-4E32-A73C-7BE97F55FB50}"/>
              </a:ext>
            </a:extLst>
          </p:cNvPr>
          <p:cNvSpPr>
            <a:spLocks noGrp="1"/>
          </p:cNvSpPr>
          <p:nvPr/>
        </p:nvSpPr>
        <p:spPr>
          <a:xfrm>
            <a:off x="9315450" y="2343150"/>
            <a:ext cx="2514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Add services</a:t>
            </a:r>
          </a:p>
        </p:txBody>
      </p:sp>
      <p:sp>
        <p:nvSpPr>
          <p:cNvPr id="17" name="flow-note-Add services">
            <a:extLst>
              <a:ext uri="{FF2B5EF4-FFF2-40B4-BE49-F238E27FC236}">
                <a16:creationId xmlns:a16="http://schemas.microsoft.com/office/drawing/2014/main" id="{EF8E5103-B934-47F5-90AF-63220AFBBA9F}"/>
              </a:ext>
            </a:extLst>
          </p:cNvPr>
          <p:cNvSpPr>
            <a:spLocks noGrp="1"/>
          </p:cNvSpPr>
          <p:nvPr/>
        </p:nvSpPr>
        <p:spPr>
          <a:xfrm>
            <a:off x="9315450" y="2705100"/>
            <a:ext cx="1828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Service plus ReservationService</a:t>
            </a:r>
          </a:p>
        </p:txBody>
      </p:sp>
      <p:sp>
        <p:nvSpPr>
          <p:cNvPr id="18" name="flow-mark-Receive payment">
            <a:extLst>
              <a:ext uri="{FF2B5EF4-FFF2-40B4-BE49-F238E27FC236}">
                <a16:creationId xmlns:a16="http://schemas.microsoft.com/office/drawing/2014/main" id="{00FBFAB2-CF38-40C6-8733-E0D4A00BD803}"/>
              </a:ext>
            </a:extLst>
          </p:cNvPr>
          <p:cNvSpPr>
            <a:spLocks noGrp="1"/>
          </p:cNvSpPr>
          <p:nvPr/>
        </p:nvSpPr>
        <p:spPr>
          <a:xfrm>
            <a:off x="12153900" y="21717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C78A28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flow-label-Receive payment">
            <a:extLst>
              <a:ext uri="{FF2B5EF4-FFF2-40B4-BE49-F238E27FC236}">
                <a16:creationId xmlns:a16="http://schemas.microsoft.com/office/drawing/2014/main" id="{FD5796F8-61CF-42B0-A0C3-FE78BEAB951E}"/>
              </a:ext>
            </a:extLst>
          </p:cNvPr>
          <p:cNvSpPr>
            <a:spLocks noGrp="1"/>
          </p:cNvSpPr>
          <p:nvPr/>
        </p:nvSpPr>
        <p:spPr>
          <a:xfrm>
            <a:off x="12134850" y="2343150"/>
            <a:ext cx="2514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Receive payment</a:t>
            </a:r>
          </a:p>
        </p:txBody>
      </p:sp>
      <p:sp>
        <p:nvSpPr>
          <p:cNvPr id="20" name="flow-note-Receive payment">
            <a:extLst>
              <a:ext uri="{FF2B5EF4-FFF2-40B4-BE49-F238E27FC236}">
                <a16:creationId xmlns:a16="http://schemas.microsoft.com/office/drawing/2014/main" id="{C8AFEAB9-42E9-4E2F-83A8-FE1BB06F7984}"/>
              </a:ext>
            </a:extLst>
          </p:cNvPr>
          <p:cNvSpPr>
            <a:spLocks noGrp="1"/>
          </p:cNvSpPr>
          <p:nvPr/>
        </p:nvSpPr>
        <p:spPr>
          <a:xfrm>
            <a:off x="12134850" y="2705100"/>
            <a:ext cx="1790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PaymentMethod plus Payment</a:t>
            </a:r>
          </a:p>
        </p:txBody>
      </p:sp>
      <p:sp>
        <p:nvSpPr>
          <p:cNvPr id="21" name="flow-mark-Record changes">
            <a:extLst>
              <a:ext uri="{FF2B5EF4-FFF2-40B4-BE49-F238E27FC236}">
                <a16:creationId xmlns:a16="http://schemas.microsoft.com/office/drawing/2014/main" id="{46B7C487-752B-454E-A717-E9820BC360DA}"/>
              </a:ext>
            </a:extLst>
          </p:cNvPr>
          <p:cNvSpPr>
            <a:spLocks noGrp="1"/>
          </p:cNvSpPr>
          <p:nvPr/>
        </p:nvSpPr>
        <p:spPr>
          <a:xfrm>
            <a:off x="14973300" y="21717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148C82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flow-label-Record changes">
            <a:extLst>
              <a:ext uri="{FF2B5EF4-FFF2-40B4-BE49-F238E27FC236}">
                <a16:creationId xmlns:a16="http://schemas.microsoft.com/office/drawing/2014/main" id="{568A3E15-FAA4-464E-B4BF-FBDF58B58C5A}"/>
              </a:ext>
            </a:extLst>
          </p:cNvPr>
          <p:cNvSpPr>
            <a:spLocks noGrp="1"/>
          </p:cNvSpPr>
          <p:nvPr/>
        </p:nvSpPr>
        <p:spPr>
          <a:xfrm>
            <a:off x="14973300" y="2343150"/>
            <a:ext cx="2514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Record changes</a:t>
            </a:r>
          </a:p>
        </p:txBody>
      </p:sp>
      <p:sp>
        <p:nvSpPr>
          <p:cNvPr id="23" name="flow-note-Record changes">
            <a:extLst>
              <a:ext uri="{FF2B5EF4-FFF2-40B4-BE49-F238E27FC236}">
                <a16:creationId xmlns:a16="http://schemas.microsoft.com/office/drawing/2014/main" id="{083C7E26-B9DE-44EA-9461-B8FDFC59F2F5}"/>
              </a:ext>
            </a:extLst>
          </p:cNvPr>
          <p:cNvSpPr>
            <a:spLocks noGrp="1"/>
          </p:cNvSpPr>
          <p:nvPr/>
        </p:nvSpPr>
        <p:spPr>
          <a:xfrm>
            <a:off x="14973300" y="2705100"/>
            <a:ext cx="1295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AuditLog from triggers</a:t>
            </a:r>
          </a:p>
        </p:txBody>
      </p:sp>
      <p:sp>
        <p:nvSpPr>
          <p:cNvPr id="24" name="table-masters">
            <a:extLst>
              <a:ext uri="{FF2B5EF4-FFF2-40B4-BE49-F238E27FC236}">
                <a16:creationId xmlns:a16="http://schemas.microsoft.com/office/drawing/2014/main" id="{97988741-BE8C-43C1-8238-8B7AF035D753}"/>
              </a:ext>
            </a:extLst>
          </p:cNvPr>
          <p:cNvSpPr>
            <a:spLocks noGrp="1"/>
          </p:cNvSpPr>
          <p:nvPr/>
        </p:nvSpPr>
        <p:spPr>
          <a:xfrm>
            <a:off x="819150" y="3379470"/>
            <a:ext cx="5372100" cy="5955030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able-head-masters-0">
            <a:extLst>
              <a:ext uri="{FF2B5EF4-FFF2-40B4-BE49-F238E27FC236}">
                <a16:creationId xmlns:a16="http://schemas.microsoft.com/office/drawing/2014/main" id="{7CAD1E62-66EE-418F-AE7C-AB7391303447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Layer</a:t>
            </a:r>
          </a:p>
        </p:txBody>
      </p:sp>
      <p:sp>
        <p:nvSpPr>
          <p:cNvPr id="26" name="table-head-masters-1">
            <a:extLst>
              <a:ext uri="{FF2B5EF4-FFF2-40B4-BE49-F238E27FC236}">
                <a16:creationId xmlns:a16="http://schemas.microsoft.com/office/drawing/2014/main" id="{F7158DC1-491F-48DB-9B25-577AFE67FC46}"/>
              </a:ext>
            </a:extLst>
          </p:cNvPr>
          <p:cNvSpPr>
            <a:spLocks noGrp="1"/>
          </p:cNvSpPr>
          <p:nvPr/>
        </p:nvSpPr>
        <p:spPr>
          <a:xfrm>
            <a:off x="3562350" y="3524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Tables</a:t>
            </a:r>
          </a:p>
        </p:txBody>
      </p:sp>
      <p:sp>
        <p:nvSpPr>
          <p:cNvPr id="27" name="table-rule-masters">
            <a:extLst>
              <a:ext uri="{FF2B5EF4-FFF2-40B4-BE49-F238E27FC236}">
                <a16:creationId xmlns:a16="http://schemas.microsoft.com/office/drawing/2014/main" id="{E62D7777-6EEF-46B9-9B53-A14347F8C269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502920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able-cell-masters-0-0">
            <a:extLst>
              <a:ext uri="{FF2B5EF4-FFF2-40B4-BE49-F238E27FC236}">
                <a16:creationId xmlns:a16="http://schemas.microsoft.com/office/drawing/2014/main" id="{13DF3159-CE6F-47C2-A9BE-0F57BA609E38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Master</a:t>
            </a:r>
          </a:p>
        </p:txBody>
      </p:sp>
      <p:sp>
        <p:nvSpPr>
          <p:cNvPr id="29" name="table-cell-masters-0-1">
            <a:extLst>
              <a:ext uri="{FF2B5EF4-FFF2-40B4-BE49-F238E27FC236}">
                <a16:creationId xmlns:a16="http://schemas.microsoft.com/office/drawing/2014/main" id="{6D7E041C-F3B9-4770-BD7C-1278AA3A5215}"/>
              </a:ext>
            </a:extLst>
          </p:cNvPr>
          <p:cNvSpPr>
            <a:spLocks noGrp="1"/>
          </p:cNvSpPr>
          <p:nvPr/>
        </p:nvSpPr>
        <p:spPr>
          <a:xfrm>
            <a:off x="3562350" y="3905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Hotel, RoomCategory, Room</a:t>
            </a:r>
          </a:p>
        </p:txBody>
      </p:sp>
      <p:sp>
        <p:nvSpPr>
          <p:cNvPr id="30" name="table-cell-masters-1-0">
            <a:extLst>
              <a:ext uri="{FF2B5EF4-FFF2-40B4-BE49-F238E27FC236}">
                <a16:creationId xmlns:a16="http://schemas.microsoft.com/office/drawing/2014/main" id="{5AB0D5F7-1CB4-46E7-A323-8C38FC400B4D}"/>
              </a:ext>
            </a:extLst>
          </p:cNvPr>
          <p:cNvSpPr>
            <a:spLocks noGrp="1"/>
          </p:cNvSpPr>
          <p:nvPr/>
        </p:nvSpPr>
        <p:spPr>
          <a:xfrm>
            <a:off x="990600" y="41529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People</a:t>
            </a:r>
          </a:p>
        </p:txBody>
      </p:sp>
      <p:sp>
        <p:nvSpPr>
          <p:cNvPr id="31" name="table-cell-masters-1-1">
            <a:extLst>
              <a:ext uri="{FF2B5EF4-FFF2-40B4-BE49-F238E27FC236}">
                <a16:creationId xmlns:a16="http://schemas.microsoft.com/office/drawing/2014/main" id="{C7FA81C6-B3E7-425E-8C9D-F60BEA59172A}"/>
              </a:ext>
            </a:extLst>
          </p:cNvPr>
          <p:cNvSpPr>
            <a:spLocks noGrp="1"/>
          </p:cNvSpPr>
          <p:nvPr/>
        </p:nvSpPr>
        <p:spPr>
          <a:xfrm>
            <a:off x="3562350" y="41529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Customer, Staff</a:t>
            </a:r>
          </a:p>
        </p:txBody>
      </p:sp>
      <p:sp>
        <p:nvSpPr>
          <p:cNvPr id="32" name="table-cell-masters-2-0">
            <a:extLst>
              <a:ext uri="{FF2B5EF4-FFF2-40B4-BE49-F238E27FC236}">
                <a16:creationId xmlns:a16="http://schemas.microsoft.com/office/drawing/2014/main" id="{86018460-4190-41E6-AF4C-4A8864031BD7}"/>
              </a:ext>
            </a:extLst>
          </p:cNvPr>
          <p:cNvSpPr>
            <a:spLocks noGrp="1"/>
          </p:cNvSpPr>
          <p:nvPr/>
        </p:nvSpPr>
        <p:spPr>
          <a:xfrm>
            <a:off x="990600" y="44196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Reference</a:t>
            </a:r>
          </a:p>
        </p:txBody>
      </p:sp>
      <p:sp>
        <p:nvSpPr>
          <p:cNvPr id="33" name="table-cell-masters-2-1">
            <a:extLst>
              <a:ext uri="{FF2B5EF4-FFF2-40B4-BE49-F238E27FC236}">
                <a16:creationId xmlns:a16="http://schemas.microsoft.com/office/drawing/2014/main" id="{C3771E6B-5468-4996-B78B-56B36ED4D189}"/>
              </a:ext>
            </a:extLst>
          </p:cNvPr>
          <p:cNvSpPr>
            <a:spLocks noGrp="1"/>
          </p:cNvSpPr>
          <p:nvPr/>
        </p:nvSpPr>
        <p:spPr>
          <a:xfrm>
            <a:off x="3562350" y="44196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Service, PaymentMethod</a:t>
            </a:r>
          </a:p>
        </p:txBody>
      </p:sp>
      <p:sp>
        <p:nvSpPr>
          <p:cNvPr id="34" name="table-transactions">
            <a:extLst>
              <a:ext uri="{FF2B5EF4-FFF2-40B4-BE49-F238E27FC236}">
                <a16:creationId xmlns:a16="http://schemas.microsoft.com/office/drawing/2014/main" id="{709FA5BE-ED81-4DC3-81FB-01AB6F26E674}"/>
              </a:ext>
            </a:extLst>
          </p:cNvPr>
          <p:cNvSpPr>
            <a:spLocks noGrp="1"/>
          </p:cNvSpPr>
          <p:nvPr/>
        </p:nvSpPr>
        <p:spPr>
          <a:xfrm>
            <a:off x="6457950" y="3379470"/>
            <a:ext cx="5372100" cy="5955030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able-head-transactions-0">
            <a:extLst>
              <a:ext uri="{FF2B5EF4-FFF2-40B4-BE49-F238E27FC236}">
                <a16:creationId xmlns:a16="http://schemas.microsoft.com/office/drawing/2014/main" id="{C5DE71F0-47B6-46DE-A049-77496D7C3B1B}"/>
              </a:ext>
            </a:extLst>
          </p:cNvPr>
          <p:cNvSpPr>
            <a:spLocks noGrp="1"/>
          </p:cNvSpPr>
          <p:nvPr/>
        </p:nvSpPr>
        <p:spPr>
          <a:xfrm>
            <a:off x="6629400" y="3524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Layer</a:t>
            </a:r>
          </a:p>
        </p:txBody>
      </p:sp>
      <p:sp>
        <p:nvSpPr>
          <p:cNvPr id="36" name="table-head-transactions-1">
            <a:extLst>
              <a:ext uri="{FF2B5EF4-FFF2-40B4-BE49-F238E27FC236}">
                <a16:creationId xmlns:a16="http://schemas.microsoft.com/office/drawing/2014/main" id="{A27252CE-5EC6-4B67-9FE4-CB86A232E9C3}"/>
              </a:ext>
            </a:extLst>
          </p:cNvPr>
          <p:cNvSpPr>
            <a:spLocks noGrp="1"/>
          </p:cNvSpPr>
          <p:nvPr/>
        </p:nvSpPr>
        <p:spPr>
          <a:xfrm>
            <a:off x="9201150" y="3524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Tables</a:t>
            </a:r>
          </a:p>
        </p:txBody>
      </p:sp>
      <p:sp>
        <p:nvSpPr>
          <p:cNvPr id="37" name="table-rule-transactions">
            <a:extLst>
              <a:ext uri="{FF2B5EF4-FFF2-40B4-BE49-F238E27FC236}">
                <a16:creationId xmlns:a16="http://schemas.microsoft.com/office/drawing/2014/main" id="{24E1F840-7B06-4838-8C52-2654EAEEA3CE}"/>
              </a:ext>
            </a:extLst>
          </p:cNvPr>
          <p:cNvSpPr>
            <a:spLocks noGrp="1"/>
          </p:cNvSpPr>
          <p:nvPr/>
        </p:nvSpPr>
        <p:spPr>
          <a:xfrm>
            <a:off x="6629400" y="3790950"/>
            <a:ext cx="502920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able-cell-transactions-0-0">
            <a:extLst>
              <a:ext uri="{FF2B5EF4-FFF2-40B4-BE49-F238E27FC236}">
                <a16:creationId xmlns:a16="http://schemas.microsoft.com/office/drawing/2014/main" id="{081FEEF5-7276-4E1B-92C4-B05F4FC2689D}"/>
              </a:ext>
            </a:extLst>
          </p:cNvPr>
          <p:cNvSpPr>
            <a:spLocks noGrp="1"/>
          </p:cNvSpPr>
          <p:nvPr/>
        </p:nvSpPr>
        <p:spPr>
          <a:xfrm>
            <a:off x="6629400" y="3905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Booking</a:t>
            </a:r>
          </a:p>
        </p:txBody>
      </p:sp>
      <p:sp>
        <p:nvSpPr>
          <p:cNvPr id="39" name="table-cell-transactions-0-1">
            <a:extLst>
              <a:ext uri="{FF2B5EF4-FFF2-40B4-BE49-F238E27FC236}">
                <a16:creationId xmlns:a16="http://schemas.microsoft.com/office/drawing/2014/main" id="{10117C85-FCB1-4B72-9B97-62E647172EA2}"/>
              </a:ext>
            </a:extLst>
          </p:cNvPr>
          <p:cNvSpPr>
            <a:spLocks noGrp="1"/>
          </p:cNvSpPr>
          <p:nvPr/>
        </p:nvSpPr>
        <p:spPr>
          <a:xfrm>
            <a:off x="9201150" y="3905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Reservation</a:t>
            </a:r>
          </a:p>
        </p:txBody>
      </p:sp>
      <p:sp>
        <p:nvSpPr>
          <p:cNvPr id="40" name="table-cell-transactions-1-0">
            <a:extLst>
              <a:ext uri="{FF2B5EF4-FFF2-40B4-BE49-F238E27FC236}">
                <a16:creationId xmlns:a16="http://schemas.microsoft.com/office/drawing/2014/main" id="{DE83FDED-BEDA-4174-A82A-AE4917F930DD}"/>
              </a:ext>
            </a:extLst>
          </p:cNvPr>
          <p:cNvSpPr>
            <a:spLocks noGrp="1"/>
          </p:cNvSpPr>
          <p:nvPr/>
        </p:nvSpPr>
        <p:spPr>
          <a:xfrm>
            <a:off x="6629400" y="41529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Room use</a:t>
            </a:r>
          </a:p>
        </p:txBody>
      </p:sp>
      <p:sp>
        <p:nvSpPr>
          <p:cNvPr id="41" name="table-cell-transactions-1-1">
            <a:extLst>
              <a:ext uri="{FF2B5EF4-FFF2-40B4-BE49-F238E27FC236}">
                <a16:creationId xmlns:a16="http://schemas.microsoft.com/office/drawing/2014/main" id="{C8AD21A8-BC67-47EA-BA21-A860FD00DA73}"/>
              </a:ext>
            </a:extLst>
          </p:cNvPr>
          <p:cNvSpPr>
            <a:spLocks noGrp="1"/>
          </p:cNvSpPr>
          <p:nvPr/>
        </p:nvSpPr>
        <p:spPr>
          <a:xfrm>
            <a:off x="9201150" y="41529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ReservationRoom</a:t>
            </a:r>
          </a:p>
        </p:txBody>
      </p:sp>
      <p:sp>
        <p:nvSpPr>
          <p:cNvPr id="42" name="table-cell-transactions-2-0">
            <a:extLst>
              <a:ext uri="{FF2B5EF4-FFF2-40B4-BE49-F238E27FC236}">
                <a16:creationId xmlns:a16="http://schemas.microsoft.com/office/drawing/2014/main" id="{39C3F93F-E4D9-44F5-8515-85B19235CF42}"/>
              </a:ext>
            </a:extLst>
          </p:cNvPr>
          <p:cNvSpPr>
            <a:spLocks noGrp="1"/>
          </p:cNvSpPr>
          <p:nvPr/>
        </p:nvSpPr>
        <p:spPr>
          <a:xfrm>
            <a:off x="6629400" y="44196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Service use</a:t>
            </a:r>
          </a:p>
        </p:txBody>
      </p:sp>
      <p:sp>
        <p:nvSpPr>
          <p:cNvPr id="43" name="table-cell-transactions-2-1">
            <a:extLst>
              <a:ext uri="{FF2B5EF4-FFF2-40B4-BE49-F238E27FC236}">
                <a16:creationId xmlns:a16="http://schemas.microsoft.com/office/drawing/2014/main" id="{F26D8F3A-B2CC-44E1-AFB9-CBCA42C43305}"/>
              </a:ext>
            </a:extLst>
          </p:cNvPr>
          <p:cNvSpPr>
            <a:spLocks noGrp="1"/>
          </p:cNvSpPr>
          <p:nvPr/>
        </p:nvSpPr>
        <p:spPr>
          <a:xfrm>
            <a:off x="9201150" y="44196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ReservationService</a:t>
            </a:r>
          </a:p>
        </p:txBody>
      </p:sp>
      <p:sp>
        <p:nvSpPr>
          <p:cNvPr id="44" name="table-controls">
            <a:extLst>
              <a:ext uri="{FF2B5EF4-FFF2-40B4-BE49-F238E27FC236}">
                <a16:creationId xmlns:a16="http://schemas.microsoft.com/office/drawing/2014/main" id="{246CDF82-47BF-4E5F-9ACE-92C9711D4580}"/>
              </a:ext>
            </a:extLst>
          </p:cNvPr>
          <p:cNvSpPr>
            <a:spLocks noGrp="1"/>
          </p:cNvSpPr>
          <p:nvPr/>
        </p:nvSpPr>
        <p:spPr>
          <a:xfrm>
            <a:off x="12096750" y="3379470"/>
            <a:ext cx="5372100" cy="5955030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able-head-controls-0">
            <a:extLst>
              <a:ext uri="{FF2B5EF4-FFF2-40B4-BE49-F238E27FC236}">
                <a16:creationId xmlns:a16="http://schemas.microsoft.com/office/drawing/2014/main" id="{A60010F9-1E58-4D81-B92F-CCA88053723A}"/>
              </a:ext>
            </a:extLst>
          </p:cNvPr>
          <p:cNvSpPr>
            <a:spLocks noGrp="1"/>
          </p:cNvSpPr>
          <p:nvPr/>
        </p:nvSpPr>
        <p:spPr>
          <a:xfrm>
            <a:off x="12268200" y="3524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Layer</a:t>
            </a:r>
          </a:p>
        </p:txBody>
      </p:sp>
      <p:sp>
        <p:nvSpPr>
          <p:cNvPr id="46" name="table-head-controls-1">
            <a:extLst>
              <a:ext uri="{FF2B5EF4-FFF2-40B4-BE49-F238E27FC236}">
                <a16:creationId xmlns:a16="http://schemas.microsoft.com/office/drawing/2014/main" id="{72981132-19E2-4CBF-A852-2A7CE62DBFF8}"/>
              </a:ext>
            </a:extLst>
          </p:cNvPr>
          <p:cNvSpPr>
            <a:spLocks noGrp="1"/>
          </p:cNvSpPr>
          <p:nvPr/>
        </p:nvSpPr>
        <p:spPr>
          <a:xfrm>
            <a:off x="14839950" y="3524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Objects</a:t>
            </a:r>
          </a:p>
        </p:txBody>
      </p:sp>
      <p:sp>
        <p:nvSpPr>
          <p:cNvPr id="47" name="table-rule-controls">
            <a:extLst>
              <a:ext uri="{FF2B5EF4-FFF2-40B4-BE49-F238E27FC236}">
                <a16:creationId xmlns:a16="http://schemas.microsoft.com/office/drawing/2014/main" id="{FB805613-2CBC-4855-B6BB-6F774FBCB477}"/>
              </a:ext>
            </a:extLst>
          </p:cNvPr>
          <p:cNvSpPr>
            <a:spLocks noGrp="1"/>
          </p:cNvSpPr>
          <p:nvPr/>
        </p:nvSpPr>
        <p:spPr>
          <a:xfrm>
            <a:off x="12268200" y="3790950"/>
            <a:ext cx="502920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able-cell-controls-0-0">
            <a:extLst>
              <a:ext uri="{FF2B5EF4-FFF2-40B4-BE49-F238E27FC236}">
                <a16:creationId xmlns:a16="http://schemas.microsoft.com/office/drawing/2014/main" id="{260DF0EE-6781-4A22-9C90-4CACEFF4067D}"/>
              </a:ext>
            </a:extLst>
          </p:cNvPr>
          <p:cNvSpPr>
            <a:spLocks noGrp="1"/>
          </p:cNvSpPr>
          <p:nvPr/>
        </p:nvSpPr>
        <p:spPr>
          <a:xfrm>
            <a:off x="12268200" y="3905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Payment</a:t>
            </a:r>
          </a:p>
        </p:txBody>
      </p:sp>
      <p:sp>
        <p:nvSpPr>
          <p:cNvPr id="49" name="table-cell-controls-0-1">
            <a:extLst>
              <a:ext uri="{FF2B5EF4-FFF2-40B4-BE49-F238E27FC236}">
                <a16:creationId xmlns:a16="http://schemas.microsoft.com/office/drawing/2014/main" id="{A4D213BB-B8DA-4A44-B638-BC9FA7B7AF0F}"/>
              </a:ext>
            </a:extLst>
          </p:cNvPr>
          <p:cNvSpPr>
            <a:spLocks noGrp="1"/>
          </p:cNvSpPr>
          <p:nvPr/>
        </p:nvSpPr>
        <p:spPr>
          <a:xfrm>
            <a:off x="14839950" y="390525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Payment</a:t>
            </a:r>
          </a:p>
        </p:txBody>
      </p:sp>
      <p:sp>
        <p:nvSpPr>
          <p:cNvPr id="50" name="table-cell-controls-1-0">
            <a:extLst>
              <a:ext uri="{FF2B5EF4-FFF2-40B4-BE49-F238E27FC236}">
                <a16:creationId xmlns:a16="http://schemas.microsoft.com/office/drawing/2014/main" id="{B843B51C-2E91-4416-8E93-66E682DC46FB}"/>
              </a:ext>
            </a:extLst>
          </p:cNvPr>
          <p:cNvSpPr>
            <a:spLocks noGrp="1"/>
          </p:cNvSpPr>
          <p:nvPr/>
        </p:nvSpPr>
        <p:spPr>
          <a:xfrm>
            <a:off x="12268200" y="41529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Audit</a:t>
            </a:r>
          </a:p>
        </p:txBody>
      </p:sp>
      <p:sp>
        <p:nvSpPr>
          <p:cNvPr id="51" name="table-cell-controls-1-1">
            <a:extLst>
              <a:ext uri="{FF2B5EF4-FFF2-40B4-BE49-F238E27FC236}">
                <a16:creationId xmlns:a16="http://schemas.microsoft.com/office/drawing/2014/main" id="{420750F8-C4C0-4FB4-8416-277BDF3EB3BC}"/>
              </a:ext>
            </a:extLst>
          </p:cNvPr>
          <p:cNvSpPr>
            <a:spLocks noGrp="1"/>
          </p:cNvSpPr>
          <p:nvPr/>
        </p:nvSpPr>
        <p:spPr>
          <a:xfrm>
            <a:off x="14839950" y="41529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AuditLog</a:t>
            </a:r>
          </a:p>
        </p:txBody>
      </p:sp>
      <p:sp>
        <p:nvSpPr>
          <p:cNvPr id="52" name="table-cell-controls-2-0">
            <a:extLst>
              <a:ext uri="{FF2B5EF4-FFF2-40B4-BE49-F238E27FC236}">
                <a16:creationId xmlns:a16="http://schemas.microsoft.com/office/drawing/2014/main" id="{8999ECF3-6792-4D4B-B17C-A99182A95150}"/>
              </a:ext>
            </a:extLst>
          </p:cNvPr>
          <p:cNvSpPr>
            <a:spLocks noGrp="1"/>
          </p:cNvSpPr>
          <p:nvPr/>
        </p:nvSpPr>
        <p:spPr>
          <a:xfrm>
            <a:off x="12268200" y="44196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Logic</a:t>
            </a:r>
          </a:p>
        </p:txBody>
      </p:sp>
      <p:sp>
        <p:nvSpPr>
          <p:cNvPr id="53" name="table-cell-controls-2-1">
            <a:extLst>
              <a:ext uri="{FF2B5EF4-FFF2-40B4-BE49-F238E27FC236}">
                <a16:creationId xmlns:a16="http://schemas.microsoft.com/office/drawing/2014/main" id="{092F8E42-427B-4EAF-BE8E-74604A167379}"/>
              </a:ext>
            </a:extLst>
          </p:cNvPr>
          <p:cNvSpPr>
            <a:spLocks noGrp="1"/>
          </p:cNvSpPr>
          <p:nvPr/>
        </p:nvSpPr>
        <p:spPr>
          <a:xfrm>
            <a:off x="14839950" y="4419600"/>
            <a:ext cx="2457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Views, functions, triggers, indexes</a:t>
            </a:r>
          </a:p>
        </p:txBody>
      </p:sp>
      <p:sp>
        <p:nvSpPr>
          <p:cNvPr id="54" name="source-footer">
            <a:extLst>
              <a:ext uri="{FF2B5EF4-FFF2-40B4-BE49-F238E27FC236}">
                <a16:creationId xmlns:a16="http://schemas.microsoft.com/office/drawing/2014/main" id="{2A8EA455-57BA-46D6-8BBC-5A4559AAC220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55" name="slide-number">
            <a:extLst>
              <a:ext uri="{FF2B5EF4-FFF2-40B4-BE49-F238E27FC236}">
                <a16:creationId xmlns:a16="http://schemas.microsoft.com/office/drawing/2014/main" id="{BF398412-45CC-411E-BF20-AE3C3CC15A74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5619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background">
            <a:extLst>
              <a:ext uri="{FF2B5EF4-FFF2-40B4-BE49-F238E27FC236}">
                <a16:creationId xmlns:a16="http://schemas.microsoft.com/office/drawing/2014/main" id="{92DDC7FA-05F2-44D1-8975-FF0C514C88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814E5D9F-5B90-49F0-A17D-1A7DAD2A3BA1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0B6B5B"/>
          </a:solidFill>
          <a:ln w="0">
            <a:solidFill>
              <a:srgbClr val="0B6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4BA94A65-F9F9-422B-8D38-BFBCE7FC2275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FE383A67-CB5A-41A8-A3AD-02506D3AA2CA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Table dictionary: what each table is used for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FBD46F81-68DD-4544-8E79-4052175FD784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714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Real DDL columns.</a:t>
            </a:r>
          </a:p>
        </p:txBody>
      </p:sp>
      <p:sp>
        <p:nvSpPr>
          <p:cNvPr id="6" name="table-dict1">
            <a:extLst>
              <a:ext uri="{FF2B5EF4-FFF2-40B4-BE49-F238E27FC236}">
                <a16:creationId xmlns:a16="http://schemas.microsoft.com/office/drawing/2014/main" id="{CE42CFFC-0BD4-4EDC-BF74-334E8909F3A4}"/>
              </a:ext>
            </a:extLst>
          </p:cNvPr>
          <p:cNvSpPr>
            <a:spLocks noGrp="1"/>
          </p:cNvSpPr>
          <p:nvPr/>
        </p:nvSpPr>
        <p:spPr>
          <a:xfrm>
            <a:off x="819150" y="2453640"/>
            <a:ext cx="8201025" cy="2072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able-head-dict1-0">
            <a:extLst>
              <a:ext uri="{FF2B5EF4-FFF2-40B4-BE49-F238E27FC236}">
                <a16:creationId xmlns:a16="http://schemas.microsoft.com/office/drawing/2014/main" id="{F92EDA72-D541-4F40-8835-1BDB1D46C01F}"/>
              </a:ext>
            </a:extLst>
          </p:cNvPr>
          <p:cNvSpPr>
            <a:spLocks noGrp="1"/>
          </p:cNvSpPr>
          <p:nvPr/>
        </p:nvSpPr>
        <p:spPr>
          <a:xfrm>
            <a:off x="990600" y="26098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Table</a:t>
            </a:r>
          </a:p>
        </p:txBody>
      </p:sp>
      <p:sp>
        <p:nvSpPr>
          <p:cNvPr id="8" name="table-head-dict1-1">
            <a:extLst>
              <a:ext uri="{FF2B5EF4-FFF2-40B4-BE49-F238E27FC236}">
                <a16:creationId xmlns:a16="http://schemas.microsoft.com/office/drawing/2014/main" id="{08CC3394-DE3F-423E-B3D2-7E53CCACCCD2}"/>
              </a:ext>
            </a:extLst>
          </p:cNvPr>
          <p:cNvSpPr>
            <a:spLocks noGrp="1"/>
          </p:cNvSpPr>
          <p:nvPr/>
        </p:nvSpPr>
        <p:spPr>
          <a:xfrm>
            <a:off x="3657600" y="26098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Purpose</a:t>
            </a:r>
          </a:p>
        </p:txBody>
      </p:sp>
      <p:sp>
        <p:nvSpPr>
          <p:cNvPr id="9" name="table-head-dict1-2">
            <a:extLst>
              <a:ext uri="{FF2B5EF4-FFF2-40B4-BE49-F238E27FC236}">
                <a16:creationId xmlns:a16="http://schemas.microsoft.com/office/drawing/2014/main" id="{66658819-E242-40CC-A717-6CE3E96C5F5D}"/>
              </a:ext>
            </a:extLst>
          </p:cNvPr>
          <p:cNvSpPr>
            <a:spLocks noGrp="1"/>
          </p:cNvSpPr>
          <p:nvPr/>
        </p:nvSpPr>
        <p:spPr>
          <a:xfrm>
            <a:off x="6305550" y="26098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Important columns</a:t>
            </a:r>
          </a:p>
        </p:txBody>
      </p:sp>
      <p:sp>
        <p:nvSpPr>
          <p:cNvPr id="10" name="table-rule-dict1">
            <a:extLst>
              <a:ext uri="{FF2B5EF4-FFF2-40B4-BE49-F238E27FC236}">
                <a16:creationId xmlns:a16="http://schemas.microsoft.com/office/drawing/2014/main" id="{A185E0D0-F134-4822-A28B-47EA0A471AC6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78676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able-cell-dict1-0-0">
            <a:extLst>
              <a:ext uri="{FF2B5EF4-FFF2-40B4-BE49-F238E27FC236}">
                <a16:creationId xmlns:a16="http://schemas.microsoft.com/office/drawing/2014/main" id="{D8D5E124-11C3-4ACB-9D30-81E34994CB2F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Hotel</a:t>
            </a:r>
          </a:p>
        </p:txBody>
      </p:sp>
      <p:sp>
        <p:nvSpPr>
          <p:cNvPr id="12" name="table-cell-dict1-0-1">
            <a:extLst>
              <a:ext uri="{FF2B5EF4-FFF2-40B4-BE49-F238E27FC236}">
                <a16:creationId xmlns:a16="http://schemas.microsoft.com/office/drawing/2014/main" id="{C7CFC6F1-4CDD-4786-A0A5-2C945B0A6A69}"/>
              </a:ext>
            </a:extLst>
          </p:cNvPr>
          <p:cNvSpPr>
            <a:spLocks noGrp="1"/>
          </p:cNvSpPr>
          <p:nvPr/>
        </p:nvSpPr>
        <p:spPr>
          <a:xfrm>
            <a:off x="3657600" y="2971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Property identity</a:t>
            </a:r>
          </a:p>
        </p:txBody>
      </p:sp>
      <p:sp>
        <p:nvSpPr>
          <p:cNvPr id="13" name="table-cell-dict1-0-2">
            <a:extLst>
              <a:ext uri="{FF2B5EF4-FFF2-40B4-BE49-F238E27FC236}">
                <a16:creationId xmlns:a16="http://schemas.microsoft.com/office/drawing/2014/main" id="{D4F030D3-FC91-4897-8FA3-8138E6F43770}"/>
              </a:ext>
            </a:extLst>
          </p:cNvPr>
          <p:cNvSpPr>
            <a:spLocks noGrp="1"/>
          </p:cNvSpPr>
          <p:nvPr/>
        </p:nvSpPr>
        <p:spPr>
          <a:xfrm>
            <a:off x="6305550" y="29718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HotelID, HotelName, AddressLine, City, StateName, Phone, Email</a:t>
            </a:r>
          </a:p>
        </p:txBody>
      </p:sp>
      <p:sp>
        <p:nvSpPr>
          <p:cNvPr id="14" name="table-cell-dict1-1-0">
            <a:extLst>
              <a:ext uri="{FF2B5EF4-FFF2-40B4-BE49-F238E27FC236}">
                <a16:creationId xmlns:a16="http://schemas.microsoft.com/office/drawing/2014/main" id="{1442D653-9E18-423D-953C-3B6BB1D7348B}"/>
              </a:ext>
            </a:extLst>
          </p:cNvPr>
          <p:cNvSpPr>
            <a:spLocks noGrp="1"/>
          </p:cNvSpPr>
          <p:nvPr/>
        </p:nvSpPr>
        <p:spPr>
          <a:xfrm>
            <a:off x="990600" y="33909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RoomCategory</a:t>
            </a:r>
          </a:p>
        </p:txBody>
      </p:sp>
      <p:sp>
        <p:nvSpPr>
          <p:cNvPr id="15" name="table-cell-dict1-1-1">
            <a:extLst>
              <a:ext uri="{FF2B5EF4-FFF2-40B4-BE49-F238E27FC236}">
                <a16:creationId xmlns:a16="http://schemas.microsoft.com/office/drawing/2014/main" id="{89E29B1F-B5C5-42DC-94DB-2C481A35E410}"/>
              </a:ext>
            </a:extLst>
          </p:cNvPr>
          <p:cNvSpPr>
            <a:spLocks noGrp="1"/>
          </p:cNvSpPr>
          <p:nvPr/>
        </p:nvSpPr>
        <p:spPr>
          <a:xfrm>
            <a:off x="3657600" y="33909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Pricing and capacity</a:t>
            </a:r>
          </a:p>
        </p:txBody>
      </p:sp>
      <p:sp>
        <p:nvSpPr>
          <p:cNvPr id="16" name="table-cell-dict1-1-2">
            <a:extLst>
              <a:ext uri="{FF2B5EF4-FFF2-40B4-BE49-F238E27FC236}">
                <a16:creationId xmlns:a16="http://schemas.microsoft.com/office/drawing/2014/main" id="{494142E0-2596-4284-B907-5428BAD5DFED}"/>
              </a:ext>
            </a:extLst>
          </p:cNvPr>
          <p:cNvSpPr>
            <a:spLocks noGrp="1"/>
          </p:cNvSpPr>
          <p:nvPr/>
        </p:nvSpPr>
        <p:spPr>
          <a:xfrm>
            <a:off x="6305550" y="33909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CategoryID, CategoryName, BaseRate, Capacity, Description</a:t>
            </a:r>
          </a:p>
        </p:txBody>
      </p:sp>
      <p:sp>
        <p:nvSpPr>
          <p:cNvPr id="17" name="table-dict2">
            <a:extLst>
              <a:ext uri="{FF2B5EF4-FFF2-40B4-BE49-F238E27FC236}">
                <a16:creationId xmlns:a16="http://schemas.microsoft.com/office/drawing/2014/main" id="{5BE82163-AF9A-4D48-A387-5C6B96D2A948}"/>
              </a:ext>
            </a:extLst>
          </p:cNvPr>
          <p:cNvSpPr>
            <a:spLocks noGrp="1"/>
          </p:cNvSpPr>
          <p:nvPr/>
        </p:nvSpPr>
        <p:spPr>
          <a:xfrm>
            <a:off x="9267825" y="2453640"/>
            <a:ext cx="8201025" cy="2072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able-head-dict2-0">
            <a:extLst>
              <a:ext uri="{FF2B5EF4-FFF2-40B4-BE49-F238E27FC236}">
                <a16:creationId xmlns:a16="http://schemas.microsoft.com/office/drawing/2014/main" id="{E07FACC2-E966-42B2-A45A-5016493327BB}"/>
              </a:ext>
            </a:extLst>
          </p:cNvPr>
          <p:cNvSpPr>
            <a:spLocks noGrp="1"/>
          </p:cNvSpPr>
          <p:nvPr/>
        </p:nvSpPr>
        <p:spPr>
          <a:xfrm>
            <a:off x="9448800" y="26098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Table</a:t>
            </a:r>
          </a:p>
        </p:txBody>
      </p:sp>
      <p:sp>
        <p:nvSpPr>
          <p:cNvPr id="19" name="table-head-dict2-1">
            <a:extLst>
              <a:ext uri="{FF2B5EF4-FFF2-40B4-BE49-F238E27FC236}">
                <a16:creationId xmlns:a16="http://schemas.microsoft.com/office/drawing/2014/main" id="{2F25B45E-460C-4624-B431-6E6C12C41624}"/>
              </a:ext>
            </a:extLst>
          </p:cNvPr>
          <p:cNvSpPr>
            <a:spLocks noGrp="1"/>
          </p:cNvSpPr>
          <p:nvPr/>
        </p:nvSpPr>
        <p:spPr>
          <a:xfrm>
            <a:off x="12096750" y="26098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Purpose</a:t>
            </a:r>
          </a:p>
        </p:txBody>
      </p:sp>
      <p:sp>
        <p:nvSpPr>
          <p:cNvPr id="20" name="table-head-dict2-2">
            <a:extLst>
              <a:ext uri="{FF2B5EF4-FFF2-40B4-BE49-F238E27FC236}">
                <a16:creationId xmlns:a16="http://schemas.microsoft.com/office/drawing/2014/main" id="{7B0F1166-CD1B-41DA-AFEC-DED3ACC8A4F2}"/>
              </a:ext>
            </a:extLst>
          </p:cNvPr>
          <p:cNvSpPr>
            <a:spLocks noGrp="1"/>
          </p:cNvSpPr>
          <p:nvPr/>
        </p:nvSpPr>
        <p:spPr>
          <a:xfrm>
            <a:off x="14763750" y="26098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Important columns</a:t>
            </a:r>
          </a:p>
        </p:txBody>
      </p:sp>
      <p:sp>
        <p:nvSpPr>
          <p:cNvPr id="21" name="table-rule-dict2">
            <a:extLst>
              <a:ext uri="{FF2B5EF4-FFF2-40B4-BE49-F238E27FC236}">
                <a16:creationId xmlns:a16="http://schemas.microsoft.com/office/drawing/2014/main" id="{424D3489-1897-4EFD-A036-932CF66780B3}"/>
              </a:ext>
            </a:extLst>
          </p:cNvPr>
          <p:cNvSpPr>
            <a:spLocks noGrp="1"/>
          </p:cNvSpPr>
          <p:nvPr/>
        </p:nvSpPr>
        <p:spPr>
          <a:xfrm>
            <a:off x="9448800" y="2876550"/>
            <a:ext cx="78676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able-cell-dict2-0-0">
            <a:extLst>
              <a:ext uri="{FF2B5EF4-FFF2-40B4-BE49-F238E27FC236}">
                <a16:creationId xmlns:a16="http://schemas.microsoft.com/office/drawing/2014/main" id="{8D56B801-D211-4D3E-B86E-AF05156F31C9}"/>
              </a:ext>
            </a:extLst>
          </p:cNvPr>
          <p:cNvSpPr>
            <a:spLocks noGrp="1"/>
          </p:cNvSpPr>
          <p:nvPr/>
        </p:nvSpPr>
        <p:spPr>
          <a:xfrm>
            <a:off x="9448800" y="2971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Room</a:t>
            </a:r>
          </a:p>
        </p:txBody>
      </p:sp>
      <p:sp>
        <p:nvSpPr>
          <p:cNvPr id="23" name="table-cell-dict2-0-1">
            <a:extLst>
              <a:ext uri="{FF2B5EF4-FFF2-40B4-BE49-F238E27FC236}">
                <a16:creationId xmlns:a16="http://schemas.microsoft.com/office/drawing/2014/main" id="{D75FDC5B-FED2-4592-A2AF-1979AD9C7A71}"/>
              </a:ext>
            </a:extLst>
          </p:cNvPr>
          <p:cNvSpPr>
            <a:spLocks noGrp="1"/>
          </p:cNvSpPr>
          <p:nvPr/>
        </p:nvSpPr>
        <p:spPr>
          <a:xfrm>
            <a:off x="12096750" y="2971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Physical room inventory</a:t>
            </a:r>
          </a:p>
        </p:txBody>
      </p:sp>
      <p:sp>
        <p:nvSpPr>
          <p:cNvPr id="24" name="table-cell-dict2-0-2">
            <a:extLst>
              <a:ext uri="{FF2B5EF4-FFF2-40B4-BE49-F238E27FC236}">
                <a16:creationId xmlns:a16="http://schemas.microsoft.com/office/drawing/2014/main" id="{E1B9927E-7FDD-4922-BC96-336504E7571D}"/>
              </a:ext>
            </a:extLst>
          </p:cNvPr>
          <p:cNvSpPr>
            <a:spLocks noGrp="1"/>
          </p:cNvSpPr>
          <p:nvPr/>
        </p:nvSpPr>
        <p:spPr>
          <a:xfrm>
            <a:off x="14763750" y="29718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RoomID, HotelID, CategoryID, RoomNumber, FloorNo, RoomStatus</a:t>
            </a:r>
          </a:p>
        </p:txBody>
      </p:sp>
      <p:sp>
        <p:nvSpPr>
          <p:cNvPr id="25" name="table-cell-dict2-1-0">
            <a:extLst>
              <a:ext uri="{FF2B5EF4-FFF2-40B4-BE49-F238E27FC236}">
                <a16:creationId xmlns:a16="http://schemas.microsoft.com/office/drawing/2014/main" id="{8BC50465-3B1C-4401-8854-41DBEDAC5B52}"/>
              </a:ext>
            </a:extLst>
          </p:cNvPr>
          <p:cNvSpPr>
            <a:spLocks noGrp="1"/>
          </p:cNvSpPr>
          <p:nvPr/>
        </p:nvSpPr>
        <p:spPr>
          <a:xfrm>
            <a:off x="9448800" y="33909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Customer</a:t>
            </a:r>
          </a:p>
        </p:txBody>
      </p:sp>
      <p:sp>
        <p:nvSpPr>
          <p:cNvPr id="26" name="table-cell-dict2-1-1">
            <a:extLst>
              <a:ext uri="{FF2B5EF4-FFF2-40B4-BE49-F238E27FC236}">
                <a16:creationId xmlns:a16="http://schemas.microsoft.com/office/drawing/2014/main" id="{FF42BAFD-E0D4-46C8-9F32-2B54B1F7DE01}"/>
              </a:ext>
            </a:extLst>
          </p:cNvPr>
          <p:cNvSpPr>
            <a:spLocks noGrp="1"/>
          </p:cNvSpPr>
          <p:nvPr/>
        </p:nvSpPr>
        <p:spPr>
          <a:xfrm>
            <a:off x="12096750" y="33909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Guest profile</a:t>
            </a:r>
          </a:p>
        </p:txBody>
      </p:sp>
      <p:sp>
        <p:nvSpPr>
          <p:cNvPr id="27" name="table-cell-dict2-1-2">
            <a:extLst>
              <a:ext uri="{FF2B5EF4-FFF2-40B4-BE49-F238E27FC236}">
                <a16:creationId xmlns:a16="http://schemas.microsoft.com/office/drawing/2014/main" id="{0C80761F-3BC6-452D-AD0D-611FC5323489}"/>
              </a:ext>
            </a:extLst>
          </p:cNvPr>
          <p:cNvSpPr>
            <a:spLocks noGrp="1"/>
          </p:cNvSpPr>
          <p:nvPr/>
        </p:nvSpPr>
        <p:spPr>
          <a:xfrm>
            <a:off x="14763750" y="33909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CustomerID, FullName, Email, Phone, IdentityProofType, IdentityProofNo, CreatedAt</a:t>
            </a:r>
          </a:p>
        </p:txBody>
      </p:sp>
      <p:sp>
        <p:nvSpPr>
          <p:cNvPr id="28" name="table-dict3">
            <a:extLst>
              <a:ext uri="{FF2B5EF4-FFF2-40B4-BE49-F238E27FC236}">
                <a16:creationId xmlns:a16="http://schemas.microsoft.com/office/drawing/2014/main" id="{EDA4A225-0107-4140-B48D-A67AF5848E5A}"/>
              </a:ext>
            </a:extLst>
          </p:cNvPr>
          <p:cNvSpPr>
            <a:spLocks noGrp="1"/>
          </p:cNvSpPr>
          <p:nvPr/>
        </p:nvSpPr>
        <p:spPr>
          <a:xfrm>
            <a:off x="819150" y="4697730"/>
            <a:ext cx="8201025" cy="223266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able-head-dict3-0">
            <a:extLst>
              <a:ext uri="{FF2B5EF4-FFF2-40B4-BE49-F238E27FC236}">
                <a16:creationId xmlns:a16="http://schemas.microsoft.com/office/drawing/2014/main" id="{B0700D96-D967-4119-9442-28B46B8C0318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Table</a:t>
            </a:r>
          </a:p>
        </p:txBody>
      </p:sp>
      <p:sp>
        <p:nvSpPr>
          <p:cNvPr id="30" name="table-head-dict3-1">
            <a:extLst>
              <a:ext uri="{FF2B5EF4-FFF2-40B4-BE49-F238E27FC236}">
                <a16:creationId xmlns:a16="http://schemas.microsoft.com/office/drawing/2014/main" id="{A2FA3AD9-B4AE-49B3-B692-E5403FDDB739}"/>
              </a:ext>
            </a:extLst>
          </p:cNvPr>
          <p:cNvSpPr>
            <a:spLocks noGrp="1"/>
          </p:cNvSpPr>
          <p:nvPr/>
        </p:nvSpPr>
        <p:spPr>
          <a:xfrm>
            <a:off x="3657600" y="48577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Purpose</a:t>
            </a:r>
          </a:p>
        </p:txBody>
      </p:sp>
      <p:sp>
        <p:nvSpPr>
          <p:cNvPr id="31" name="table-head-dict3-2">
            <a:extLst>
              <a:ext uri="{FF2B5EF4-FFF2-40B4-BE49-F238E27FC236}">
                <a16:creationId xmlns:a16="http://schemas.microsoft.com/office/drawing/2014/main" id="{ED37A43D-9D5E-4657-A36A-A12515AA984F}"/>
              </a:ext>
            </a:extLst>
          </p:cNvPr>
          <p:cNvSpPr>
            <a:spLocks noGrp="1"/>
          </p:cNvSpPr>
          <p:nvPr/>
        </p:nvSpPr>
        <p:spPr>
          <a:xfrm>
            <a:off x="6305550" y="48577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Important columns</a:t>
            </a:r>
          </a:p>
        </p:txBody>
      </p:sp>
      <p:sp>
        <p:nvSpPr>
          <p:cNvPr id="32" name="table-rule-dict3">
            <a:extLst>
              <a:ext uri="{FF2B5EF4-FFF2-40B4-BE49-F238E27FC236}">
                <a16:creationId xmlns:a16="http://schemas.microsoft.com/office/drawing/2014/main" id="{A8EC9337-1F25-40CD-93B0-F68F69809CA3}"/>
              </a:ext>
            </a:extLst>
          </p:cNvPr>
          <p:cNvSpPr>
            <a:spLocks noGrp="1"/>
          </p:cNvSpPr>
          <p:nvPr/>
        </p:nvSpPr>
        <p:spPr>
          <a:xfrm>
            <a:off x="990600" y="5124450"/>
            <a:ext cx="78676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able-cell-dict3-0-0">
            <a:extLst>
              <a:ext uri="{FF2B5EF4-FFF2-40B4-BE49-F238E27FC236}">
                <a16:creationId xmlns:a16="http://schemas.microsoft.com/office/drawing/2014/main" id="{82BF9ED3-AE4F-4AF4-BE1E-8C8B81F18F27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Staff</a:t>
            </a:r>
          </a:p>
        </p:txBody>
      </p:sp>
      <p:sp>
        <p:nvSpPr>
          <p:cNvPr id="34" name="table-cell-dict3-0-1">
            <a:extLst>
              <a:ext uri="{FF2B5EF4-FFF2-40B4-BE49-F238E27FC236}">
                <a16:creationId xmlns:a16="http://schemas.microsoft.com/office/drawing/2014/main" id="{713F9C04-FFA1-494A-86AE-C24E71E442E8}"/>
              </a:ext>
            </a:extLst>
          </p:cNvPr>
          <p:cNvSpPr>
            <a:spLocks noGrp="1"/>
          </p:cNvSpPr>
          <p:nvPr/>
        </p:nvSpPr>
        <p:spPr>
          <a:xfrm>
            <a:off x="3657600" y="52197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Booking handler</a:t>
            </a:r>
          </a:p>
        </p:txBody>
      </p:sp>
      <p:sp>
        <p:nvSpPr>
          <p:cNvPr id="35" name="table-cell-dict3-0-2">
            <a:extLst>
              <a:ext uri="{FF2B5EF4-FFF2-40B4-BE49-F238E27FC236}">
                <a16:creationId xmlns:a16="http://schemas.microsoft.com/office/drawing/2014/main" id="{DB564DD5-FD1F-4DBE-997C-0CF892F32BA4}"/>
              </a:ext>
            </a:extLst>
          </p:cNvPr>
          <p:cNvSpPr>
            <a:spLocks noGrp="1"/>
          </p:cNvSpPr>
          <p:nvPr/>
        </p:nvSpPr>
        <p:spPr>
          <a:xfrm>
            <a:off x="6305550" y="52197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StaffID, FullName, RoleName, Email, Phone, IsActive</a:t>
            </a:r>
          </a:p>
        </p:txBody>
      </p:sp>
      <p:sp>
        <p:nvSpPr>
          <p:cNvPr id="36" name="table-cell-dict3-1-0">
            <a:extLst>
              <a:ext uri="{FF2B5EF4-FFF2-40B4-BE49-F238E27FC236}">
                <a16:creationId xmlns:a16="http://schemas.microsoft.com/office/drawing/2014/main" id="{CC698CB5-160E-473A-91D3-D9E439A4D942}"/>
              </a:ext>
            </a:extLst>
          </p:cNvPr>
          <p:cNvSpPr>
            <a:spLocks noGrp="1"/>
          </p:cNvSpPr>
          <p:nvPr/>
        </p:nvSpPr>
        <p:spPr>
          <a:xfrm>
            <a:off x="990600" y="5638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</a:t>
            </a:r>
          </a:p>
        </p:txBody>
      </p:sp>
      <p:sp>
        <p:nvSpPr>
          <p:cNvPr id="37" name="table-cell-dict3-1-1">
            <a:extLst>
              <a:ext uri="{FF2B5EF4-FFF2-40B4-BE49-F238E27FC236}">
                <a16:creationId xmlns:a16="http://schemas.microsoft.com/office/drawing/2014/main" id="{7A04C575-D2ED-4E76-9293-143925669856}"/>
              </a:ext>
            </a:extLst>
          </p:cNvPr>
          <p:cNvSpPr>
            <a:spLocks noGrp="1"/>
          </p:cNvSpPr>
          <p:nvPr/>
        </p:nvSpPr>
        <p:spPr>
          <a:xfrm>
            <a:off x="3657600" y="5638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Booking header</a:t>
            </a:r>
          </a:p>
        </p:txBody>
      </p:sp>
      <p:sp>
        <p:nvSpPr>
          <p:cNvPr id="38" name="table-cell-dict3-1-2">
            <a:extLst>
              <a:ext uri="{FF2B5EF4-FFF2-40B4-BE49-F238E27FC236}">
                <a16:creationId xmlns:a16="http://schemas.microsoft.com/office/drawing/2014/main" id="{6DC9E650-DB3F-409F-8D77-FB51D9BA75F9}"/>
              </a:ext>
            </a:extLst>
          </p:cNvPr>
          <p:cNvSpPr>
            <a:spLocks noGrp="1"/>
          </p:cNvSpPr>
          <p:nvPr/>
        </p:nvSpPr>
        <p:spPr>
          <a:xfrm>
            <a:off x="6305550" y="5638800"/>
            <a:ext cx="2552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ReservationID, CustomerID, StaffID, BookingDate, CheckInDate, CheckOutDate, ReservationStatus, TaxRate</a:t>
            </a:r>
          </a:p>
        </p:txBody>
      </p:sp>
      <p:sp>
        <p:nvSpPr>
          <p:cNvPr id="39" name="table-dict4">
            <a:extLst>
              <a:ext uri="{FF2B5EF4-FFF2-40B4-BE49-F238E27FC236}">
                <a16:creationId xmlns:a16="http://schemas.microsoft.com/office/drawing/2014/main" id="{F593D7D0-05AB-443E-BFA7-BFB3CBBBEF94}"/>
              </a:ext>
            </a:extLst>
          </p:cNvPr>
          <p:cNvSpPr>
            <a:spLocks noGrp="1"/>
          </p:cNvSpPr>
          <p:nvPr/>
        </p:nvSpPr>
        <p:spPr>
          <a:xfrm>
            <a:off x="9267825" y="4697730"/>
            <a:ext cx="8201025" cy="223266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able-head-dict4-0">
            <a:extLst>
              <a:ext uri="{FF2B5EF4-FFF2-40B4-BE49-F238E27FC236}">
                <a16:creationId xmlns:a16="http://schemas.microsoft.com/office/drawing/2014/main" id="{81D40216-DF89-48F9-9DAE-5084BB7592C7}"/>
              </a:ext>
            </a:extLst>
          </p:cNvPr>
          <p:cNvSpPr>
            <a:spLocks noGrp="1"/>
          </p:cNvSpPr>
          <p:nvPr/>
        </p:nvSpPr>
        <p:spPr>
          <a:xfrm>
            <a:off x="9448800" y="48577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Table</a:t>
            </a:r>
          </a:p>
        </p:txBody>
      </p:sp>
      <p:sp>
        <p:nvSpPr>
          <p:cNvPr id="41" name="table-head-dict4-1">
            <a:extLst>
              <a:ext uri="{FF2B5EF4-FFF2-40B4-BE49-F238E27FC236}">
                <a16:creationId xmlns:a16="http://schemas.microsoft.com/office/drawing/2014/main" id="{AB747131-7FAB-46BD-BBBE-5E7FF9325841}"/>
              </a:ext>
            </a:extLst>
          </p:cNvPr>
          <p:cNvSpPr>
            <a:spLocks noGrp="1"/>
          </p:cNvSpPr>
          <p:nvPr/>
        </p:nvSpPr>
        <p:spPr>
          <a:xfrm>
            <a:off x="12096750" y="48577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Purpose</a:t>
            </a:r>
          </a:p>
        </p:txBody>
      </p:sp>
      <p:sp>
        <p:nvSpPr>
          <p:cNvPr id="42" name="table-head-dict4-2">
            <a:extLst>
              <a:ext uri="{FF2B5EF4-FFF2-40B4-BE49-F238E27FC236}">
                <a16:creationId xmlns:a16="http://schemas.microsoft.com/office/drawing/2014/main" id="{78870707-7344-4360-B174-EEF00F850C7A}"/>
              </a:ext>
            </a:extLst>
          </p:cNvPr>
          <p:cNvSpPr>
            <a:spLocks noGrp="1"/>
          </p:cNvSpPr>
          <p:nvPr/>
        </p:nvSpPr>
        <p:spPr>
          <a:xfrm>
            <a:off x="14763750" y="48577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Important columns</a:t>
            </a:r>
          </a:p>
        </p:txBody>
      </p:sp>
      <p:sp>
        <p:nvSpPr>
          <p:cNvPr id="43" name="table-rule-dict4">
            <a:extLst>
              <a:ext uri="{FF2B5EF4-FFF2-40B4-BE49-F238E27FC236}">
                <a16:creationId xmlns:a16="http://schemas.microsoft.com/office/drawing/2014/main" id="{ED55F19A-82A2-45FD-902B-5B59FF5F9455}"/>
              </a:ext>
            </a:extLst>
          </p:cNvPr>
          <p:cNvSpPr>
            <a:spLocks noGrp="1"/>
          </p:cNvSpPr>
          <p:nvPr/>
        </p:nvSpPr>
        <p:spPr>
          <a:xfrm>
            <a:off x="9448800" y="5124450"/>
            <a:ext cx="78676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able-cell-dict4-0-0">
            <a:extLst>
              <a:ext uri="{FF2B5EF4-FFF2-40B4-BE49-F238E27FC236}">
                <a16:creationId xmlns:a16="http://schemas.microsoft.com/office/drawing/2014/main" id="{986127B2-F3F0-4499-9735-BB375D87120A}"/>
              </a:ext>
            </a:extLst>
          </p:cNvPr>
          <p:cNvSpPr>
            <a:spLocks noGrp="1"/>
          </p:cNvSpPr>
          <p:nvPr/>
        </p:nvSpPr>
        <p:spPr>
          <a:xfrm>
            <a:off x="9448800" y="52197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ReservationRoom</a:t>
            </a:r>
          </a:p>
        </p:txBody>
      </p:sp>
      <p:sp>
        <p:nvSpPr>
          <p:cNvPr id="45" name="table-cell-dict4-0-1">
            <a:extLst>
              <a:ext uri="{FF2B5EF4-FFF2-40B4-BE49-F238E27FC236}">
                <a16:creationId xmlns:a16="http://schemas.microsoft.com/office/drawing/2014/main" id="{335A9289-2597-476C-8CB1-BEF9E00196FC}"/>
              </a:ext>
            </a:extLst>
          </p:cNvPr>
          <p:cNvSpPr>
            <a:spLocks noGrp="1"/>
          </p:cNvSpPr>
          <p:nvPr/>
        </p:nvSpPr>
        <p:spPr>
          <a:xfrm>
            <a:off x="12096750" y="52197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Rooms assigned to bookings</a:t>
            </a:r>
          </a:p>
        </p:txBody>
      </p:sp>
      <p:sp>
        <p:nvSpPr>
          <p:cNvPr id="46" name="table-cell-dict4-0-2">
            <a:extLst>
              <a:ext uri="{FF2B5EF4-FFF2-40B4-BE49-F238E27FC236}">
                <a16:creationId xmlns:a16="http://schemas.microsoft.com/office/drawing/2014/main" id="{B7F4A2EA-44E0-4B97-BAC3-967131D81F1B}"/>
              </a:ext>
            </a:extLst>
          </p:cNvPr>
          <p:cNvSpPr>
            <a:spLocks noGrp="1"/>
          </p:cNvSpPr>
          <p:nvPr/>
        </p:nvSpPr>
        <p:spPr>
          <a:xfrm>
            <a:off x="14763750" y="52197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ReservationRoomID, ReservationID, RoomID, AssignedRate</a:t>
            </a:r>
          </a:p>
        </p:txBody>
      </p:sp>
      <p:sp>
        <p:nvSpPr>
          <p:cNvPr id="47" name="table-cell-dict4-1-0">
            <a:extLst>
              <a:ext uri="{FF2B5EF4-FFF2-40B4-BE49-F238E27FC236}">
                <a16:creationId xmlns:a16="http://schemas.microsoft.com/office/drawing/2014/main" id="{422E01FC-C1EE-413A-90D3-B980C4F18938}"/>
              </a:ext>
            </a:extLst>
          </p:cNvPr>
          <p:cNvSpPr>
            <a:spLocks noGrp="1"/>
          </p:cNvSpPr>
          <p:nvPr/>
        </p:nvSpPr>
        <p:spPr>
          <a:xfrm>
            <a:off x="9448800" y="5638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ReservationService</a:t>
            </a:r>
          </a:p>
        </p:txBody>
      </p:sp>
      <p:sp>
        <p:nvSpPr>
          <p:cNvPr id="48" name="table-cell-dict4-1-1">
            <a:extLst>
              <a:ext uri="{FF2B5EF4-FFF2-40B4-BE49-F238E27FC236}">
                <a16:creationId xmlns:a16="http://schemas.microsoft.com/office/drawing/2014/main" id="{C57F6811-2BA7-4FD7-95A1-B9771E3853A6}"/>
              </a:ext>
            </a:extLst>
          </p:cNvPr>
          <p:cNvSpPr>
            <a:spLocks noGrp="1"/>
          </p:cNvSpPr>
          <p:nvPr/>
        </p:nvSpPr>
        <p:spPr>
          <a:xfrm>
            <a:off x="12096750" y="56388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Charged services used</a:t>
            </a:r>
          </a:p>
        </p:txBody>
      </p:sp>
      <p:sp>
        <p:nvSpPr>
          <p:cNvPr id="49" name="table-cell-dict4-1-2">
            <a:extLst>
              <a:ext uri="{FF2B5EF4-FFF2-40B4-BE49-F238E27FC236}">
                <a16:creationId xmlns:a16="http://schemas.microsoft.com/office/drawing/2014/main" id="{48A977AD-619E-4EAD-882B-F6F93DA0DC66}"/>
              </a:ext>
            </a:extLst>
          </p:cNvPr>
          <p:cNvSpPr>
            <a:spLocks noGrp="1"/>
          </p:cNvSpPr>
          <p:nvPr/>
        </p:nvSpPr>
        <p:spPr>
          <a:xfrm>
            <a:off x="14763750" y="56388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ReservationServiceID, ReservationID, ServiceID, Quantity, ChargedPrice, ServiceDate</a:t>
            </a:r>
          </a:p>
        </p:txBody>
      </p:sp>
      <p:sp>
        <p:nvSpPr>
          <p:cNvPr id="50" name="table-dict5">
            <a:extLst>
              <a:ext uri="{FF2B5EF4-FFF2-40B4-BE49-F238E27FC236}">
                <a16:creationId xmlns:a16="http://schemas.microsoft.com/office/drawing/2014/main" id="{3240D6DD-9198-4F7F-9779-71D61CB08C4E}"/>
              </a:ext>
            </a:extLst>
          </p:cNvPr>
          <p:cNvSpPr>
            <a:spLocks noGrp="1"/>
          </p:cNvSpPr>
          <p:nvPr/>
        </p:nvSpPr>
        <p:spPr>
          <a:xfrm>
            <a:off x="819150" y="7101840"/>
            <a:ext cx="8201025" cy="223266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able-head-dict5-0">
            <a:extLst>
              <a:ext uri="{FF2B5EF4-FFF2-40B4-BE49-F238E27FC236}">
                <a16:creationId xmlns:a16="http://schemas.microsoft.com/office/drawing/2014/main" id="{01FFE370-C91B-4495-A2E6-250129EB5D66}"/>
              </a:ext>
            </a:extLst>
          </p:cNvPr>
          <p:cNvSpPr>
            <a:spLocks noGrp="1"/>
          </p:cNvSpPr>
          <p:nvPr/>
        </p:nvSpPr>
        <p:spPr>
          <a:xfrm>
            <a:off x="990600" y="72580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48C82"/>
                </a:solidFill>
              </a:defRPr>
            </a:pPr>
            <a:r>
              <a:rPr sz="1125" b="1">
                <a:solidFill>
                  <a:srgbClr val="148C82"/>
                </a:solidFill>
              </a:rPr>
              <a:t>Table</a:t>
            </a:r>
          </a:p>
        </p:txBody>
      </p:sp>
      <p:sp>
        <p:nvSpPr>
          <p:cNvPr id="52" name="table-head-dict5-1">
            <a:extLst>
              <a:ext uri="{FF2B5EF4-FFF2-40B4-BE49-F238E27FC236}">
                <a16:creationId xmlns:a16="http://schemas.microsoft.com/office/drawing/2014/main" id="{D9EA10C6-37B0-438F-A97D-D16031BF7446}"/>
              </a:ext>
            </a:extLst>
          </p:cNvPr>
          <p:cNvSpPr>
            <a:spLocks noGrp="1"/>
          </p:cNvSpPr>
          <p:nvPr/>
        </p:nvSpPr>
        <p:spPr>
          <a:xfrm>
            <a:off x="3657600" y="72580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48C82"/>
                </a:solidFill>
              </a:defRPr>
            </a:pPr>
            <a:r>
              <a:rPr sz="1125" b="1">
                <a:solidFill>
                  <a:srgbClr val="148C82"/>
                </a:solidFill>
              </a:rPr>
              <a:t>Purpose</a:t>
            </a:r>
          </a:p>
        </p:txBody>
      </p:sp>
      <p:sp>
        <p:nvSpPr>
          <p:cNvPr id="53" name="table-head-dict5-2">
            <a:extLst>
              <a:ext uri="{FF2B5EF4-FFF2-40B4-BE49-F238E27FC236}">
                <a16:creationId xmlns:a16="http://schemas.microsoft.com/office/drawing/2014/main" id="{121AEE7F-5E9A-4F7F-944C-4B5F35785A4D}"/>
              </a:ext>
            </a:extLst>
          </p:cNvPr>
          <p:cNvSpPr>
            <a:spLocks noGrp="1"/>
          </p:cNvSpPr>
          <p:nvPr/>
        </p:nvSpPr>
        <p:spPr>
          <a:xfrm>
            <a:off x="6305550" y="72580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48C82"/>
                </a:solidFill>
              </a:defRPr>
            </a:pPr>
            <a:r>
              <a:rPr sz="1125" b="1">
                <a:solidFill>
                  <a:srgbClr val="148C82"/>
                </a:solidFill>
              </a:rPr>
              <a:t>Important columns</a:t>
            </a:r>
          </a:p>
        </p:txBody>
      </p:sp>
      <p:sp>
        <p:nvSpPr>
          <p:cNvPr id="54" name="table-rule-dict5">
            <a:extLst>
              <a:ext uri="{FF2B5EF4-FFF2-40B4-BE49-F238E27FC236}">
                <a16:creationId xmlns:a16="http://schemas.microsoft.com/office/drawing/2014/main" id="{1717616F-A4DD-48A8-8D3F-C7606A0F1A6E}"/>
              </a:ext>
            </a:extLst>
          </p:cNvPr>
          <p:cNvSpPr>
            <a:spLocks noGrp="1"/>
          </p:cNvSpPr>
          <p:nvPr/>
        </p:nvSpPr>
        <p:spPr>
          <a:xfrm>
            <a:off x="990600" y="7524750"/>
            <a:ext cx="78676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able-cell-dict5-0-0">
            <a:extLst>
              <a:ext uri="{FF2B5EF4-FFF2-40B4-BE49-F238E27FC236}">
                <a16:creationId xmlns:a16="http://schemas.microsoft.com/office/drawing/2014/main" id="{42309909-11EA-4C62-942D-626E5B864922}"/>
              </a:ext>
            </a:extLst>
          </p:cNvPr>
          <p:cNvSpPr>
            <a:spLocks noGrp="1"/>
          </p:cNvSpPr>
          <p:nvPr/>
        </p:nvSpPr>
        <p:spPr>
          <a:xfrm>
            <a:off x="990600" y="76200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Service</a:t>
            </a:r>
          </a:p>
        </p:txBody>
      </p:sp>
      <p:sp>
        <p:nvSpPr>
          <p:cNvPr id="56" name="table-cell-dict5-0-1">
            <a:extLst>
              <a:ext uri="{FF2B5EF4-FFF2-40B4-BE49-F238E27FC236}">
                <a16:creationId xmlns:a16="http://schemas.microsoft.com/office/drawing/2014/main" id="{7E421FD5-37A9-40D7-91AD-D346BB88ED33}"/>
              </a:ext>
            </a:extLst>
          </p:cNvPr>
          <p:cNvSpPr>
            <a:spLocks noGrp="1"/>
          </p:cNvSpPr>
          <p:nvPr/>
        </p:nvSpPr>
        <p:spPr>
          <a:xfrm>
            <a:off x="3657600" y="76200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Chargeable services</a:t>
            </a:r>
          </a:p>
        </p:txBody>
      </p:sp>
      <p:sp>
        <p:nvSpPr>
          <p:cNvPr id="57" name="table-cell-dict5-0-2">
            <a:extLst>
              <a:ext uri="{FF2B5EF4-FFF2-40B4-BE49-F238E27FC236}">
                <a16:creationId xmlns:a16="http://schemas.microsoft.com/office/drawing/2014/main" id="{EA573DB2-4040-47F9-B8E9-E8AD4D81E097}"/>
              </a:ext>
            </a:extLst>
          </p:cNvPr>
          <p:cNvSpPr>
            <a:spLocks noGrp="1"/>
          </p:cNvSpPr>
          <p:nvPr/>
        </p:nvSpPr>
        <p:spPr>
          <a:xfrm>
            <a:off x="6305550" y="76200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ServiceID, ServiceName, UnitPrice, IsActive</a:t>
            </a:r>
          </a:p>
        </p:txBody>
      </p:sp>
      <p:sp>
        <p:nvSpPr>
          <p:cNvPr id="58" name="table-cell-dict5-1-0">
            <a:extLst>
              <a:ext uri="{FF2B5EF4-FFF2-40B4-BE49-F238E27FC236}">
                <a16:creationId xmlns:a16="http://schemas.microsoft.com/office/drawing/2014/main" id="{74BB8ECA-3590-465F-A853-7223FEB8AB7F}"/>
              </a:ext>
            </a:extLst>
          </p:cNvPr>
          <p:cNvSpPr>
            <a:spLocks noGrp="1"/>
          </p:cNvSpPr>
          <p:nvPr/>
        </p:nvSpPr>
        <p:spPr>
          <a:xfrm>
            <a:off x="990600" y="78867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PaymentMethod</a:t>
            </a:r>
          </a:p>
        </p:txBody>
      </p:sp>
      <p:sp>
        <p:nvSpPr>
          <p:cNvPr id="59" name="table-cell-dict5-1-1">
            <a:extLst>
              <a:ext uri="{FF2B5EF4-FFF2-40B4-BE49-F238E27FC236}">
                <a16:creationId xmlns:a16="http://schemas.microsoft.com/office/drawing/2014/main" id="{885A5744-3FB9-475D-83CD-050A2D8F7CC5}"/>
              </a:ext>
            </a:extLst>
          </p:cNvPr>
          <p:cNvSpPr>
            <a:spLocks noGrp="1"/>
          </p:cNvSpPr>
          <p:nvPr/>
        </p:nvSpPr>
        <p:spPr>
          <a:xfrm>
            <a:off x="3657600" y="78867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Payment reference list</a:t>
            </a:r>
          </a:p>
        </p:txBody>
      </p:sp>
      <p:sp>
        <p:nvSpPr>
          <p:cNvPr id="60" name="table-cell-dict5-1-2">
            <a:extLst>
              <a:ext uri="{FF2B5EF4-FFF2-40B4-BE49-F238E27FC236}">
                <a16:creationId xmlns:a16="http://schemas.microsoft.com/office/drawing/2014/main" id="{1266CDF1-0415-44CE-ADF1-35AD9CC5E9B8}"/>
              </a:ext>
            </a:extLst>
          </p:cNvPr>
          <p:cNvSpPr>
            <a:spLocks noGrp="1"/>
          </p:cNvSpPr>
          <p:nvPr/>
        </p:nvSpPr>
        <p:spPr>
          <a:xfrm>
            <a:off x="6305550" y="78867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PaymentMethodID, MethodName</a:t>
            </a:r>
          </a:p>
        </p:txBody>
      </p:sp>
      <p:sp>
        <p:nvSpPr>
          <p:cNvPr id="61" name="table-dict6">
            <a:extLst>
              <a:ext uri="{FF2B5EF4-FFF2-40B4-BE49-F238E27FC236}">
                <a16:creationId xmlns:a16="http://schemas.microsoft.com/office/drawing/2014/main" id="{51485A75-4AE8-4605-93D7-73A133ABCF56}"/>
              </a:ext>
            </a:extLst>
          </p:cNvPr>
          <p:cNvSpPr>
            <a:spLocks noGrp="1"/>
          </p:cNvSpPr>
          <p:nvPr/>
        </p:nvSpPr>
        <p:spPr>
          <a:xfrm>
            <a:off x="9267825" y="7101840"/>
            <a:ext cx="8201025" cy="223266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able-head-dict6-0">
            <a:extLst>
              <a:ext uri="{FF2B5EF4-FFF2-40B4-BE49-F238E27FC236}">
                <a16:creationId xmlns:a16="http://schemas.microsoft.com/office/drawing/2014/main" id="{A748F6A6-4EEA-4187-BFB2-E0F181C2E604}"/>
              </a:ext>
            </a:extLst>
          </p:cNvPr>
          <p:cNvSpPr>
            <a:spLocks noGrp="1"/>
          </p:cNvSpPr>
          <p:nvPr/>
        </p:nvSpPr>
        <p:spPr>
          <a:xfrm>
            <a:off x="9448800" y="72580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D5BA6"/>
                </a:solidFill>
              </a:defRPr>
            </a:pPr>
            <a:r>
              <a:rPr sz="1125" b="1">
                <a:solidFill>
                  <a:srgbClr val="6D5BA6"/>
                </a:solidFill>
              </a:rPr>
              <a:t>Table</a:t>
            </a:r>
          </a:p>
        </p:txBody>
      </p:sp>
      <p:sp>
        <p:nvSpPr>
          <p:cNvPr id="63" name="table-head-dict6-1">
            <a:extLst>
              <a:ext uri="{FF2B5EF4-FFF2-40B4-BE49-F238E27FC236}">
                <a16:creationId xmlns:a16="http://schemas.microsoft.com/office/drawing/2014/main" id="{C64D22B0-EB9E-414F-870A-C14AC037CC57}"/>
              </a:ext>
            </a:extLst>
          </p:cNvPr>
          <p:cNvSpPr>
            <a:spLocks noGrp="1"/>
          </p:cNvSpPr>
          <p:nvPr/>
        </p:nvSpPr>
        <p:spPr>
          <a:xfrm>
            <a:off x="12096750" y="72580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D5BA6"/>
                </a:solidFill>
              </a:defRPr>
            </a:pPr>
            <a:r>
              <a:rPr sz="1125" b="1">
                <a:solidFill>
                  <a:srgbClr val="6D5BA6"/>
                </a:solidFill>
              </a:rPr>
              <a:t>Purpose</a:t>
            </a:r>
          </a:p>
        </p:txBody>
      </p:sp>
      <p:sp>
        <p:nvSpPr>
          <p:cNvPr id="64" name="table-head-dict6-2">
            <a:extLst>
              <a:ext uri="{FF2B5EF4-FFF2-40B4-BE49-F238E27FC236}">
                <a16:creationId xmlns:a16="http://schemas.microsoft.com/office/drawing/2014/main" id="{A31250D2-6BF2-4EA3-84AA-4C6325A356B2}"/>
              </a:ext>
            </a:extLst>
          </p:cNvPr>
          <p:cNvSpPr>
            <a:spLocks noGrp="1"/>
          </p:cNvSpPr>
          <p:nvPr/>
        </p:nvSpPr>
        <p:spPr>
          <a:xfrm>
            <a:off x="14763750" y="725805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D5BA6"/>
                </a:solidFill>
              </a:defRPr>
            </a:pPr>
            <a:r>
              <a:rPr sz="1125" b="1">
                <a:solidFill>
                  <a:srgbClr val="6D5BA6"/>
                </a:solidFill>
              </a:rPr>
              <a:t>Important columns</a:t>
            </a:r>
          </a:p>
        </p:txBody>
      </p:sp>
      <p:sp>
        <p:nvSpPr>
          <p:cNvPr id="65" name="table-rule-dict6">
            <a:extLst>
              <a:ext uri="{FF2B5EF4-FFF2-40B4-BE49-F238E27FC236}">
                <a16:creationId xmlns:a16="http://schemas.microsoft.com/office/drawing/2014/main" id="{2AF3488A-932D-4C29-96AE-5F45EDCE7D17}"/>
              </a:ext>
            </a:extLst>
          </p:cNvPr>
          <p:cNvSpPr>
            <a:spLocks noGrp="1"/>
          </p:cNvSpPr>
          <p:nvPr/>
        </p:nvSpPr>
        <p:spPr>
          <a:xfrm>
            <a:off x="9448800" y="7524750"/>
            <a:ext cx="78676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able-cell-dict6-0-0">
            <a:extLst>
              <a:ext uri="{FF2B5EF4-FFF2-40B4-BE49-F238E27FC236}">
                <a16:creationId xmlns:a16="http://schemas.microsoft.com/office/drawing/2014/main" id="{5162165B-A4E2-4640-A73C-1DF5DF4D3EE1}"/>
              </a:ext>
            </a:extLst>
          </p:cNvPr>
          <p:cNvSpPr>
            <a:spLocks noGrp="1"/>
          </p:cNvSpPr>
          <p:nvPr/>
        </p:nvSpPr>
        <p:spPr>
          <a:xfrm>
            <a:off x="9448800" y="76200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Payment</a:t>
            </a:r>
          </a:p>
        </p:txBody>
      </p:sp>
      <p:sp>
        <p:nvSpPr>
          <p:cNvPr id="67" name="table-cell-dict6-0-1">
            <a:extLst>
              <a:ext uri="{FF2B5EF4-FFF2-40B4-BE49-F238E27FC236}">
                <a16:creationId xmlns:a16="http://schemas.microsoft.com/office/drawing/2014/main" id="{86A71B04-0AD5-4760-AFED-23F9ABD756B4}"/>
              </a:ext>
            </a:extLst>
          </p:cNvPr>
          <p:cNvSpPr>
            <a:spLocks noGrp="1"/>
          </p:cNvSpPr>
          <p:nvPr/>
        </p:nvSpPr>
        <p:spPr>
          <a:xfrm>
            <a:off x="12096750" y="76200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Payment transaction</a:t>
            </a:r>
          </a:p>
        </p:txBody>
      </p:sp>
      <p:sp>
        <p:nvSpPr>
          <p:cNvPr id="68" name="table-cell-dict6-0-2">
            <a:extLst>
              <a:ext uri="{FF2B5EF4-FFF2-40B4-BE49-F238E27FC236}">
                <a16:creationId xmlns:a16="http://schemas.microsoft.com/office/drawing/2014/main" id="{464F54E4-54AA-4A95-BFCE-DBFB564787D6}"/>
              </a:ext>
            </a:extLst>
          </p:cNvPr>
          <p:cNvSpPr>
            <a:spLocks noGrp="1"/>
          </p:cNvSpPr>
          <p:nvPr/>
        </p:nvSpPr>
        <p:spPr>
          <a:xfrm>
            <a:off x="14763750" y="7620000"/>
            <a:ext cx="2552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PaymentID, ReservationID, PaymentMethodID, PaymentDate, Amount, PaymentStatus, ReferenceNo</a:t>
            </a:r>
          </a:p>
        </p:txBody>
      </p:sp>
      <p:sp>
        <p:nvSpPr>
          <p:cNvPr id="69" name="table-cell-dict6-1-0">
            <a:extLst>
              <a:ext uri="{FF2B5EF4-FFF2-40B4-BE49-F238E27FC236}">
                <a16:creationId xmlns:a16="http://schemas.microsoft.com/office/drawing/2014/main" id="{B02FCFD2-8ECF-4FCE-BAE2-0C6DF982A67B}"/>
              </a:ext>
            </a:extLst>
          </p:cNvPr>
          <p:cNvSpPr>
            <a:spLocks noGrp="1"/>
          </p:cNvSpPr>
          <p:nvPr/>
        </p:nvSpPr>
        <p:spPr>
          <a:xfrm>
            <a:off x="9448800" y="81915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AuditLog</a:t>
            </a:r>
          </a:p>
        </p:txBody>
      </p:sp>
      <p:sp>
        <p:nvSpPr>
          <p:cNvPr id="70" name="table-cell-dict6-1-1">
            <a:extLst>
              <a:ext uri="{FF2B5EF4-FFF2-40B4-BE49-F238E27FC236}">
                <a16:creationId xmlns:a16="http://schemas.microsoft.com/office/drawing/2014/main" id="{795CEAEA-4191-45FC-9ACD-B1B8390FBB08}"/>
              </a:ext>
            </a:extLst>
          </p:cNvPr>
          <p:cNvSpPr>
            <a:spLocks noGrp="1"/>
          </p:cNvSpPr>
          <p:nvPr/>
        </p:nvSpPr>
        <p:spPr>
          <a:xfrm>
            <a:off x="12096750" y="8191500"/>
            <a:ext cx="2552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Trigger history</a:t>
            </a:r>
          </a:p>
        </p:txBody>
      </p:sp>
      <p:sp>
        <p:nvSpPr>
          <p:cNvPr id="71" name="table-cell-dict6-1-2">
            <a:extLst>
              <a:ext uri="{FF2B5EF4-FFF2-40B4-BE49-F238E27FC236}">
                <a16:creationId xmlns:a16="http://schemas.microsoft.com/office/drawing/2014/main" id="{B0A94699-1E1E-4E5C-875F-FADAA120ED40}"/>
              </a:ext>
            </a:extLst>
          </p:cNvPr>
          <p:cNvSpPr>
            <a:spLocks noGrp="1"/>
          </p:cNvSpPr>
          <p:nvPr/>
        </p:nvSpPr>
        <p:spPr>
          <a:xfrm>
            <a:off x="14763750" y="8191500"/>
            <a:ext cx="255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AuditLogID, TableName, ActionType, RecordID, ActionDate, ActionBy, Description</a:t>
            </a:r>
          </a:p>
        </p:txBody>
      </p:sp>
      <p:sp>
        <p:nvSpPr>
          <p:cNvPr id="72" name="source-footer">
            <a:extLst>
              <a:ext uri="{FF2B5EF4-FFF2-40B4-BE49-F238E27FC236}">
                <a16:creationId xmlns:a16="http://schemas.microsoft.com/office/drawing/2014/main" id="{28A10F3A-02DC-422B-B384-01C1FE572737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73" name="slide-number">
            <a:extLst>
              <a:ext uri="{FF2B5EF4-FFF2-40B4-BE49-F238E27FC236}">
                <a16:creationId xmlns:a16="http://schemas.microsoft.com/office/drawing/2014/main" id="{8EACB28F-F9E4-42DA-ACDD-534E8B52372B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9213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">
            <a:extLst>
              <a:ext uri="{FF2B5EF4-FFF2-40B4-BE49-F238E27FC236}">
                <a16:creationId xmlns:a16="http://schemas.microsoft.com/office/drawing/2014/main" id="{721B85EF-85A0-464D-AF1E-E6AC33489986}"/>
              </a:ext>
            </a:extLst>
          </p:cNvPr>
          <p:cNvSpPr>
            <a:spLocks noGrp="1"/>
          </p:cNvSpPr>
          <p:nvPr/>
        </p:nvSpPr>
        <p:spPr>
          <a:xfrm>
            <a:off x="14748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6DDA353E-75DD-48D2-9011-105D3F2B2FBC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C78A28"/>
          </a:solidFill>
          <a:ln w="0">
            <a:solidFill>
              <a:srgbClr val="C78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C7AACECA-1BC2-4D48-8B37-EAB63B60FF1D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BA924142-F48A-4465-BC8A-EE42D258D25A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Integrity rules protect the reservation workflow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A8DAE87C-21CF-451F-8CCC-C4142C7F7A61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1334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The schema combines keys, constraints, defaults, and triggers so operational data stays valid before reports are generated.</a:t>
            </a:r>
          </a:p>
        </p:txBody>
      </p:sp>
      <p:sp>
        <p:nvSpPr>
          <p:cNvPr id="6" name="bullet-dot-Primary keys">
            <a:extLst>
              <a:ext uri="{FF2B5EF4-FFF2-40B4-BE49-F238E27FC236}">
                <a16:creationId xmlns:a16="http://schemas.microsoft.com/office/drawing/2014/main" id="{6BF42067-EBB8-426F-96FD-820D89D14F60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5B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bullet-label-Primary keys">
            <a:extLst>
              <a:ext uri="{FF2B5EF4-FFF2-40B4-BE49-F238E27FC236}">
                <a16:creationId xmlns:a16="http://schemas.microsoft.com/office/drawing/2014/main" id="{5760ABBF-707A-498C-80B8-88AD6ACE4A6B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Primary keys</a:t>
            </a:r>
          </a:p>
        </p:txBody>
      </p:sp>
      <p:sp>
        <p:nvSpPr>
          <p:cNvPr id="8" name="bullet-desc-Primary keys">
            <a:extLst>
              <a:ext uri="{FF2B5EF4-FFF2-40B4-BE49-F238E27FC236}">
                <a16:creationId xmlns:a16="http://schemas.microsoft.com/office/drawing/2014/main" id="{20D63B9A-1F1D-490B-A4F2-D82F8D8226B7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653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Every core entity has an identity column primary key, including AuditLogID as BIGINT.</a:t>
            </a:r>
          </a:p>
        </p:txBody>
      </p:sp>
      <p:sp>
        <p:nvSpPr>
          <p:cNvPr id="9" name="bullet-dot-Foreign keys">
            <a:extLst>
              <a:ext uri="{FF2B5EF4-FFF2-40B4-BE49-F238E27FC236}">
                <a16:creationId xmlns:a16="http://schemas.microsoft.com/office/drawing/2014/main" id="{6D9BA904-42E6-47BE-BA80-629C9D0D1D31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A7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bullet-label-Foreign keys">
            <a:extLst>
              <a:ext uri="{FF2B5EF4-FFF2-40B4-BE49-F238E27FC236}">
                <a16:creationId xmlns:a16="http://schemas.microsoft.com/office/drawing/2014/main" id="{7CE8F4D2-4543-4E9A-AAAF-FF8B849E3FE8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Foreign keys</a:t>
            </a:r>
          </a:p>
        </p:txBody>
      </p:sp>
      <p:sp>
        <p:nvSpPr>
          <p:cNvPr id="11" name="bullet-desc-Foreign keys">
            <a:extLst>
              <a:ext uri="{FF2B5EF4-FFF2-40B4-BE49-F238E27FC236}">
                <a16:creationId xmlns:a16="http://schemas.microsoft.com/office/drawing/2014/main" id="{35528A26-AD05-4E77-84EF-8C9140A8E90B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1082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Room connects to Hotel and RoomCategory; Reservation connects to Customer and Staff; bridge tables connect bookings to rooms/services.</a:t>
            </a:r>
          </a:p>
        </p:txBody>
      </p:sp>
      <p:sp>
        <p:nvSpPr>
          <p:cNvPr id="12" name="bullet-dot-Unique rules">
            <a:extLst>
              <a:ext uri="{FF2B5EF4-FFF2-40B4-BE49-F238E27FC236}">
                <a16:creationId xmlns:a16="http://schemas.microsoft.com/office/drawing/2014/main" id="{5C4E5291-8EC6-4BCE-8FD5-525247081BF1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78A28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bullet-label-Unique rules">
            <a:extLst>
              <a:ext uri="{FF2B5EF4-FFF2-40B4-BE49-F238E27FC236}">
                <a16:creationId xmlns:a16="http://schemas.microsoft.com/office/drawing/2014/main" id="{C3F7E652-C480-41CB-82DD-4E56EC216CD0}"/>
              </a:ext>
            </a:extLst>
          </p:cNvPr>
          <p:cNvSpPr>
            <a:spLocks noGrp="1"/>
          </p:cNvSpPr>
          <p:nvPr/>
        </p:nvSpPr>
        <p:spPr>
          <a:xfrm>
            <a:off x="1104900" y="398145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Unique rules</a:t>
            </a:r>
          </a:p>
        </p:txBody>
      </p:sp>
      <p:sp>
        <p:nvSpPr>
          <p:cNvPr id="14" name="bullet-desc-Unique rules">
            <a:extLst>
              <a:ext uri="{FF2B5EF4-FFF2-40B4-BE49-F238E27FC236}">
                <a16:creationId xmlns:a16="http://schemas.microsoft.com/office/drawing/2014/main" id="{F360A3E1-D969-4E40-A13E-FE4A0E42A3A1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11068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Email, phone, identity proof, category names, payment methods, payment references, and hotel room numbers are protected from duplication.</a:t>
            </a:r>
          </a:p>
        </p:txBody>
      </p:sp>
      <p:sp>
        <p:nvSpPr>
          <p:cNvPr id="15" name="bullet-dot-Check rules">
            <a:extLst>
              <a:ext uri="{FF2B5EF4-FFF2-40B4-BE49-F238E27FC236}">
                <a16:creationId xmlns:a16="http://schemas.microsoft.com/office/drawing/2014/main" id="{D29709E1-A571-4B90-9208-DE46EBD88E63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B45332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bullet-label-Check rules">
            <a:extLst>
              <a:ext uri="{FF2B5EF4-FFF2-40B4-BE49-F238E27FC236}">
                <a16:creationId xmlns:a16="http://schemas.microsoft.com/office/drawing/2014/main" id="{F756C712-D78E-4ED1-AA55-0646671CFBA7}"/>
              </a:ext>
            </a:extLst>
          </p:cNvPr>
          <p:cNvSpPr>
            <a:spLocks noGrp="1"/>
          </p:cNvSpPr>
          <p:nvPr/>
        </p:nvSpPr>
        <p:spPr>
          <a:xfrm>
            <a:off x="1104900" y="499110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Check rules</a:t>
            </a:r>
          </a:p>
        </p:txBody>
      </p:sp>
      <p:sp>
        <p:nvSpPr>
          <p:cNvPr id="17" name="bullet-desc-Check rules">
            <a:extLst>
              <a:ext uri="{FF2B5EF4-FFF2-40B4-BE49-F238E27FC236}">
                <a16:creationId xmlns:a16="http://schemas.microsoft.com/office/drawing/2014/main" id="{E0BF84D1-7939-4564-9A7F-A389A1565DFB}"/>
              </a:ext>
            </a:extLst>
          </p:cNvPr>
          <p:cNvSpPr>
            <a:spLocks noGrp="1"/>
          </p:cNvSpPr>
          <p:nvPr/>
        </p:nvSpPr>
        <p:spPr>
          <a:xfrm>
            <a:off x="1104900" y="5295900"/>
            <a:ext cx="9086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Dates, rates, capacity, tax, floors, room status, reservation status, payment status, quantity, and amount are validated.</a:t>
            </a:r>
          </a:p>
        </p:txBody>
      </p:sp>
      <p:sp>
        <p:nvSpPr>
          <p:cNvPr id="18" name="code-Constraint examples from ddl_scripts.sql">
            <a:extLst>
              <a:ext uri="{FF2B5EF4-FFF2-40B4-BE49-F238E27FC236}">
                <a16:creationId xmlns:a16="http://schemas.microsoft.com/office/drawing/2014/main" id="{91BA90F0-44D0-48F5-A754-72EB8089867E}"/>
              </a:ext>
            </a:extLst>
          </p:cNvPr>
          <p:cNvSpPr>
            <a:spLocks noGrp="1"/>
          </p:cNvSpPr>
          <p:nvPr/>
        </p:nvSpPr>
        <p:spPr>
          <a:xfrm>
            <a:off x="8977789" y="2453640"/>
            <a:ext cx="8491061" cy="6880860"/>
          </a:xfrm>
          <a:prstGeom prst="roundRect">
            <a:avLst>
              <a:gd name="adj" fmla="val 1107"/>
            </a:avLst>
          </a:prstGeom>
          <a:solidFill>
            <a:srgbClr val="111827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code-title-Constraint examples from ddl_scripts.sql">
            <a:extLst>
              <a:ext uri="{FF2B5EF4-FFF2-40B4-BE49-F238E27FC236}">
                <a16:creationId xmlns:a16="http://schemas.microsoft.com/office/drawing/2014/main" id="{A9383F88-A656-440B-9F03-3508FAC1F2E1}"/>
              </a:ext>
            </a:extLst>
          </p:cNvPr>
          <p:cNvSpPr>
            <a:spLocks noGrp="1"/>
          </p:cNvSpPr>
          <p:nvPr/>
        </p:nvSpPr>
        <p:spPr>
          <a:xfrm>
            <a:off x="9220200" y="2667000"/>
            <a:ext cx="8001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C78A28"/>
                </a:solidFill>
              </a:defRPr>
            </a:pPr>
            <a:r>
              <a:rPr sz="1275" b="1">
                <a:solidFill>
                  <a:srgbClr val="C78A28"/>
                </a:solidFill>
              </a:rPr>
              <a:t>Constraint examples from ddl_scripts.sql</a:t>
            </a:r>
          </a:p>
        </p:txBody>
      </p:sp>
      <p:sp>
        <p:nvSpPr>
          <p:cNvPr id="20" name="code-text-Constraint examples from ddl_scripts.sql">
            <a:extLst>
              <a:ext uri="{FF2B5EF4-FFF2-40B4-BE49-F238E27FC236}">
                <a16:creationId xmlns:a16="http://schemas.microsoft.com/office/drawing/2014/main" id="{5975E67A-658D-465E-957B-38A278017FEE}"/>
              </a:ext>
            </a:extLst>
          </p:cNvPr>
          <p:cNvSpPr>
            <a:spLocks noGrp="1"/>
          </p:cNvSpPr>
          <p:nvPr/>
        </p:nvSpPr>
        <p:spPr>
          <a:xfrm>
            <a:off x="9220200" y="2990850"/>
            <a:ext cx="80010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E8EDF3"/>
                </a:solidFill>
              </a:defRPr>
            </a:pPr>
            <a:r>
              <a:rPr sz="1575" dirty="0" err="1">
                <a:solidFill>
                  <a:srgbClr val="E8EDF3"/>
                </a:solidFill>
              </a:rPr>
              <a:t>CK_Reservation_Date</a:t>
            </a:r>
            <a:r>
              <a:rPr sz="1575" dirty="0">
                <a:solidFill>
                  <a:srgbClr val="E8EDF3"/>
                </a:solidFill>
              </a:rPr>
              <a:t>: </a:t>
            </a:r>
            <a:r>
              <a:rPr sz="1575" dirty="0" err="1">
                <a:solidFill>
                  <a:srgbClr val="E8EDF3"/>
                </a:solidFill>
              </a:rPr>
              <a:t>CheckOutDate</a:t>
            </a:r>
            <a:r>
              <a:rPr sz="1575" dirty="0">
                <a:solidFill>
                  <a:srgbClr val="E8EDF3"/>
                </a:solidFill>
              </a:rPr>
              <a:t> &gt; </a:t>
            </a:r>
            <a:r>
              <a:rPr sz="1575" dirty="0" err="1">
                <a:solidFill>
                  <a:srgbClr val="E8EDF3"/>
                </a:solidFill>
              </a:rPr>
              <a:t>CheckInDate</a:t>
            </a:r>
            <a:endParaRPr sz="1575" dirty="0">
              <a:solidFill>
                <a:srgbClr val="E8EDF3"/>
              </a:solidFill>
            </a:endParaRPr>
          </a:p>
          <a:p>
            <a:pPr>
              <a:defRPr sz="1575">
                <a:solidFill>
                  <a:srgbClr val="E8EDF3"/>
                </a:solidFill>
              </a:defRPr>
            </a:pPr>
            <a:r>
              <a:rPr sz="1575" dirty="0" err="1">
                <a:solidFill>
                  <a:srgbClr val="E8EDF3"/>
                </a:solidFill>
              </a:rPr>
              <a:t>CK_Room_Status</a:t>
            </a:r>
            <a:r>
              <a:rPr sz="1575" dirty="0">
                <a:solidFill>
                  <a:srgbClr val="E8EDF3"/>
                </a:solidFill>
              </a:rPr>
              <a:t>: Available | Occupied | Maintenance | Inactive</a:t>
            </a:r>
          </a:p>
          <a:p>
            <a:pPr>
              <a:defRPr sz="1575">
                <a:solidFill>
                  <a:srgbClr val="E8EDF3"/>
                </a:solidFill>
              </a:defRPr>
            </a:pPr>
            <a:r>
              <a:rPr sz="1575" dirty="0" err="1">
                <a:solidFill>
                  <a:srgbClr val="E8EDF3"/>
                </a:solidFill>
              </a:rPr>
              <a:t>UQ_Room_Hotel_RoomNumber</a:t>
            </a:r>
            <a:r>
              <a:rPr sz="1575" dirty="0">
                <a:solidFill>
                  <a:srgbClr val="E8EDF3"/>
                </a:solidFill>
              </a:rPr>
              <a:t>: unique room number per hotel</a:t>
            </a:r>
          </a:p>
          <a:p>
            <a:pPr>
              <a:defRPr sz="1575">
                <a:solidFill>
                  <a:srgbClr val="E8EDF3"/>
                </a:solidFill>
              </a:defRPr>
            </a:pPr>
            <a:r>
              <a:rPr sz="1575" dirty="0" err="1">
                <a:solidFill>
                  <a:srgbClr val="E8EDF3"/>
                </a:solidFill>
              </a:rPr>
              <a:t>CK_Payment_Status</a:t>
            </a:r>
            <a:r>
              <a:rPr sz="1575" dirty="0">
                <a:solidFill>
                  <a:srgbClr val="E8EDF3"/>
                </a:solidFill>
              </a:rPr>
              <a:t>: Success | Pending | Failed | Refunded</a:t>
            </a:r>
          </a:p>
          <a:p>
            <a:pPr>
              <a:defRPr sz="1575">
                <a:solidFill>
                  <a:srgbClr val="E8EDF3"/>
                </a:solidFill>
              </a:defRPr>
            </a:pPr>
            <a:r>
              <a:rPr sz="1575" dirty="0" err="1">
                <a:solidFill>
                  <a:srgbClr val="E8EDF3"/>
                </a:solidFill>
              </a:rPr>
              <a:t>DF_Reservation_TaxRate</a:t>
            </a:r>
            <a:r>
              <a:rPr sz="1575" dirty="0">
                <a:solidFill>
                  <a:srgbClr val="E8EDF3"/>
                </a:solidFill>
              </a:rPr>
              <a:t>: 12.00</a:t>
            </a:r>
          </a:p>
        </p:txBody>
      </p:sp>
      <p:sp>
        <p:nvSpPr>
          <p:cNvPr id="21" name="source-footer">
            <a:extLst>
              <a:ext uri="{FF2B5EF4-FFF2-40B4-BE49-F238E27FC236}">
                <a16:creationId xmlns:a16="http://schemas.microsoft.com/office/drawing/2014/main" id="{042A2DB7-1EA5-44CD-92D3-049ADBA5E7AE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22" name="slide-number">
            <a:extLst>
              <a:ext uri="{FF2B5EF4-FFF2-40B4-BE49-F238E27FC236}">
                <a16:creationId xmlns:a16="http://schemas.microsoft.com/office/drawing/2014/main" id="{3B125C3C-448B-428C-B4F4-92A9DF11843D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6322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ackground">
            <a:extLst>
              <a:ext uri="{FF2B5EF4-FFF2-40B4-BE49-F238E27FC236}">
                <a16:creationId xmlns:a16="http://schemas.microsoft.com/office/drawing/2014/main" id="{6F755E35-0E8B-45E2-A72A-71DAA1D80A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D3F682F2-B491-4E6E-ADD1-0A2C26D36DF7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B45332"/>
          </a:solidFill>
          <a:ln w="0">
            <a:solidFill>
              <a:srgbClr val="B45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E6981C5B-E68E-49E4-B6B9-C5ABF8C2A750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E4B51216-29EA-4C2B-999A-623610421A5C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Normalized reservation workflow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E8C98A4C-B1E8-4C02-8775-CE54F544B252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3239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A reservation is not a single overloaded row. It is a controlled chain that keeps room assignment, add-on services, payment, and status changes separate.</a:t>
            </a:r>
          </a:p>
        </p:txBody>
      </p:sp>
      <p:sp>
        <p:nvSpPr>
          <p:cNvPr id="6" name="flow-mark-Customer">
            <a:extLst>
              <a:ext uri="{FF2B5EF4-FFF2-40B4-BE49-F238E27FC236}">
                <a16:creationId xmlns:a16="http://schemas.microsoft.com/office/drawing/2014/main" id="{71792B0D-4A00-44B4-A72E-9CF1E956AA66}"/>
              </a:ext>
            </a:extLst>
          </p:cNvPr>
          <p:cNvSpPr>
            <a:spLocks noGrp="1"/>
          </p:cNvSpPr>
          <p:nvPr/>
        </p:nvSpPr>
        <p:spPr>
          <a:xfrm>
            <a:off x="838200" y="24384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6D5BA6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flow-label-Customer">
            <a:extLst>
              <a:ext uri="{FF2B5EF4-FFF2-40B4-BE49-F238E27FC236}">
                <a16:creationId xmlns:a16="http://schemas.microsoft.com/office/drawing/2014/main" id="{5E611683-5C36-4A09-819E-904419A675CA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3086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Customer</a:t>
            </a:r>
          </a:p>
        </p:txBody>
      </p:sp>
      <p:sp>
        <p:nvSpPr>
          <p:cNvPr id="8" name="flow-note-Customer">
            <a:extLst>
              <a:ext uri="{FF2B5EF4-FFF2-40B4-BE49-F238E27FC236}">
                <a16:creationId xmlns:a16="http://schemas.microsoft.com/office/drawing/2014/main" id="{72AFF199-BD24-4AC4-800B-C638D84EDBE2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2076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CustomerID identifies the guest and contact records</a:t>
            </a:r>
          </a:p>
        </p:txBody>
      </p:sp>
      <p:sp>
        <p:nvSpPr>
          <p:cNvPr id="9" name="flow-mark-Reservation">
            <a:extLst>
              <a:ext uri="{FF2B5EF4-FFF2-40B4-BE49-F238E27FC236}">
                <a16:creationId xmlns:a16="http://schemas.microsoft.com/office/drawing/2014/main" id="{DDF077AA-7B8A-40F7-8A59-721E0BDF647F}"/>
              </a:ext>
            </a:extLst>
          </p:cNvPr>
          <p:cNvSpPr>
            <a:spLocks noGrp="1"/>
          </p:cNvSpPr>
          <p:nvPr/>
        </p:nvSpPr>
        <p:spPr>
          <a:xfrm>
            <a:off x="4229100" y="24384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B45332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flow-label-Reservation">
            <a:extLst>
              <a:ext uri="{FF2B5EF4-FFF2-40B4-BE49-F238E27FC236}">
                <a16:creationId xmlns:a16="http://schemas.microsoft.com/office/drawing/2014/main" id="{729CE1F3-9840-413E-AF39-1D38BE25907F}"/>
              </a:ext>
            </a:extLst>
          </p:cNvPr>
          <p:cNvSpPr>
            <a:spLocks noGrp="1"/>
          </p:cNvSpPr>
          <p:nvPr/>
        </p:nvSpPr>
        <p:spPr>
          <a:xfrm>
            <a:off x="4210050" y="2628900"/>
            <a:ext cx="3086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Reservation</a:t>
            </a:r>
          </a:p>
        </p:txBody>
      </p:sp>
      <p:sp>
        <p:nvSpPr>
          <p:cNvPr id="11" name="flow-note-Reservation">
            <a:extLst>
              <a:ext uri="{FF2B5EF4-FFF2-40B4-BE49-F238E27FC236}">
                <a16:creationId xmlns:a16="http://schemas.microsoft.com/office/drawing/2014/main" id="{70791E80-4029-4536-A9A1-8E8AE09A4989}"/>
              </a:ext>
            </a:extLst>
          </p:cNvPr>
          <p:cNvSpPr>
            <a:spLocks noGrp="1"/>
          </p:cNvSpPr>
          <p:nvPr/>
        </p:nvSpPr>
        <p:spPr>
          <a:xfrm>
            <a:off x="4210050" y="2990850"/>
            <a:ext cx="2438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Check-in/out, status, staff handler, and tax rate</a:t>
            </a:r>
          </a:p>
        </p:txBody>
      </p:sp>
      <p:sp>
        <p:nvSpPr>
          <p:cNvPr id="12" name="flow-mark-ReservationRoom">
            <a:extLst>
              <a:ext uri="{FF2B5EF4-FFF2-40B4-BE49-F238E27FC236}">
                <a16:creationId xmlns:a16="http://schemas.microsoft.com/office/drawing/2014/main" id="{1FF35503-B48A-46C8-BFAC-C8C9D8860A27}"/>
              </a:ext>
            </a:extLst>
          </p:cNvPr>
          <p:cNvSpPr>
            <a:spLocks noGrp="1"/>
          </p:cNvSpPr>
          <p:nvPr/>
        </p:nvSpPr>
        <p:spPr>
          <a:xfrm>
            <a:off x="7620000" y="24384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0B6B5B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flow-label-ReservationRoom">
            <a:extLst>
              <a:ext uri="{FF2B5EF4-FFF2-40B4-BE49-F238E27FC236}">
                <a16:creationId xmlns:a16="http://schemas.microsoft.com/office/drawing/2014/main" id="{BCC5F1BA-A32E-4AA7-BC4E-B01528C616D5}"/>
              </a:ext>
            </a:extLst>
          </p:cNvPr>
          <p:cNvSpPr>
            <a:spLocks noGrp="1"/>
          </p:cNvSpPr>
          <p:nvPr/>
        </p:nvSpPr>
        <p:spPr>
          <a:xfrm>
            <a:off x="7600950" y="2628900"/>
            <a:ext cx="3086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ReservationRoom</a:t>
            </a:r>
          </a:p>
        </p:txBody>
      </p:sp>
      <p:sp>
        <p:nvSpPr>
          <p:cNvPr id="14" name="flow-note-ReservationRoom">
            <a:extLst>
              <a:ext uri="{FF2B5EF4-FFF2-40B4-BE49-F238E27FC236}">
                <a16:creationId xmlns:a16="http://schemas.microsoft.com/office/drawing/2014/main" id="{C2314BFF-FD26-42CB-A39C-AF4B468A3AA3}"/>
              </a:ext>
            </a:extLst>
          </p:cNvPr>
          <p:cNvSpPr>
            <a:spLocks noGrp="1"/>
          </p:cNvSpPr>
          <p:nvPr/>
        </p:nvSpPr>
        <p:spPr>
          <a:xfrm>
            <a:off x="7600950" y="2990850"/>
            <a:ext cx="2171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One row per room with AssignedRate</a:t>
            </a:r>
          </a:p>
        </p:txBody>
      </p:sp>
      <p:sp>
        <p:nvSpPr>
          <p:cNvPr id="15" name="flow-mark-ReservationService">
            <a:extLst>
              <a:ext uri="{FF2B5EF4-FFF2-40B4-BE49-F238E27FC236}">
                <a16:creationId xmlns:a16="http://schemas.microsoft.com/office/drawing/2014/main" id="{0371F5AB-6AAD-4684-BAAE-F32C830D46BC}"/>
              </a:ext>
            </a:extLst>
          </p:cNvPr>
          <p:cNvSpPr>
            <a:spLocks noGrp="1"/>
          </p:cNvSpPr>
          <p:nvPr/>
        </p:nvSpPr>
        <p:spPr>
          <a:xfrm>
            <a:off x="11010900" y="24384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2563A7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flow-label-ReservationService">
            <a:extLst>
              <a:ext uri="{FF2B5EF4-FFF2-40B4-BE49-F238E27FC236}">
                <a16:creationId xmlns:a16="http://schemas.microsoft.com/office/drawing/2014/main" id="{09CEB08F-26F6-4552-966C-20A2CE603311}"/>
              </a:ext>
            </a:extLst>
          </p:cNvPr>
          <p:cNvSpPr>
            <a:spLocks noGrp="1"/>
          </p:cNvSpPr>
          <p:nvPr/>
        </p:nvSpPr>
        <p:spPr>
          <a:xfrm>
            <a:off x="10991850" y="2628900"/>
            <a:ext cx="3086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ReservationService</a:t>
            </a:r>
          </a:p>
        </p:txBody>
      </p:sp>
      <p:sp>
        <p:nvSpPr>
          <p:cNvPr id="17" name="flow-note-ReservationService">
            <a:extLst>
              <a:ext uri="{FF2B5EF4-FFF2-40B4-BE49-F238E27FC236}">
                <a16:creationId xmlns:a16="http://schemas.microsoft.com/office/drawing/2014/main" id="{38CB358E-93FF-41AD-833A-678F459FD368}"/>
              </a:ext>
            </a:extLst>
          </p:cNvPr>
          <p:cNvSpPr>
            <a:spLocks noGrp="1"/>
          </p:cNvSpPr>
          <p:nvPr/>
        </p:nvSpPr>
        <p:spPr>
          <a:xfrm>
            <a:off x="10991850" y="2990850"/>
            <a:ext cx="2228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Optional service use with quantity and charged price</a:t>
            </a:r>
          </a:p>
        </p:txBody>
      </p:sp>
      <p:sp>
        <p:nvSpPr>
          <p:cNvPr id="18" name="flow-mark-Payment">
            <a:extLst>
              <a:ext uri="{FF2B5EF4-FFF2-40B4-BE49-F238E27FC236}">
                <a16:creationId xmlns:a16="http://schemas.microsoft.com/office/drawing/2014/main" id="{8C02FB68-AF73-4556-89E9-72632186B5D3}"/>
              </a:ext>
            </a:extLst>
          </p:cNvPr>
          <p:cNvSpPr>
            <a:spLocks noGrp="1"/>
          </p:cNvSpPr>
          <p:nvPr/>
        </p:nvSpPr>
        <p:spPr>
          <a:xfrm>
            <a:off x="14401800" y="2438400"/>
            <a:ext cx="419100" cy="95250"/>
          </a:xfrm>
          <a:prstGeom prst="roundRect">
            <a:avLst>
              <a:gd name="adj" fmla="val 50000"/>
            </a:avLst>
          </a:prstGeom>
          <a:solidFill>
            <a:srgbClr val="C78A28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flow-label-Payment">
            <a:extLst>
              <a:ext uri="{FF2B5EF4-FFF2-40B4-BE49-F238E27FC236}">
                <a16:creationId xmlns:a16="http://schemas.microsoft.com/office/drawing/2014/main" id="{C6833EA3-BB45-4FD3-9995-6AA9C601AF00}"/>
              </a:ext>
            </a:extLst>
          </p:cNvPr>
          <p:cNvSpPr>
            <a:spLocks noGrp="1"/>
          </p:cNvSpPr>
          <p:nvPr/>
        </p:nvSpPr>
        <p:spPr>
          <a:xfrm>
            <a:off x="14382750" y="2628900"/>
            <a:ext cx="3086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Payment</a:t>
            </a:r>
          </a:p>
        </p:txBody>
      </p:sp>
      <p:sp>
        <p:nvSpPr>
          <p:cNvPr id="20" name="flow-note-Payment">
            <a:extLst>
              <a:ext uri="{FF2B5EF4-FFF2-40B4-BE49-F238E27FC236}">
                <a16:creationId xmlns:a16="http://schemas.microsoft.com/office/drawing/2014/main" id="{7210EE51-1081-4860-8F06-C2050B3A2F43}"/>
              </a:ext>
            </a:extLst>
          </p:cNvPr>
          <p:cNvSpPr>
            <a:spLocks noGrp="1"/>
          </p:cNvSpPr>
          <p:nvPr/>
        </p:nvSpPr>
        <p:spPr>
          <a:xfrm>
            <a:off x="14382750" y="2990850"/>
            <a:ext cx="2038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Amount, status, method, reference number</a:t>
            </a:r>
          </a:p>
        </p:txBody>
      </p:sp>
      <p:sp>
        <p:nvSpPr>
          <p:cNvPr id="21" name="code-Sample seeded booking">
            <a:extLst>
              <a:ext uri="{FF2B5EF4-FFF2-40B4-BE49-F238E27FC236}">
                <a16:creationId xmlns:a16="http://schemas.microsoft.com/office/drawing/2014/main" id="{A16596CA-5053-463D-A6B5-DCDA26F24D14}"/>
              </a:ext>
            </a:extLst>
          </p:cNvPr>
          <p:cNvSpPr>
            <a:spLocks noGrp="1"/>
          </p:cNvSpPr>
          <p:nvPr/>
        </p:nvSpPr>
        <p:spPr>
          <a:xfrm>
            <a:off x="819150" y="3653790"/>
            <a:ext cx="8153400" cy="5680710"/>
          </a:xfrm>
          <a:prstGeom prst="roundRect">
            <a:avLst>
              <a:gd name="adj" fmla="val 1341"/>
            </a:avLst>
          </a:prstGeom>
          <a:solidFill>
            <a:srgbClr val="111827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code-title-Sample seeded booking">
            <a:extLst>
              <a:ext uri="{FF2B5EF4-FFF2-40B4-BE49-F238E27FC236}">
                <a16:creationId xmlns:a16="http://schemas.microsoft.com/office/drawing/2014/main" id="{A0EA7BCA-D19A-4666-9C38-418B567AFE47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765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48C82"/>
                </a:solidFill>
              </a:defRPr>
            </a:pPr>
            <a:r>
              <a:rPr sz="1275" b="1">
                <a:solidFill>
                  <a:srgbClr val="148C82"/>
                </a:solidFill>
              </a:rPr>
              <a:t>Sample seeded booking</a:t>
            </a:r>
          </a:p>
        </p:txBody>
      </p:sp>
      <p:sp>
        <p:nvSpPr>
          <p:cNvPr id="23" name="code-text-Sample seeded booking">
            <a:extLst>
              <a:ext uri="{FF2B5EF4-FFF2-40B4-BE49-F238E27FC236}">
                <a16:creationId xmlns:a16="http://schemas.microsoft.com/office/drawing/2014/main" id="{D0F9B640-32D6-48A6-9308-3117359EAB6F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765810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E8EDF3"/>
                </a:solidFill>
              </a:defRPr>
            </a:pPr>
            <a:r>
              <a:rPr sz="1575">
                <a:solidFill>
                  <a:srgbClr val="E8EDF3"/>
                </a:solidFill>
              </a:rPr>
              <a:t>Reservation 1: Aarav Mehta</a:t>
            </a:r>
          </a:p>
          <a:p>
            <a:pPr>
              <a:defRPr sz="1575">
                <a:solidFill>
                  <a:srgbClr val="E8EDF3"/>
                </a:solidFill>
              </a:defRPr>
            </a:pPr>
            <a:r>
              <a:rPr sz="1575">
                <a:solidFill>
                  <a:srgbClr val="E8EDF3"/>
                </a:solidFill>
              </a:rPr>
              <a:t>Room 101, Standard, 3 nights</a:t>
            </a:r>
          </a:p>
          <a:p>
            <a:pPr>
              <a:defRPr sz="1575">
                <a:solidFill>
                  <a:srgbClr val="E8EDF3"/>
                </a:solidFill>
              </a:defRPr>
            </a:pPr>
            <a:r>
              <a:rPr sz="1575">
                <a:solidFill>
                  <a:srgbClr val="E8EDF3"/>
                </a:solidFill>
              </a:rPr>
              <a:t>Services: Breakfast Buffet x3, Laundry x1</a:t>
            </a:r>
          </a:p>
          <a:p>
            <a:pPr>
              <a:defRPr sz="1575">
                <a:solidFill>
                  <a:srgbClr val="E8EDF3"/>
                </a:solidFill>
              </a:defRPr>
            </a:pPr>
            <a:r>
              <a:rPr sz="1575">
                <a:solidFill>
                  <a:srgbClr val="E8EDF3"/>
                </a:solidFill>
              </a:rPr>
              <a:t>Payment: PAY-1001, Success, 6000.00</a:t>
            </a:r>
          </a:p>
        </p:txBody>
      </p:sp>
      <p:sp>
        <p:nvSpPr>
          <p:cNvPr id="24" name="bullet-dot-Multiple-room ready">
            <a:extLst>
              <a:ext uri="{FF2B5EF4-FFF2-40B4-BE49-F238E27FC236}">
                <a16:creationId xmlns:a16="http://schemas.microsoft.com/office/drawing/2014/main" id="{99F55061-EBF2-4BA9-8EAE-42A8214BB98B}"/>
              </a:ext>
            </a:extLst>
          </p:cNvPr>
          <p:cNvSpPr>
            <a:spLocks noGrp="1"/>
          </p:cNvSpPr>
          <p:nvPr/>
        </p:nvSpPr>
        <p:spPr>
          <a:xfrm>
            <a:off x="9315450" y="3657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5B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bullet-label-Multiple-room ready">
            <a:extLst>
              <a:ext uri="{FF2B5EF4-FFF2-40B4-BE49-F238E27FC236}">
                <a16:creationId xmlns:a16="http://schemas.microsoft.com/office/drawing/2014/main" id="{4D27407C-1E88-488F-B27D-7075025054F3}"/>
              </a:ext>
            </a:extLst>
          </p:cNvPr>
          <p:cNvSpPr>
            <a:spLocks noGrp="1"/>
          </p:cNvSpPr>
          <p:nvPr/>
        </p:nvSpPr>
        <p:spPr>
          <a:xfrm>
            <a:off x="9601200" y="3657600"/>
            <a:ext cx="7867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Multiple-room ready</a:t>
            </a:r>
          </a:p>
        </p:txBody>
      </p:sp>
      <p:sp>
        <p:nvSpPr>
          <p:cNvPr id="26" name="bullet-desc-Multiple-room ready">
            <a:extLst>
              <a:ext uri="{FF2B5EF4-FFF2-40B4-BE49-F238E27FC236}">
                <a16:creationId xmlns:a16="http://schemas.microsoft.com/office/drawing/2014/main" id="{B19ACDC8-9AB9-4AF3-8886-06EB9A5ABC54}"/>
              </a:ext>
            </a:extLst>
          </p:cNvPr>
          <p:cNvSpPr>
            <a:spLocks noGrp="1"/>
          </p:cNvSpPr>
          <p:nvPr/>
        </p:nvSpPr>
        <p:spPr>
          <a:xfrm>
            <a:off x="9601200" y="3962400"/>
            <a:ext cx="8020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ReservationRoom allows one reservation to contain more than one room without changing Reservation.</a:t>
            </a:r>
          </a:p>
        </p:txBody>
      </p:sp>
      <p:sp>
        <p:nvSpPr>
          <p:cNvPr id="27" name="bullet-dot-Price history preserved">
            <a:extLst>
              <a:ext uri="{FF2B5EF4-FFF2-40B4-BE49-F238E27FC236}">
                <a16:creationId xmlns:a16="http://schemas.microsoft.com/office/drawing/2014/main" id="{F791691C-F4ED-4375-9E3B-4C09AB7C5505}"/>
              </a:ext>
            </a:extLst>
          </p:cNvPr>
          <p:cNvSpPr>
            <a:spLocks noGrp="1"/>
          </p:cNvSpPr>
          <p:nvPr/>
        </p:nvSpPr>
        <p:spPr>
          <a:xfrm>
            <a:off x="9315450" y="4400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78A28"/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bullet-label-Price history preserved">
            <a:extLst>
              <a:ext uri="{FF2B5EF4-FFF2-40B4-BE49-F238E27FC236}">
                <a16:creationId xmlns:a16="http://schemas.microsoft.com/office/drawing/2014/main" id="{7DFC1C5F-243D-438C-8F68-B64E6BB2FB64}"/>
              </a:ext>
            </a:extLst>
          </p:cNvPr>
          <p:cNvSpPr>
            <a:spLocks noGrp="1"/>
          </p:cNvSpPr>
          <p:nvPr/>
        </p:nvSpPr>
        <p:spPr>
          <a:xfrm>
            <a:off x="9601200" y="4400550"/>
            <a:ext cx="7867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Price history preserved</a:t>
            </a:r>
          </a:p>
        </p:txBody>
      </p:sp>
      <p:sp>
        <p:nvSpPr>
          <p:cNvPr id="29" name="bullet-desc-Price history preserved">
            <a:extLst>
              <a:ext uri="{FF2B5EF4-FFF2-40B4-BE49-F238E27FC236}">
                <a16:creationId xmlns:a16="http://schemas.microsoft.com/office/drawing/2014/main" id="{DD0F85B3-2D30-4732-B6EA-5A254CA2D760}"/>
              </a:ext>
            </a:extLst>
          </p:cNvPr>
          <p:cNvSpPr>
            <a:spLocks noGrp="1"/>
          </p:cNvSpPr>
          <p:nvPr/>
        </p:nvSpPr>
        <p:spPr>
          <a:xfrm>
            <a:off x="9601200" y="4686300"/>
            <a:ext cx="8610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AssignedRate and ChargedPrice store the actual charged values instead of relying only on current master prices.</a:t>
            </a:r>
          </a:p>
        </p:txBody>
      </p:sp>
      <p:sp>
        <p:nvSpPr>
          <p:cNvPr id="30" name="bullet-dot-Status-driven operations">
            <a:extLst>
              <a:ext uri="{FF2B5EF4-FFF2-40B4-BE49-F238E27FC236}">
                <a16:creationId xmlns:a16="http://schemas.microsoft.com/office/drawing/2014/main" id="{97EF1F22-64BB-4E3F-A228-A2664B0C93E9}"/>
              </a:ext>
            </a:extLst>
          </p:cNvPr>
          <p:cNvSpPr>
            <a:spLocks noGrp="1"/>
          </p:cNvSpPr>
          <p:nvPr/>
        </p:nvSpPr>
        <p:spPr>
          <a:xfrm>
            <a:off x="9315450" y="5353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B45332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bullet-label-Status-driven operations">
            <a:extLst>
              <a:ext uri="{FF2B5EF4-FFF2-40B4-BE49-F238E27FC236}">
                <a16:creationId xmlns:a16="http://schemas.microsoft.com/office/drawing/2014/main" id="{EC26F93F-2BEA-4A64-B354-CD2452F997AA}"/>
              </a:ext>
            </a:extLst>
          </p:cNvPr>
          <p:cNvSpPr>
            <a:spLocks noGrp="1"/>
          </p:cNvSpPr>
          <p:nvPr/>
        </p:nvSpPr>
        <p:spPr>
          <a:xfrm>
            <a:off x="9601200" y="5353050"/>
            <a:ext cx="7867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Status-driven operations</a:t>
            </a:r>
          </a:p>
        </p:txBody>
      </p:sp>
      <p:sp>
        <p:nvSpPr>
          <p:cNvPr id="32" name="bullet-desc-Status-driven operations">
            <a:extLst>
              <a:ext uri="{FF2B5EF4-FFF2-40B4-BE49-F238E27FC236}">
                <a16:creationId xmlns:a16="http://schemas.microsoft.com/office/drawing/2014/main" id="{91DA7BC2-358D-471E-9B3B-12C1ED6E5CE5}"/>
              </a:ext>
            </a:extLst>
          </p:cNvPr>
          <p:cNvSpPr>
            <a:spLocks noGrp="1"/>
          </p:cNvSpPr>
          <p:nvPr/>
        </p:nvSpPr>
        <p:spPr>
          <a:xfrm>
            <a:off x="9601200" y="5657850"/>
            <a:ext cx="8648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Triggers update RoomStatus when reservation status changes to CheckedIn, CheckedOut, Cancelled, or NoShow.</a:t>
            </a:r>
          </a:p>
        </p:txBody>
      </p:sp>
      <p:sp>
        <p:nvSpPr>
          <p:cNvPr id="33" name="source-footer">
            <a:extLst>
              <a:ext uri="{FF2B5EF4-FFF2-40B4-BE49-F238E27FC236}">
                <a16:creationId xmlns:a16="http://schemas.microsoft.com/office/drawing/2014/main" id="{8FD22EA8-8900-4559-AB2E-3E395BD22D6B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34" name="slide-number">
            <a:extLst>
              <a:ext uri="{FF2B5EF4-FFF2-40B4-BE49-F238E27FC236}">
                <a16:creationId xmlns:a16="http://schemas.microsoft.com/office/drawing/2014/main" id="{BF5A63FC-2501-43F6-B1D8-F01682A3C545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7528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D5BAF42D-7651-453D-8992-E535A15336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6073519E-66EC-49A7-96DA-8FC86FFA79A2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9C789467-AECE-471F-B81E-DFD40249FB5D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94429503-9FA5-4C8C-B5C5-E1B1A6418F2F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SQL modules make the database operational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DF2FF4B4-E29B-45E8-9FEA-F39DE089DDEE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108394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Views, functions, triggers, indexes, transactions, and DCL examples show that the project goes beyond table creation.</a:t>
            </a:r>
          </a:p>
        </p:txBody>
      </p:sp>
      <p:sp>
        <p:nvSpPr>
          <p:cNvPr id="6" name="table-views">
            <a:extLst>
              <a:ext uri="{FF2B5EF4-FFF2-40B4-BE49-F238E27FC236}">
                <a16:creationId xmlns:a16="http://schemas.microsoft.com/office/drawing/2014/main" id="{C6FFF431-B27B-473F-9BF8-BA580C397BCD}"/>
              </a:ext>
            </a:extLst>
          </p:cNvPr>
          <p:cNvSpPr>
            <a:spLocks noGrp="1"/>
          </p:cNvSpPr>
          <p:nvPr/>
        </p:nvSpPr>
        <p:spPr>
          <a:xfrm>
            <a:off x="819150" y="2453640"/>
            <a:ext cx="8162925" cy="3316605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able-head-views-0">
            <a:extLst>
              <a:ext uri="{FF2B5EF4-FFF2-40B4-BE49-F238E27FC236}">
                <a16:creationId xmlns:a16="http://schemas.microsoft.com/office/drawing/2014/main" id="{4F306B9D-CEB3-4478-8E99-0CCE10737FAC}"/>
              </a:ext>
            </a:extLst>
          </p:cNvPr>
          <p:cNvSpPr>
            <a:spLocks noGrp="1"/>
          </p:cNvSpPr>
          <p:nvPr/>
        </p:nvSpPr>
        <p:spPr>
          <a:xfrm>
            <a:off x="990600" y="2609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Object</a:t>
            </a:r>
          </a:p>
        </p:txBody>
      </p:sp>
      <p:sp>
        <p:nvSpPr>
          <p:cNvPr id="8" name="table-head-views-1">
            <a:extLst>
              <a:ext uri="{FF2B5EF4-FFF2-40B4-BE49-F238E27FC236}">
                <a16:creationId xmlns:a16="http://schemas.microsoft.com/office/drawing/2014/main" id="{A410F0C9-2624-49AC-83F7-1965DB7C4CB7}"/>
              </a:ext>
            </a:extLst>
          </p:cNvPr>
          <p:cNvSpPr>
            <a:spLocks noGrp="1"/>
          </p:cNvSpPr>
          <p:nvPr/>
        </p:nvSpPr>
        <p:spPr>
          <a:xfrm>
            <a:off x="4953000" y="2609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Purpose</a:t>
            </a:r>
          </a:p>
        </p:txBody>
      </p:sp>
      <p:sp>
        <p:nvSpPr>
          <p:cNvPr id="9" name="table-rule-views">
            <a:extLst>
              <a:ext uri="{FF2B5EF4-FFF2-40B4-BE49-F238E27FC236}">
                <a16:creationId xmlns:a16="http://schemas.microsoft.com/office/drawing/2014/main" id="{D3EF823B-D1EC-42B6-95FF-273903504AF7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78295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able-cell-views-0-0">
            <a:extLst>
              <a:ext uri="{FF2B5EF4-FFF2-40B4-BE49-F238E27FC236}">
                <a16:creationId xmlns:a16="http://schemas.microsoft.com/office/drawing/2014/main" id="{FD415FBC-BA77-4930-BFE9-A2E987779677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vwReservationDetails</a:t>
            </a:r>
          </a:p>
        </p:txBody>
      </p:sp>
      <p:sp>
        <p:nvSpPr>
          <p:cNvPr id="11" name="table-cell-views-0-1">
            <a:extLst>
              <a:ext uri="{FF2B5EF4-FFF2-40B4-BE49-F238E27FC236}">
                <a16:creationId xmlns:a16="http://schemas.microsoft.com/office/drawing/2014/main" id="{E0625879-8746-445D-A41D-72DCEFB1F3DF}"/>
              </a:ext>
            </a:extLst>
          </p:cNvPr>
          <p:cNvSpPr>
            <a:spLocks noGrp="1"/>
          </p:cNvSpPr>
          <p:nvPr/>
        </p:nvSpPr>
        <p:spPr>
          <a:xfrm>
            <a:off x="4953000" y="29718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Customer, staff, room, category, dates, nights, rate, status</a:t>
            </a:r>
          </a:p>
        </p:txBody>
      </p:sp>
      <p:sp>
        <p:nvSpPr>
          <p:cNvPr id="12" name="table-cell-views-1-0">
            <a:extLst>
              <a:ext uri="{FF2B5EF4-FFF2-40B4-BE49-F238E27FC236}">
                <a16:creationId xmlns:a16="http://schemas.microsoft.com/office/drawing/2014/main" id="{A7C8AD2B-71AD-4013-89A7-D58C6BFC9682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vwCurrentRoomStatus</a:t>
            </a:r>
          </a:p>
        </p:txBody>
      </p:sp>
      <p:sp>
        <p:nvSpPr>
          <p:cNvPr id="13" name="table-cell-views-1-1">
            <a:extLst>
              <a:ext uri="{FF2B5EF4-FFF2-40B4-BE49-F238E27FC236}">
                <a16:creationId xmlns:a16="http://schemas.microsoft.com/office/drawing/2014/main" id="{BF593AD9-E087-4CC8-AEDE-FA92676D3F8F}"/>
              </a:ext>
            </a:extLst>
          </p:cNvPr>
          <p:cNvSpPr>
            <a:spLocks noGrp="1"/>
          </p:cNvSpPr>
          <p:nvPr/>
        </p:nvSpPr>
        <p:spPr>
          <a:xfrm>
            <a:off x="4953000" y="323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Room status with category, rate, hotel, and city</a:t>
            </a:r>
          </a:p>
        </p:txBody>
      </p:sp>
      <p:sp>
        <p:nvSpPr>
          <p:cNvPr id="14" name="table-cell-views-2-0">
            <a:extLst>
              <a:ext uri="{FF2B5EF4-FFF2-40B4-BE49-F238E27FC236}">
                <a16:creationId xmlns:a16="http://schemas.microsoft.com/office/drawing/2014/main" id="{9E814B98-F02E-47D5-AF4A-DE045F16387F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vwOccupancyByCategory</a:t>
            </a:r>
          </a:p>
        </p:txBody>
      </p:sp>
      <p:sp>
        <p:nvSpPr>
          <p:cNvPr id="15" name="table-cell-views-2-1">
            <a:extLst>
              <a:ext uri="{FF2B5EF4-FFF2-40B4-BE49-F238E27FC236}">
                <a16:creationId xmlns:a16="http://schemas.microsoft.com/office/drawing/2014/main" id="{FE56DDF5-A37D-49B1-98BF-2CFDD8D0C227}"/>
              </a:ext>
            </a:extLst>
          </p:cNvPr>
          <p:cNvSpPr>
            <a:spLocks noGrp="1"/>
          </p:cNvSpPr>
          <p:nvPr/>
        </p:nvSpPr>
        <p:spPr>
          <a:xfrm>
            <a:off x="4953000" y="34861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Total rooms, occupied rooms, occupancy percent</a:t>
            </a:r>
          </a:p>
        </p:txBody>
      </p:sp>
      <p:sp>
        <p:nvSpPr>
          <p:cNvPr id="16" name="table-cell-views-3-0">
            <a:extLst>
              <a:ext uri="{FF2B5EF4-FFF2-40B4-BE49-F238E27FC236}">
                <a16:creationId xmlns:a16="http://schemas.microsoft.com/office/drawing/2014/main" id="{81E236C8-6C6F-44B9-BD47-74DDFF4F7922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vwMonthlyRevenue</a:t>
            </a:r>
          </a:p>
        </p:txBody>
      </p:sp>
      <p:sp>
        <p:nvSpPr>
          <p:cNvPr id="17" name="table-cell-views-3-1">
            <a:extLst>
              <a:ext uri="{FF2B5EF4-FFF2-40B4-BE49-F238E27FC236}">
                <a16:creationId xmlns:a16="http://schemas.microsoft.com/office/drawing/2014/main" id="{11D061CB-BBB0-4AA0-898A-B0803F50D2CC}"/>
              </a:ext>
            </a:extLst>
          </p:cNvPr>
          <p:cNvSpPr>
            <a:spLocks noGrp="1"/>
          </p:cNvSpPr>
          <p:nvPr/>
        </p:nvSpPr>
        <p:spPr>
          <a:xfrm>
            <a:off x="4953000" y="3752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Successful revenue and payment count by month</a:t>
            </a:r>
          </a:p>
        </p:txBody>
      </p:sp>
      <p:sp>
        <p:nvSpPr>
          <p:cNvPr id="18" name="table-functions">
            <a:extLst>
              <a:ext uri="{FF2B5EF4-FFF2-40B4-BE49-F238E27FC236}">
                <a16:creationId xmlns:a16="http://schemas.microsoft.com/office/drawing/2014/main" id="{C4ED39E5-DCF6-422E-8054-BD749D5A7C08}"/>
              </a:ext>
            </a:extLst>
          </p:cNvPr>
          <p:cNvSpPr>
            <a:spLocks noGrp="1"/>
          </p:cNvSpPr>
          <p:nvPr/>
        </p:nvSpPr>
        <p:spPr>
          <a:xfrm>
            <a:off x="9305925" y="2453640"/>
            <a:ext cx="8162925" cy="3316605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able-head-functions-0">
            <a:extLst>
              <a:ext uri="{FF2B5EF4-FFF2-40B4-BE49-F238E27FC236}">
                <a16:creationId xmlns:a16="http://schemas.microsoft.com/office/drawing/2014/main" id="{24037C98-B5EC-4DFA-B805-A2D538B03829}"/>
              </a:ext>
            </a:extLst>
          </p:cNvPr>
          <p:cNvSpPr>
            <a:spLocks noGrp="1"/>
          </p:cNvSpPr>
          <p:nvPr/>
        </p:nvSpPr>
        <p:spPr>
          <a:xfrm>
            <a:off x="9486900" y="2609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Function</a:t>
            </a:r>
          </a:p>
        </p:txBody>
      </p:sp>
      <p:sp>
        <p:nvSpPr>
          <p:cNvPr id="20" name="table-head-functions-1">
            <a:extLst>
              <a:ext uri="{FF2B5EF4-FFF2-40B4-BE49-F238E27FC236}">
                <a16:creationId xmlns:a16="http://schemas.microsoft.com/office/drawing/2014/main" id="{87478E35-17C5-4105-8D05-D73679C117F1}"/>
              </a:ext>
            </a:extLst>
          </p:cNvPr>
          <p:cNvSpPr>
            <a:spLocks noGrp="1"/>
          </p:cNvSpPr>
          <p:nvPr/>
        </p:nvSpPr>
        <p:spPr>
          <a:xfrm>
            <a:off x="13449300" y="2609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Purpose</a:t>
            </a:r>
          </a:p>
        </p:txBody>
      </p:sp>
      <p:sp>
        <p:nvSpPr>
          <p:cNvPr id="21" name="table-rule-functions">
            <a:extLst>
              <a:ext uri="{FF2B5EF4-FFF2-40B4-BE49-F238E27FC236}">
                <a16:creationId xmlns:a16="http://schemas.microsoft.com/office/drawing/2014/main" id="{709FFD6B-718D-4D17-BD6A-A8A39385C926}"/>
              </a:ext>
            </a:extLst>
          </p:cNvPr>
          <p:cNvSpPr>
            <a:spLocks noGrp="1"/>
          </p:cNvSpPr>
          <p:nvPr/>
        </p:nvSpPr>
        <p:spPr>
          <a:xfrm>
            <a:off x="9486900" y="2876550"/>
            <a:ext cx="78295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able-cell-functions-0-0">
            <a:extLst>
              <a:ext uri="{FF2B5EF4-FFF2-40B4-BE49-F238E27FC236}">
                <a16:creationId xmlns:a16="http://schemas.microsoft.com/office/drawing/2014/main" id="{F438C04F-8C81-4D39-9629-5ED5FD913D5E}"/>
              </a:ext>
            </a:extLst>
          </p:cNvPr>
          <p:cNvSpPr>
            <a:spLocks noGrp="1"/>
          </p:cNvSpPr>
          <p:nvPr/>
        </p:nvSpPr>
        <p:spPr>
          <a:xfrm>
            <a:off x="9486900" y="29718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fn_CalculateReservationAmount</a:t>
            </a:r>
          </a:p>
        </p:txBody>
      </p:sp>
      <p:sp>
        <p:nvSpPr>
          <p:cNvPr id="23" name="table-cell-functions-0-1">
            <a:extLst>
              <a:ext uri="{FF2B5EF4-FFF2-40B4-BE49-F238E27FC236}">
                <a16:creationId xmlns:a16="http://schemas.microsoft.com/office/drawing/2014/main" id="{01612ED3-870C-4AC1-9BE3-9234BA24EED7}"/>
              </a:ext>
            </a:extLst>
          </p:cNvPr>
          <p:cNvSpPr>
            <a:spLocks noGrp="1"/>
          </p:cNvSpPr>
          <p:nvPr/>
        </p:nvSpPr>
        <p:spPr>
          <a:xfrm>
            <a:off x="13449300" y="29718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Room nights + service charges + tax</a:t>
            </a:r>
          </a:p>
        </p:txBody>
      </p:sp>
      <p:sp>
        <p:nvSpPr>
          <p:cNvPr id="24" name="table-cell-functions-1-0">
            <a:extLst>
              <a:ext uri="{FF2B5EF4-FFF2-40B4-BE49-F238E27FC236}">
                <a16:creationId xmlns:a16="http://schemas.microsoft.com/office/drawing/2014/main" id="{C1C6BE39-37C3-4BA7-86BF-765AB81FC69F}"/>
              </a:ext>
            </a:extLst>
          </p:cNvPr>
          <p:cNvSpPr>
            <a:spLocks noGrp="1"/>
          </p:cNvSpPr>
          <p:nvPr/>
        </p:nvSpPr>
        <p:spPr>
          <a:xfrm>
            <a:off x="9486900" y="323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fn_AvailableRooms</a:t>
            </a:r>
          </a:p>
        </p:txBody>
      </p:sp>
      <p:sp>
        <p:nvSpPr>
          <p:cNvPr id="25" name="table-cell-functions-1-1">
            <a:extLst>
              <a:ext uri="{FF2B5EF4-FFF2-40B4-BE49-F238E27FC236}">
                <a16:creationId xmlns:a16="http://schemas.microsoft.com/office/drawing/2014/main" id="{357CDFF2-D113-4B44-ACB9-B92697FA6710}"/>
              </a:ext>
            </a:extLst>
          </p:cNvPr>
          <p:cNvSpPr>
            <a:spLocks noGrp="1"/>
          </p:cNvSpPr>
          <p:nvPr/>
        </p:nvSpPr>
        <p:spPr>
          <a:xfrm>
            <a:off x="13449300" y="323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Available rooms by date range and optional CategoryID</a:t>
            </a:r>
          </a:p>
        </p:txBody>
      </p:sp>
      <p:sp>
        <p:nvSpPr>
          <p:cNvPr id="26" name="table-triggers">
            <a:extLst>
              <a:ext uri="{FF2B5EF4-FFF2-40B4-BE49-F238E27FC236}">
                <a16:creationId xmlns:a16="http://schemas.microsoft.com/office/drawing/2014/main" id="{325BFBB2-A056-4F28-9721-6085930DE32A}"/>
              </a:ext>
            </a:extLst>
          </p:cNvPr>
          <p:cNvSpPr>
            <a:spLocks noGrp="1"/>
          </p:cNvSpPr>
          <p:nvPr/>
        </p:nvSpPr>
        <p:spPr>
          <a:xfrm>
            <a:off x="819150" y="6017895"/>
            <a:ext cx="8162925" cy="3316605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able-head-triggers-0">
            <a:extLst>
              <a:ext uri="{FF2B5EF4-FFF2-40B4-BE49-F238E27FC236}">
                <a16:creationId xmlns:a16="http://schemas.microsoft.com/office/drawing/2014/main" id="{906B2CC5-F60A-4FE4-BDD5-37660AF806E1}"/>
              </a:ext>
            </a:extLst>
          </p:cNvPr>
          <p:cNvSpPr>
            <a:spLocks noGrp="1"/>
          </p:cNvSpPr>
          <p:nvPr/>
        </p:nvSpPr>
        <p:spPr>
          <a:xfrm>
            <a:off x="990600" y="61722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Trigger</a:t>
            </a:r>
          </a:p>
        </p:txBody>
      </p:sp>
      <p:sp>
        <p:nvSpPr>
          <p:cNvPr id="28" name="table-head-triggers-1">
            <a:extLst>
              <a:ext uri="{FF2B5EF4-FFF2-40B4-BE49-F238E27FC236}">
                <a16:creationId xmlns:a16="http://schemas.microsoft.com/office/drawing/2014/main" id="{1BF6C6A7-612E-4BC9-8D53-1E6122B95E78}"/>
              </a:ext>
            </a:extLst>
          </p:cNvPr>
          <p:cNvSpPr>
            <a:spLocks noGrp="1"/>
          </p:cNvSpPr>
          <p:nvPr/>
        </p:nvSpPr>
        <p:spPr>
          <a:xfrm>
            <a:off x="4953000" y="61722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B45332"/>
                </a:solidFill>
              </a:defRPr>
            </a:pPr>
            <a:r>
              <a:rPr sz="1125" b="1">
                <a:solidFill>
                  <a:srgbClr val="B45332"/>
                </a:solidFill>
              </a:rPr>
              <a:t>Purpose</a:t>
            </a:r>
          </a:p>
        </p:txBody>
      </p:sp>
      <p:sp>
        <p:nvSpPr>
          <p:cNvPr id="29" name="table-rule-triggers">
            <a:extLst>
              <a:ext uri="{FF2B5EF4-FFF2-40B4-BE49-F238E27FC236}">
                <a16:creationId xmlns:a16="http://schemas.microsoft.com/office/drawing/2014/main" id="{4583683E-A852-44FC-95B5-F26E9E459DA4}"/>
              </a:ext>
            </a:extLst>
          </p:cNvPr>
          <p:cNvSpPr>
            <a:spLocks noGrp="1"/>
          </p:cNvSpPr>
          <p:nvPr/>
        </p:nvSpPr>
        <p:spPr>
          <a:xfrm>
            <a:off x="990600" y="6438900"/>
            <a:ext cx="78295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able-cell-triggers-0-0">
            <a:extLst>
              <a:ext uri="{FF2B5EF4-FFF2-40B4-BE49-F238E27FC236}">
                <a16:creationId xmlns:a16="http://schemas.microsoft.com/office/drawing/2014/main" id="{FFC8B8EC-16FB-42CB-A09D-E3C5ED6E3276}"/>
              </a:ext>
            </a:extLst>
          </p:cNvPr>
          <p:cNvSpPr>
            <a:spLocks noGrp="1"/>
          </p:cNvSpPr>
          <p:nvPr/>
        </p:nvSpPr>
        <p:spPr>
          <a:xfrm>
            <a:off x="990600" y="65341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trg_ReservationRoom_PreventDoubleBooking</a:t>
            </a:r>
          </a:p>
        </p:txBody>
      </p:sp>
      <p:sp>
        <p:nvSpPr>
          <p:cNvPr id="31" name="table-cell-triggers-0-1">
            <a:extLst>
              <a:ext uri="{FF2B5EF4-FFF2-40B4-BE49-F238E27FC236}">
                <a16:creationId xmlns:a16="http://schemas.microsoft.com/office/drawing/2014/main" id="{A5EF6066-F2BA-4EEC-BE21-56D00B43A16C}"/>
              </a:ext>
            </a:extLst>
          </p:cNvPr>
          <p:cNvSpPr>
            <a:spLocks noGrp="1"/>
          </p:cNvSpPr>
          <p:nvPr/>
        </p:nvSpPr>
        <p:spPr>
          <a:xfrm>
            <a:off x="4953000" y="65341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Rejects overlapping booked or checked-in room assignments</a:t>
            </a:r>
          </a:p>
        </p:txBody>
      </p:sp>
      <p:sp>
        <p:nvSpPr>
          <p:cNvPr id="32" name="table-cell-triggers-1-0">
            <a:extLst>
              <a:ext uri="{FF2B5EF4-FFF2-40B4-BE49-F238E27FC236}">
                <a16:creationId xmlns:a16="http://schemas.microsoft.com/office/drawing/2014/main" id="{09C5C440-BE63-490C-A375-C79F22A2CAC6}"/>
              </a:ext>
            </a:extLst>
          </p:cNvPr>
          <p:cNvSpPr>
            <a:spLocks noGrp="1"/>
          </p:cNvSpPr>
          <p:nvPr/>
        </p:nvSpPr>
        <p:spPr>
          <a:xfrm>
            <a:off x="990600" y="6800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trg_Reservation_StatusUpdate</a:t>
            </a:r>
          </a:p>
        </p:txBody>
      </p:sp>
      <p:sp>
        <p:nvSpPr>
          <p:cNvPr id="33" name="table-cell-triggers-1-1">
            <a:extLst>
              <a:ext uri="{FF2B5EF4-FFF2-40B4-BE49-F238E27FC236}">
                <a16:creationId xmlns:a16="http://schemas.microsoft.com/office/drawing/2014/main" id="{01B25D7E-1BDB-4E4C-9FA6-631741C54612}"/>
              </a:ext>
            </a:extLst>
          </p:cNvPr>
          <p:cNvSpPr>
            <a:spLocks noGrp="1"/>
          </p:cNvSpPr>
          <p:nvPr/>
        </p:nvSpPr>
        <p:spPr>
          <a:xfrm>
            <a:off x="4953000" y="6800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Synchronizes RoomStatus and logs reservation status changes</a:t>
            </a:r>
          </a:p>
        </p:txBody>
      </p:sp>
      <p:sp>
        <p:nvSpPr>
          <p:cNvPr id="34" name="table-cell-triggers-2-0">
            <a:extLst>
              <a:ext uri="{FF2B5EF4-FFF2-40B4-BE49-F238E27FC236}">
                <a16:creationId xmlns:a16="http://schemas.microsoft.com/office/drawing/2014/main" id="{3D64ECF0-6E2A-44CE-AAA0-FC694BAA60D1}"/>
              </a:ext>
            </a:extLst>
          </p:cNvPr>
          <p:cNvSpPr>
            <a:spLocks noGrp="1"/>
          </p:cNvSpPr>
          <p:nvPr/>
        </p:nvSpPr>
        <p:spPr>
          <a:xfrm>
            <a:off x="990600" y="704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trg_ReservationRoom_DeleteAudit</a:t>
            </a:r>
          </a:p>
        </p:txBody>
      </p:sp>
      <p:sp>
        <p:nvSpPr>
          <p:cNvPr id="35" name="table-cell-triggers-2-1">
            <a:extLst>
              <a:ext uri="{FF2B5EF4-FFF2-40B4-BE49-F238E27FC236}">
                <a16:creationId xmlns:a16="http://schemas.microsoft.com/office/drawing/2014/main" id="{5C7ADF4B-333E-42D9-9A14-CBA847E8E018}"/>
              </a:ext>
            </a:extLst>
          </p:cNvPr>
          <p:cNvSpPr>
            <a:spLocks noGrp="1"/>
          </p:cNvSpPr>
          <p:nvPr/>
        </p:nvSpPr>
        <p:spPr>
          <a:xfrm>
            <a:off x="4953000" y="704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Logs room assignment deletions</a:t>
            </a:r>
          </a:p>
        </p:txBody>
      </p:sp>
      <p:sp>
        <p:nvSpPr>
          <p:cNvPr id="36" name="table-indexes">
            <a:extLst>
              <a:ext uri="{FF2B5EF4-FFF2-40B4-BE49-F238E27FC236}">
                <a16:creationId xmlns:a16="http://schemas.microsoft.com/office/drawing/2014/main" id="{EA72EFD1-CB59-49F4-A349-16D2C40035EB}"/>
              </a:ext>
            </a:extLst>
          </p:cNvPr>
          <p:cNvSpPr>
            <a:spLocks noGrp="1"/>
          </p:cNvSpPr>
          <p:nvPr/>
        </p:nvSpPr>
        <p:spPr>
          <a:xfrm>
            <a:off x="9305925" y="6017895"/>
            <a:ext cx="8162925" cy="3316605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able-head-indexes-0">
            <a:extLst>
              <a:ext uri="{FF2B5EF4-FFF2-40B4-BE49-F238E27FC236}">
                <a16:creationId xmlns:a16="http://schemas.microsoft.com/office/drawing/2014/main" id="{CCDFD677-1C56-4EB5-94CF-67EC8F9534B8}"/>
              </a:ext>
            </a:extLst>
          </p:cNvPr>
          <p:cNvSpPr>
            <a:spLocks noGrp="1"/>
          </p:cNvSpPr>
          <p:nvPr/>
        </p:nvSpPr>
        <p:spPr>
          <a:xfrm>
            <a:off x="9486900" y="61722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Index</a:t>
            </a:r>
          </a:p>
        </p:txBody>
      </p:sp>
      <p:sp>
        <p:nvSpPr>
          <p:cNvPr id="38" name="table-head-indexes-1">
            <a:extLst>
              <a:ext uri="{FF2B5EF4-FFF2-40B4-BE49-F238E27FC236}">
                <a16:creationId xmlns:a16="http://schemas.microsoft.com/office/drawing/2014/main" id="{FD71C14D-2CFD-40F9-9DF3-CC348A486E4A}"/>
              </a:ext>
            </a:extLst>
          </p:cNvPr>
          <p:cNvSpPr>
            <a:spLocks noGrp="1"/>
          </p:cNvSpPr>
          <p:nvPr/>
        </p:nvSpPr>
        <p:spPr>
          <a:xfrm>
            <a:off x="13449300" y="61722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C78A28"/>
                </a:solidFill>
              </a:defRPr>
            </a:pPr>
            <a:r>
              <a:rPr sz="1125" b="1">
                <a:solidFill>
                  <a:srgbClr val="C78A28"/>
                </a:solidFill>
              </a:rPr>
              <a:t>Purpose</a:t>
            </a:r>
          </a:p>
        </p:txBody>
      </p:sp>
      <p:sp>
        <p:nvSpPr>
          <p:cNvPr id="39" name="table-rule-indexes">
            <a:extLst>
              <a:ext uri="{FF2B5EF4-FFF2-40B4-BE49-F238E27FC236}">
                <a16:creationId xmlns:a16="http://schemas.microsoft.com/office/drawing/2014/main" id="{8CAFCC61-BB32-4895-8687-85772E665A79}"/>
              </a:ext>
            </a:extLst>
          </p:cNvPr>
          <p:cNvSpPr>
            <a:spLocks noGrp="1"/>
          </p:cNvSpPr>
          <p:nvPr/>
        </p:nvSpPr>
        <p:spPr>
          <a:xfrm>
            <a:off x="9486900" y="6438900"/>
            <a:ext cx="7829550" cy="9525"/>
          </a:xfrm>
          <a:prstGeom prst="rect">
            <a:avLst/>
          </a:prstGeom>
          <a:solidFill>
            <a:srgbClr val="D7DED8"/>
          </a:solidFill>
          <a:ln w="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able-cell-indexes-0-0">
            <a:extLst>
              <a:ext uri="{FF2B5EF4-FFF2-40B4-BE49-F238E27FC236}">
                <a16:creationId xmlns:a16="http://schemas.microsoft.com/office/drawing/2014/main" id="{2AD1CF3A-B3A6-4C92-BA33-35C10AEA0641}"/>
              </a:ext>
            </a:extLst>
          </p:cNvPr>
          <p:cNvSpPr>
            <a:spLocks noGrp="1"/>
          </p:cNvSpPr>
          <p:nvPr/>
        </p:nvSpPr>
        <p:spPr>
          <a:xfrm>
            <a:off x="9486900" y="65341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IX_Reservation_DateStatus</a:t>
            </a:r>
          </a:p>
        </p:txBody>
      </p:sp>
      <p:sp>
        <p:nvSpPr>
          <p:cNvPr id="41" name="table-cell-indexes-0-1">
            <a:extLst>
              <a:ext uri="{FF2B5EF4-FFF2-40B4-BE49-F238E27FC236}">
                <a16:creationId xmlns:a16="http://schemas.microsoft.com/office/drawing/2014/main" id="{3E971610-A7A4-4A7A-86A0-2F95611E0F20}"/>
              </a:ext>
            </a:extLst>
          </p:cNvPr>
          <p:cNvSpPr>
            <a:spLocks noGrp="1"/>
          </p:cNvSpPr>
          <p:nvPr/>
        </p:nvSpPr>
        <p:spPr>
          <a:xfrm>
            <a:off x="13449300" y="65341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Date-range/status availability checks</a:t>
            </a:r>
          </a:p>
        </p:txBody>
      </p:sp>
      <p:sp>
        <p:nvSpPr>
          <p:cNvPr id="42" name="table-cell-indexes-1-0">
            <a:extLst>
              <a:ext uri="{FF2B5EF4-FFF2-40B4-BE49-F238E27FC236}">
                <a16:creationId xmlns:a16="http://schemas.microsoft.com/office/drawing/2014/main" id="{40667676-E9AF-41E6-A67E-00BB6A2A375E}"/>
              </a:ext>
            </a:extLst>
          </p:cNvPr>
          <p:cNvSpPr>
            <a:spLocks noGrp="1"/>
          </p:cNvSpPr>
          <p:nvPr/>
        </p:nvSpPr>
        <p:spPr>
          <a:xfrm>
            <a:off x="9486900" y="6800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IX_ReservationRoom_Room</a:t>
            </a:r>
          </a:p>
        </p:txBody>
      </p:sp>
      <p:sp>
        <p:nvSpPr>
          <p:cNvPr id="43" name="table-cell-indexes-1-1">
            <a:extLst>
              <a:ext uri="{FF2B5EF4-FFF2-40B4-BE49-F238E27FC236}">
                <a16:creationId xmlns:a16="http://schemas.microsoft.com/office/drawing/2014/main" id="{E1F7CA98-BD11-4173-88BA-D885B0F6F094}"/>
              </a:ext>
            </a:extLst>
          </p:cNvPr>
          <p:cNvSpPr>
            <a:spLocks noGrp="1"/>
          </p:cNvSpPr>
          <p:nvPr/>
        </p:nvSpPr>
        <p:spPr>
          <a:xfrm>
            <a:off x="13449300" y="680085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Room assignment lookup</a:t>
            </a:r>
          </a:p>
        </p:txBody>
      </p:sp>
      <p:sp>
        <p:nvSpPr>
          <p:cNvPr id="44" name="table-cell-indexes-2-0">
            <a:extLst>
              <a:ext uri="{FF2B5EF4-FFF2-40B4-BE49-F238E27FC236}">
                <a16:creationId xmlns:a16="http://schemas.microsoft.com/office/drawing/2014/main" id="{B00C65FC-9EE5-4C76-90CF-487F21BBAA57}"/>
              </a:ext>
            </a:extLst>
          </p:cNvPr>
          <p:cNvSpPr>
            <a:spLocks noGrp="1"/>
          </p:cNvSpPr>
          <p:nvPr/>
        </p:nvSpPr>
        <p:spPr>
          <a:xfrm>
            <a:off x="9486900" y="704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IX_Customer_Name</a:t>
            </a:r>
          </a:p>
        </p:txBody>
      </p:sp>
      <p:sp>
        <p:nvSpPr>
          <p:cNvPr id="45" name="table-cell-indexes-2-1">
            <a:extLst>
              <a:ext uri="{FF2B5EF4-FFF2-40B4-BE49-F238E27FC236}">
                <a16:creationId xmlns:a16="http://schemas.microsoft.com/office/drawing/2014/main" id="{E4324279-1B01-4243-A7C3-3849475883E1}"/>
              </a:ext>
            </a:extLst>
          </p:cNvPr>
          <p:cNvSpPr>
            <a:spLocks noGrp="1"/>
          </p:cNvSpPr>
          <p:nvPr/>
        </p:nvSpPr>
        <p:spPr>
          <a:xfrm>
            <a:off x="13449300" y="70485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Customer search</a:t>
            </a:r>
          </a:p>
        </p:txBody>
      </p:sp>
      <p:sp>
        <p:nvSpPr>
          <p:cNvPr id="46" name="table-cell-indexes-3-0">
            <a:extLst>
              <a:ext uri="{FF2B5EF4-FFF2-40B4-BE49-F238E27FC236}">
                <a16:creationId xmlns:a16="http://schemas.microsoft.com/office/drawing/2014/main" id="{94BDDA79-B7F3-4679-A844-AAC4A9FB0542}"/>
              </a:ext>
            </a:extLst>
          </p:cNvPr>
          <p:cNvSpPr>
            <a:spLocks noGrp="1"/>
          </p:cNvSpPr>
          <p:nvPr/>
        </p:nvSpPr>
        <p:spPr>
          <a:xfrm>
            <a:off x="9486900" y="73152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IX_Payment_ReservationStatus</a:t>
            </a:r>
          </a:p>
        </p:txBody>
      </p:sp>
      <p:sp>
        <p:nvSpPr>
          <p:cNvPr id="47" name="table-cell-indexes-3-1">
            <a:extLst>
              <a:ext uri="{FF2B5EF4-FFF2-40B4-BE49-F238E27FC236}">
                <a16:creationId xmlns:a16="http://schemas.microsoft.com/office/drawing/2014/main" id="{44534C05-6014-423F-AB72-ED4FDC7FD678}"/>
              </a:ext>
            </a:extLst>
          </p:cNvPr>
          <p:cNvSpPr>
            <a:spLocks noGrp="1"/>
          </p:cNvSpPr>
          <p:nvPr/>
        </p:nvSpPr>
        <p:spPr>
          <a:xfrm>
            <a:off x="13449300" y="7315200"/>
            <a:ext cx="3848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Payment reporting</a:t>
            </a:r>
          </a:p>
        </p:txBody>
      </p:sp>
      <p:sp>
        <p:nvSpPr>
          <p:cNvPr id="48" name="source-footer">
            <a:extLst>
              <a:ext uri="{FF2B5EF4-FFF2-40B4-BE49-F238E27FC236}">
                <a16:creationId xmlns:a16="http://schemas.microsoft.com/office/drawing/2014/main" id="{A48B5D34-0A37-4DAD-91DD-EE0CCBF2F2C3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49" name="slide-number">
            <a:extLst>
              <a:ext uri="{FF2B5EF4-FFF2-40B4-BE49-F238E27FC236}">
                <a16:creationId xmlns:a16="http://schemas.microsoft.com/office/drawing/2014/main" id="{153BA5D5-53B8-4481-955C-4C23374F0F93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2563A7"/>
                </a:solidFill>
              </a:defRPr>
            </a:pPr>
            <a:r>
              <a:rPr sz="1125" b="1">
                <a:solidFill>
                  <a:srgbClr val="2563A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547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ackground">
            <a:extLst>
              <a:ext uri="{FF2B5EF4-FFF2-40B4-BE49-F238E27FC236}">
                <a16:creationId xmlns:a16="http://schemas.microsoft.com/office/drawing/2014/main" id="{41ACEA72-C55A-433E-9D2C-14F54AEE66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2"/>
          </a:solidFill>
        </p:spPr>
        <p:txBody>
          <a:bodyPr/>
          <a:lstStyle/>
          <a:p>
            <a:endParaRPr lang="en-IN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34392B37-85E7-4047-859B-7D8C7B3EA03B}"/>
              </a:ext>
            </a:extLst>
          </p:cNvPr>
          <p:cNvSpPr>
            <a:spLocks noGrp="1"/>
          </p:cNvSpPr>
          <p:nvPr/>
        </p:nvSpPr>
        <p:spPr>
          <a:xfrm>
            <a:off x="819150" y="552450"/>
            <a:ext cx="1123950" cy="47625"/>
          </a:xfrm>
          <a:prstGeom prst="rect">
            <a:avLst/>
          </a:prstGeom>
          <a:solidFill>
            <a:srgbClr val="0B6B5B"/>
          </a:solidFill>
          <a:ln w="0">
            <a:solidFill>
              <a:srgbClr val="0B6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deck-kicker">
            <a:extLst>
              <a:ext uri="{FF2B5EF4-FFF2-40B4-BE49-F238E27FC236}">
                <a16:creationId xmlns:a16="http://schemas.microsoft.com/office/drawing/2014/main" id="{25EBE18B-04BE-4E46-A7AE-9CA74F2D0E1B}"/>
              </a:ext>
            </a:extLst>
          </p:cNvPr>
          <p:cNvSpPr>
            <a:spLocks noGrp="1"/>
          </p:cNvSpPr>
          <p:nvPr/>
        </p:nvSpPr>
        <p:spPr>
          <a:xfrm>
            <a:off x="2114550" y="552450"/>
            <a:ext cx="15354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Hotel Reservation System DBMS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96C33A1A-B9A5-4C84-8AED-0CB0EA34F65E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6649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Outcome and future scope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544B0DBC-77B6-4115-AD04-7B976BEBFC55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9250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The design is normalized, constraint-driven, queryable, and ready to explain through real tables and scripts.</a:t>
            </a:r>
          </a:p>
        </p:txBody>
      </p:sp>
      <p:sp>
        <p:nvSpPr>
          <p:cNvPr id="6" name="bullet-dot-3NF/BCNF structure">
            <a:extLst>
              <a:ext uri="{FF2B5EF4-FFF2-40B4-BE49-F238E27FC236}">
                <a16:creationId xmlns:a16="http://schemas.microsoft.com/office/drawing/2014/main" id="{5D2C6428-25BC-42F6-AA89-AD042547735E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6B5B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bullet-label-3NF/BCNF structure">
            <a:extLst>
              <a:ext uri="{FF2B5EF4-FFF2-40B4-BE49-F238E27FC236}">
                <a16:creationId xmlns:a16="http://schemas.microsoft.com/office/drawing/2014/main" id="{36DA8054-1F03-4999-A28A-B3739DDE0A86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3NF/BCNF structure</a:t>
            </a:r>
          </a:p>
        </p:txBody>
      </p:sp>
      <p:sp>
        <p:nvSpPr>
          <p:cNvPr id="8" name="bullet-desc-3NF/BCNF structure">
            <a:extLst>
              <a:ext uri="{FF2B5EF4-FFF2-40B4-BE49-F238E27FC236}">
                <a16:creationId xmlns:a16="http://schemas.microsoft.com/office/drawing/2014/main" id="{508D0556-25E7-41E6-AB43-1F6C5FCAF5D0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7239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Repeating rooms and services are separated into bridge tables; master data remains reusable.</a:t>
            </a:r>
          </a:p>
        </p:txBody>
      </p:sp>
      <p:sp>
        <p:nvSpPr>
          <p:cNvPr id="9" name="bullet-dot-Operational safety">
            <a:extLst>
              <a:ext uri="{FF2B5EF4-FFF2-40B4-BE49-F238E27FC236}">
                <a16:creationId xmlns:a16="http://schemas.microsoft.com/office/drawing/2014/main" id="{ADBDA408-2D12-49E0-9E6A-0A5A6C5A0BA6}"/>
              </a:ext>
            </a:extLst>
          </p:cNvPr>
          <p:cNvSpPr>
            <a:spLocks noGrp="1"/>
          </p:cNvSpPr>
          <p:nvPr/>
        </p:nvSpPr>
        <p:spPr>
          <a:xfrm>
            <a:off x="819150" y="3448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B45332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bullet-label-Operational safety">
            <a:extLst>
              <a:ext uri="{FF2B5EF4-FFF2-40B4-BE49-F238E27FC236}">
                <a16:creationId xmlns:a16="http://schemas.microsoft.com/office/drawing/2014/main" id="{E2183159-A80B-4897-BF94-961117FAC4D6}"/>
              </a:ext>
            </a:extLst>
          </p:cNvPr>
          <p:cNvSpPr>
            <a:spLocks noGrp="1"/>
          </p:cNvSpPr>
          <p:nvPr/>
        </p:nvSpPr>
        <p:spPr>
          <a:xfrm>
            <a:off x="1104900" y="344805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Operational safety</a:t>
            </a:r>
          </a:p>
        </p:txBody>
      </p:sp>
      <p:sp>
        <p:nvSpPr>
          <p:cNvPr id="11" name="bullet-desc-Operational safety">
            <a:extLst>
              <a:ext uri="{FF2B5EF4-FFF2-40B4-BE49-F238E27FC236}">
                <a16:creationId xmlns:a16="http://schemas.microsoft.com/office/drawing/2014/main" id="{99A4D535-2FCE-4A3A-A950-AF9BC098F054}"/>
              </a:ext>
            </a:extLst>
          </p:cNvPr>
          <p:cNvSpPr>
            <a:spLocks noGrp="1"/>
          </p:cNvSpPr>
          <p:nvPr/>
        </p:nvSpPr>
        <p:spPr>
          <a:xfrm>
            <a:off x="1104900" y="3752850"/>
            <a:ext cx="7391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Constraints validate values and triggers prevent double-booking while maintaining audit history.</a:t>
            </a:r>
          </a:p>
        </p:txBody>
      </p:sp>
      <p:sp>
        <p:nvSpPr>
          <p:cNvPr id="12" name="bullet-dot-Reporting support">
            <a:extLst>
              <a:ext uri="{FF2B5EF4-FFF2-40B4-BE49-F238E27FC236}">
                <a16:creationId xmlns:a16="http://schemas.microsoft.com/office/drawing/2014/main" id="{7BA99684-634C-4208-80EE-A384E5EBF38C}"/>
              </a:ext>
            </a:extLst>
          </p:cNvPr>
          <p:cNvSpPr>
            <a:spLocks noGrp="1"/>
          </p:cNvSpPr>
          <p:nvPr/>
        </p:nvSpPr>
        <p:spPr>
          <a:xfrm>
            <a:off x="819150" y="4438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A7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bullet-label-Reporting support">
            <a:extLst>
              <a:ext uri="{FF2B5EF4-FFF2-40B4-BE49-F238E27FC236}">
                <a16:creationId xmlns:a16="http://schemas.microsoft.com/office/drawing/2014/main" id="{93814B5A-80E9-4B75-A39D-97D8927E479E}"/>
              </a:ext>
            </a:extLst>
          </p:cNvPr>
          <p:cNvSpPr>
            <a:spLocks noGrp="1"/>
          </p:cNvSpPr>
          <p:nvPr/>
        </p:nvSpPr>
        <p:spPr>
          <a:xfrm>
            <a:off x="1104900" y="443865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Reporting support</a:t>
            </a:r>
          </a:p>
        </p:txBody>
      </p:sp>
      <p:sp>
        <p:nvSpPr>
          <p:cNvPr id="14" name="bullet-desc-Reporting support">
            <a:extLst>
              <a:ext uri="{FF2B5EF4-FFF2-40B4-BE49-F238E27FC236}">
                <a16:creationId xmlns:a16="http://schemas.microsoft.com/office/drawing/2014/main" id="{04C2E897-EFAE-4A9A-9FCB-930656122A7F}"/>
              </a:ext>
            </a:extLst>
          </p:cNvPr>
          <p:cNvSpPr>
            <a:spLocks noGrp="1"/>
          </p:cNvSpPr>
          <p:nvPr/>
        </p:nvSpPr>
        <p:spPr>
          <a:xfrm>
            <a:off x="1104900" y="4743450"/>
            <a:ext cx="8267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Views and queries cover availability, occupancy, revenue, pending balance, service usage, and audit history.</a:t>
            </a:r>
          </a:p>
        </p:txBody>
      </p:sp>
      <p:sp>
        <p:nvSpPr>
          <p:cNvPr id="15" name="bullet-dot-Execution order is clear">
            <a:extLst>
              <a:ext uri="{FF2B5EF4-FFF2-40B4-BE49-F238E27FC236}">
                <a16:creationId xmlns:a16="http://schemas.microsoft.com/office/drawing/2014/main" id="{E0A3C7F8-A852-4EA4-9E49-31514D2D5C5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78A28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bullet-label-Execution order is clear">
            <a:extLst>
              <a:ext uri="{FF2B5EF4-FFF2-40B4-BE49-F238E27FC236}">
                <a16:creationId xmlns:a16="http://schemas.microsoft.com/office/drawing/2014/main" id="{2CE5BAD8-6A11-437D-A997-86FB6E84B407}"/>
              </a:ext>
            </a:extLst>
          </p:cNvPr>
          <p:cNvSpPr>
            <a:spLocks noGrp="1"/>
          </p:cNvSpPr>
          <p:nvPr/>
        </p:nvSpPr>
        <p:spPr>
          <a:xfrm>
            <a:off x="1104900" y="521970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Execution order is clear</a:t>
            </a:r>
          </a:p>
        </p:txBody>
      </p:sp>
      <p:sp>
        <p:nvSpPr>
          <p:cNvPr id="17" name="bullet-desc-Execution order is clear">
            <a:extLst>
              <a:ext uri="{FF2B5EF4-FFF2-40B4-BE49-F238E27FC236}">
                <a16:creationId xmlns:a16="http://schemas.microsoft.com/office/drawing/2014/main" id="{22F2B201-3986-4FCC-8A7B-41CA5920A313}"/>
              </a:ext>
            </a:extLst>
          </p:cNvPr>
          <p:cNvSpPr>
            <a:spLocks noGrp="1"/>
          </p:cNvSpPr>
          <p:nvPr/>
        </p:nvSpPr>
        <p:spPr>
          <a:xfrm>
            <a:off x="1104900" y="5524500"/>
            <a:ext cx="7658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DDL, DML, views, functions, triggers, indexes, queries, transaction/DCL demos, then cleanup demo.</a:t>
            </a:r>
          </a:p>
        </p:txBody>
      </p:sp>
      <p:sp>
        <p:nvSpPr>
          <p:cNvPr id="18" name="future-title">
            <a:extLst>
              <a:ext uri="{FF2B5EF4-FFF2-40B4-BE49-F238E27FC236}">
                <a16:creationId xmlns:a16="http://schemas.microsoft.com/office/drawing/2014/main" id="{A9C1ABCF-E3F9-4BFD-A80B-D24145E0E8E8}"/>
              </a:ext>
            </a:extLst>
          </p:cNvPr>
          <p:cNvSpPr>
            <a:spLocks noGrp="1"/>
          </p:cNvSpPr>
          <p:nvPr/>
        </p:nvSpPr>
        <p:spPr>
          <a:xfrm>
            <a:off x="9372600" y="2457450"/>
            <a:ext cx="8096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B45332"/>
                </a:solidFill>
              </a:defRPr>
            </a:pPr>
            <a:r>
              <a:rPr sz="3000" b="1">
                <a:solidFill>
                  <a:srgbClr val="B45332"/>
                </a:solidFill>
              </a:rPr>
              <a:t>Future scope</a:t>
            </a:r>
          </a:p>
        </p:txBody>
      </p:sp>
      <p:sp>
        <p:nvSpPr>
          <p:cNvPr id="19" name="bullet-dot-Invoice table">
            <a:extLst>
              <a:ext uri="{FF2B5EF4-FFF2-40B4-BE49-F238E27FC236}">
                <a16:creationId xmlns:a16="http://schemas.microsoft.com/office/drawing/2014/main" id="{4A138F50-EC8D-4784-A1C2-0F292BE2A891}"/>
              </a:ext>
            </a:extLst>
          </p:cNvPr>
          <p:cNvSpPr>
            <a:spLocks noGrp="1"/>
          </p:cNvSpPr>
          <p:nvPr/>
        </p:nvSpPr>
        <p:spPr>
          <a:xfrm>
            <a:off x="9372600" y="3162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78A28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bullet-label-Invoice table">
            <a:extLst>
              <a:ext uri="{FF2B5EF4-FFF2-40B4-BE49-F238E27FC236}">
                <a16:creationId xmlns:a16="http://schemas.microsoft.com/office/drawing/2014/main" id="{CDCA0383-7F1E-4BE2-A1AF-BF30D3B1058B}"/>
              </a:ext>
            </a:extLst>
          </p:cNvPr>
          <p:cNvSpPr>
            <a:spLocks noGrp="1"/>
          </p:cNvSpPr>
          <p:nvPr/>
        </p:nvSpPr>
        <p:spPr>
          <a:xfrm>
            <a:off x="9658350" y="316230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Invoice table</a:t>
            </a:r>
          </a:p>
        </p:txBody>
      </p:sp>
      <p:sp>
        <p:nvSpPr>
          <p:cNvPr id="21" name="bullet-desc-Invoice table">
            <a:extLst>
              <a:ext uri="{FF2B5EF4-FFF2-40B4-BE49-F238E27FC236}">
                <a16:creationId xmlns:a16="http://schemas.microsoft.com/office/drawing/2014/main" id="{2AA49C4F-15D9-40FD-9063-F3A2AEEE77B0}"/>
              </a:ext>
            </a:extLst>
          </p:cNvPr>
          <p:cNvSpPr>
            <a:spLocks noGrp="1"/>
          </p:cNvSpPr>
          <p:nvPr/>
        </p:nvSpPr>
        <p:spPr>
          <a:xfrm>
            <a:off x="9658350" y="3467100"/>
            <a:ext cx="5486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Persist generated invoices when formal billing documents are required.</a:t>
            </a:r>
          </a:p>
        </p:txBody>
      </p:sp>
      <p:sp>
        <p:nvSpPr>
          <p:cNvPr id="22" name="bullet-dot-Room maintenance history">
            <a:extLst>
              <a:ext uri="{FF2B5EF4-FFF2-40B4-BE49-F238E27FC236}">
                <a16:creationId xmlns:a16="http://schemas.microsoft.com/office/drawing/2014/main" id="{709888D1-D847-43B2-B893-FE9888048863}"/>
              </a:ext>
            </a:extLst>
          </p:cNvPr>
          <p:cNvSpPr>
            <a:spLocks noGrp="1"/>
          </p:cNvSpPr>
          <p:nvPr/>
        </p:nvSpPr>
        <p:spPr>
          <a:xfrm>
            <a:off x="9372600" y="4171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8C82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bullet-label-Room maintenance history">
            <a:extLst>
              <a:ext uri="{FF2B5EF4-FFF2-40B4-BE49-F238E27FC236}">
                <a16:creationId xmlns:a16="http://schemas.microsoft.com/office/drawing/2014/main" id="{3A286057-5FEE-4700-B995-6781214FE262}"/>
              </a:ext>
            </a:extLst>
          </p:cNvPr>
          <p:cNvSpPr>
            <a:spLocks noGrp="1"/>
          </p:cNvSpPr>
          <p:nvPr/>
        </p:nvSpPr>
        <p:spPr>
          <a:xfrm>
            <a:off x="9658350" y="417195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Room maintenance history</a:t>
            </a:r>
          </a:p>
        </p:txBody>
      </p:sp>
      <p:sp>
        <p:nvSpPr>
          <p:cNvPr id="24" name="bullet-desc-Room maintenance history">
            <a:extLst>
              <a:ext uri="{FF2B5EF4-FFF2-40B4-BE49-F238E27FC236}">
                <a16:creationId xmlns:a16="http://schemas.microsoft.com/office/drawing/2014/main" id="{3D038199-557C-48D9-8C80-3C1E9E95AF0D}"/>
              </a:ext>
            </a:extLst>
          </p:cNvPr>
          <p:cNvSpPr>
            <a:spLocks noGrp="1"/>
          </p:cNvSpPr>
          <p:nvPr/>
        </p:nvSpPr>
        <p:spPr>
          <a:xfrm>
            <a:off x="9658350" y="4457700"/>
            <a:ext cx="4972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Track maintenance periods separately from current RoomStatus.</a:t>
            </a:r>
          </a:p>
        </p:txBody>
      </p:sp>
      <p:sp>
        <p:nvSpPr>
          <p:cNvPr id="25" name="bullet-dot-User accounts">
            <a:extLst>
              <a:ext uri="{FF2B5EF4-FFF2-40B4-BE49-F238E27FC236}">
                <a16:creationId xmlns:a16="http://schemas.microsoft.com/office/drawing/2014/main" id="{5E39DD94-54F7-4994-A939-F3272E6942F7}"/>
              </a:ext>
            </a:extLst>
          </p:cNvPr>
          <p:cNvSpPr>
            <a:spLocks noGrp="1"/>
          </p:cNvSpPr>
          <p:nvPr/>
        </p:nvSpPr>
        <p:spPr>
          <a:xfrm>
            <a:off x="9372600" y="5162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6D5BA6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bullet-label-User accounts">
            <a:extLst>
              <a:ext uri="{FF2B5EF4-FFF2-40B4-BE49-F238E27FC236}">
                <a16:creationId xmlns:a16="http://schemas.microsoft.com/office/drawing/2014/main" id="{1A7FC02D-8A18-4A57-80A9-810230258CC5}"/>
              </a:ext>
            </a:extLst>
          </p:cNvPr>
          <p:cNvSpPr>
            <a:spLocks noGrp="1"/>
          </p:cNvSpPr>
          <p:nvPr/>
        </p:nvSpPr>
        <p:spPr>
          <a:xfrm>
            <a:off x="9658350" y="516255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User accounts</a:t>
            </a:r>
          </a:p>
        </p:txBody>
      </p:sp>
      <p:sp>
        <p:nvSpPr>
          <p:cNvPr id="27" name="bullet-desc-User accounts">
            <a:extLst>
              <a:ext uri="{FF2B5EF4-FFF2-40B4-BE49-F238E27FC236}">
                <a16:creationId xmlns:a16="http://schemas.microsoft.com/office/drawing/2014/main" id="{FAB74AD8-3ECB-4085-ADF9-B3928D7A901C}"/>
              </a:ext>
            </a:extLst>
          </p:cNvPr>
          <p:cNvSpPr>
            <a:spLocks noGrp="1"/>
          </p:cNvSpPr>
          <p:nvPr/>
        </p:nvSpPr>
        <p:spPr>
          <a:xfrm>
            <a:off x="9658350" y="5467350"/>
            <a:ext cx="51625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Add login tables if application-level authentication is implemented.</a:t>
            </a:r>
          </a:p>
        </p:txBody>
      </p:sp>
      <p:sp>
        <p:nvSpPr>
          <p:cNvPr id="28" name="bullet-dot-Dashboard layer">
            <a:extLst>
              <a:ext uri="{FF2B5EF4-FFF2-40B4-BE49-F238E27FC236}">
                <a16:creationId xmlns:a16="http://schemas.microsoft.com/office/drawing/2014/main" id="{124AFF35-5F97-4531-A4D3-E0B898D4D4BC}"/>
              </a:ext>
            </a:extLst>
          </p:cNvPr>
          <p:cNvSpPr>
            <a:spLocks noGrp="1"/>
          </p:cNvSpPr>
          <p:nvPr/>
        </p:nvSpPr>
        <p:spPr>
          <a:xfrm>
            <a:off x="9372600" y="61722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A7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bullet-label-Dashboard layer">
            <a:extLst>
              <a:ext uri="{FF2B5EF4-FFF2-40B4-BE49-F238E27FC236}">
                <a16:creationId xmlns:a16="http://schemas.microsoft.com/office/drawing/2014/main" id="{BD8941B9-F6C2-49AE-8068-D0155B33DA49}"/>
              </a:ext>
            </a:extLst>
          </p:cNvPr>
          <p:cNvSpPr>
            <a:spLocks noGrp="1"/>
          </p:cNvSpPr>
          <p:nvPr/>
        </p:nvSpPr>
        <p:spPr>
          <a:xfrm>
            <a:off x="9658350" y="6172200"/>
            <a:ext cx="781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Dashboard layer</a:t>
            </a:r>
          </a:p>
        </p:txBody>
      </p:sp>
      <p:sp>
        <p:nvSpPr>
          <p:cNvPr id="30" name="bullet-desc-Dashboard layer">
            <a:extLst>
              <a:ext uri="{FF2B5EF4-FFF2-40B4-BE49-F238E27FC236}">
                <a16:creationId xmlns:a16="http://schemas.microsoft.com/office/drawing/2014/main" id="{7DEBFDB3-DA2A-4977-B6D7-E43331C0B9C5}"/>
              </a:ext>
            </a:extLst>
          </p:cNvPr>
          <p:cNvSpPr>
            <a:spLocks noGrp="1"/>
          </p:cNvSpPr>
          <p:nvPr/>
        </p:nvSpPr>
        <p:spPr>
          <a:xfrm>
            <a:off x="9658350" y="6477000"/>
            <a:ext cx="56578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Build visuals on top of vwOccupancyByCategory and vwMonthlyRevenue.</a:t>
            </a:r>
          </a:p>
        </p:txBody>
      </p:sp>
      <p:sp>
        <p:nvSpPr>
          <p:cNvPr id="31" name="source-footer">
            <a:extLst>
              <a:ext uri="{FF2B5EF4-FFF2-40B4-BE49-F238E27FC236}">
                <a16:creationId xmlns:a16="http://schemas.microsoft.com/office/drawing/2014/main" id="{E7E7A963-1EFA-40E0-A11E-6892701B507F}"/>
              </a:ext>
            </a:extLst>
          </p:cNvPr>
          <p:cNvSpPr>
            <a:spLocks noGrp="1"/>
          </p:cNvSpPr>
          <p:nvPr/>
        </p:nvSpPr>
        <p:spPr>
          <a:xfrm>
            <a:off x="819150" y="9563100"/>
            <a:ext cx="16059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Source: project ERD, DDL, DML, views, functions, triggers, indexes, and sample_results.xlsx</a:t>
            </a:r>
          </a:p>
        </p:txBody>
      </p:sp>
      <p:sp>
        <p:nvSpPr>
          <p:cNvPr id="32" name="slide-number">
            <a:extLst>
              <a:ext uri="{FF2B5EF4-FFF2-40B4-BE49-F238E27FC236}">
                <a16:creationId xmlns:a16="http://schemas.microsoft.com/office/drawing/2014/main" id="{EDA93BC6-38A7-4116-B685-13DFD9A19F5F}"/>
              </a:ext>
            </a:extLst>
          </p:cNvPr>
          <p:cNvSpPr>
            <a:spLocks noGrp="1"/>
          </p:cNvSpPr>
          <p:nvPr/>
        </p:nvSpPr>
        <p:spPr>
          <a:xfrm>
            <a:off x="17068800" y="95631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B6B5B"/>
                </a:solidFill>
              </a:defRPr>
            </a:pPr>
            <a:r>
              <a:rPr sz="1125" b="1">
                <a:solidFill>
                  <a:srgbClr val="0B6B5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7534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1586</Words>
  <Application>Microsoft Office PowerPoint</Application>
  <DocSecurity>0</DocSecurity>
  <PresentationFormat>Custom</PresentationFormat>
  <Paragraphs>296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Aniket Prasad</cp:lastModifiedBy>
  <cp:revision>6</cp:revision>
  <dcterms:created xsi:type="dcterms:W3CDTF">2026-05-13T07:00:08Z</dcterms:created>
  <dcterms:modified xsi:type="dcterms:W3CDTF">2026-05-25T04:34:00Z</dcterms:modified>
</cp:coreProperties>
</file>